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Catchy Mager" panose="020B0604020202020204" charset="0"/>
      <p:regular r:id="rId27"/>
    </p:embeddedFont>
    <p:embeddedFont>
      <p:font typeface="Eyesome Script" panose="020B0604020202020204" charset="0"/>
      <p:regular r:id="rId28"/>
    </p:embeddedFont>
    <p:embeddedFont>
      <p:font typeface="Open Sans" panose="020F0502020204030204" pitchFamily="34" charset="0"/>
      <p:regular r:id="rId29"/>
    </p:embeddedFont>
    <p:embeddedFont>
      <p:font typeface="Open Sans Bold" panose="020B0604020202020204" charset="0"/>
      <p:regular r:id="rId30"/>
    </p:embeddedFont>
    <p:embeddedFont>
      <p:font typeface="Times New Roman MT" panose="020B0604020202020204" charset="0"/>
      <p:regular r:id="rId31"/>
    </p:embeddedFont>
    <p:embeddedFont>
      <p:font typeface="Times New Roman MT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6" b="-6666"/>
            </a:stretch>
          </a:blipFill>
        </p:spPr>
      </p:sp>
      <p:sp>
        <p:nvSpPr>
          <p:cNvPr id="3" name="TextBox 3"/>
          <p:cNvSpPr txBox="1"/>
          <p:nvPr/>
        </p:nvSpPr>
        <p:spPr>
          <a:xfrm>
            <a:off x="3324791" y="3819132"/>
            <a:ext cx="11719493" cy="2483220"/>
          </a:xfrm>
          <a:prstGeom prst="rect">
            <a:avLst/>
          </a:prstGeom>
        </p:spPr>
        <p:txBody>
          <a:bodyPr lIns="0" tIns="0" rIns="0" bIns="0" rtlCol="0" anchor="t">
            <a:spAutoFit/>
          </a:bodyPr>
          <a:lstStyle/>
          <a:p>
            <a:pPr algn="ctr">
              <a:lnSpc>
                <a:spcPts val="20075"/>
              </a:lnSpc>
            </a:pPr>
            <a:r>
              <a:rPr lang="en-US" sz="14339" spc="1046">
                <a:solidFill>
                  <a:srgbClr val="000000"/>
                </a:solidFill>
                <a:latin typeface="Catchy Mager"/>
                <a:ea typeface="Catchy Mager"/>
                <a:cs typeface="Catchy Mager"/>
                <a:sym typeface="Catchy Mager"/>
              </a:rPr>
              <a:t>HITO 1</a:t>
            </a:r>
          </a:p>
        </p:txBody>
      </p:sp>
      <p:grpSp>
        <p:nvGrpSpPr>
          <p:cNvPr id="4" name="Group 4"/>
          <p:cNvGrpSpPr/>
          <p:nvPr/>
        </p:nvGrpSpPr>
        <p:grpSpPr>
          <a:xfrm>
            <a:off x="6362483" y="6054003"/>
            <a:ext cx="5563035" cy="2865999"/>
            <a:chOff x="0" y="0"/>
            <a:chExt cx="3465214" cy="1785231"/>
          </a:xfrm>
        </p:grpSpPr>
        <p:sp>
          <p:nvSpPr>
            <p:cNvPr id="5" name="Freeform 5"/>
            <p:cNvSpPr/>
            <p:nvPr/>
          </p:nvSpPr>
          <p:spPr>
            <a:xfrm>
              <a:off x="0" y="0"/>
              <a:ext cx="3465214" cy="1785231"/>
            </a:xfrm>
            <a:custGeom>
              <a:avLst/>
              <a:gdLst/>
              <a:ahLst/>
              <a:cxnLst/>
              <a:rect l="l" t="t" r="r" b="b"/>
              <a:pathLst>
                <a:path w="3465214" h="1785231">
                  <a:moveTo>
                    <a:pt x="3262014" y="0"/>
                  </a:moveTo>
                  <a:cubicBezTo>
                    <a:pt x="3374239" y="0"/>
                    <a:pt x="3465214" y="399638"/>
                    <a:pt x="3465214" y="892615"/>
                  </a:cubicBezTo>
                  <a:cubicBezTo>
                    <a:pt x="3465214" y="1385593"/>
                    <a:pt x="3374239" y="1785231"/>
                    <a:pt x="3262014" y="1785231"/>
                  </a:cubicBezTo>
                  <a:lnTo>
                    <a:pt x="203200" y="1785231"/>
                  </a:lnTo>
                  <a:cubicBezTo>
                    <a:pt x="90976" y="1785231"/>
                    <a:pt x="0" y="1385593"/>
                    <a:pt x="0" y="892615"/>
                  </a:cubicBezTo>
                  <a:cubicBezTo>
                    <a:pt x="0" y="399638"/>
                    <a:pt x="90976" y="0"/>
                    <a:pt x="203200" y="0"/>
                  </a:cubicBezTo>
                  <a:close/>
                </a:path>
              </a:pathLst>
            </a:custGeom>
            <a:ln w="19050" cap="sq">
              <a:solidFill>
                <a:srgbClr val="000000"/>
              </a:solidFill>
              <a:prstDash val="solid"/>
              <a:miter/>
            </a:ln>
          </p:spPr>
        </p:sp>
        <p:sp>
          <p:nvSpPr>
            <p:cNvPr id="6" name="TextBox 6"/>
            <p:cNvSpPr txBox="1"/>
            <p:nvPr/>
          </p:nvSpPr>
          <p:spPr>
            <a:xfrm>
              <a:off x="0" y="-38100"/>
              <a:ext cx="3465214" cy="1823331"/>
            </a:xfrm>
            <a:prstGeom prst="rect">
              <a:avLst/>
            </a:prstGeom>
          </p:spPr>
          <p:txBody>
            <a:bodyPr lIns="30258" tIns="30258" rIns="30258" bIns="30258" rtlCol="0" anchor="ctr"/>
            <a:lstStyle/>
            <a:p>
              <a:pPr algn="ctr">
                <a:lnSpc>
                  <a:spcPts val="1982"/>
                </a:lnSpc>
              </a:pPr>
              <a:endParaRPr/>
            </a:p>
          </p:txBody>
        </p:sp>
      </p:grpSp>
      <p:sp>
        <p:nvSpPr>
          <p:cNvPr id="7" name="TextBox 7"/>
          <p:cNvSpPr txBox="1"/>
          <p:nvPr/>
        </p:nvSpPr>
        <p:spPr>
          <a:xfrm>
            <a:off x="4199765" y="3203761"/>
            <a:ext cx="9888469" cy="1145245"/>
          </a:xfrm>
          <a:prstGeom prst="rect">
            <a:avLst/>
          </a:prstGeom>
        </p:spPr>
        <p:txBody>
          <a:bodyPr lIns="0" tIns="0" rIns="0" bIns="0" rtlCol="0" anchor="t">
            <a:spAutoFit/>
          </a:bodyPr>
          <a:lstStyle/>
          <a:p>
            <a:pPr algn="ctr">
              <a:lnSpc>
                <a:spcPts val="9326"/>
              </a:lnSpc>
            </a:pPr>
            <a:r>
              <a:rPr lang="en-US" sz="6661" spc="233">
                <a:solidFill>
                  <a:srgbClr val="000000"/>
                </a:solidFill>
                <a:latin typeface="Eyesome Script"/>
                <a:ea typeface="Eyesome Script"/>
                <a:cs typeface="Eyesome Script"/>
                <a:sym typeface="Eyesome Script"/>
              </a:rPr>
              <a:t>Presentación de</a:t>
            </a:r>
          </a:p>
        </p:txBody>
      </p:sp>
      <p:sp>
        <p:nvSpPr>
          <p:cNvPr id="8" name="TextBox 8"/>
          <p:cNvSpPr txBox="1"/>
          <p:nvPr/>
        </p:nvSpPr>
        <p:spPr>
          <a:xfrm>
            <a:off x="6362483" y="6205573"/>
            <a:ext cx="5563035" cy="2435504"/>
          </a:xfrm>
          <a:prstGeom prst="rect">
            <a:avLst/>
          </a:prstGeom>
        </p:spPr>
        <p:txBody>
          <a:bodyPr lIns="0" tIns="0" rIns="0" bIns="0" rtlCol="0" anchor="t">
            <a:spAutoFit/>
          </a:bodyPr>
          <a:lstStyle/>
          <a:p>
            <a:pPr algn="ctr">
              <a:lnSpc>
                <a:spcPts val="3834"/>
              </a:lnSpc>
            </a:pPr>
            <a:r>
              <a:rPr lang="en-US" sz="2739" spc="282">
                <a:solidFill>
                  <a:srgbClr val="000000"/>
                </a:solidFill>
                <a:latin typeface="Catchy Mager"/>
                <a:ea typeface="Catchy Mager"/>
                <a:cs typeface="Catchy Mager"/>
                <a:sym typeface="Catchy Mager"/>
              </a:rPr>
              <a:t>Sebastian Reymundo</a:t>
            </a:r>
          </a:p>
          <a:p>
            <a:pPr algn="ctr">
              <a:lnSpc>
                <a:spcPts val="3834"/>
              </a:lnSpc>
            </a:pPr>
            <a:r>
              <a:rPr lang="en-US" sz="2739" spc="282">
                <a:solidFill>
                  <a:srgbClr val="000000"/>
                </a:solidFill>
                <a:latin typeface="Catchy Mager"/>
                <a:ea typeface="Catchy Mager"/>
                <a:cs typeface="Catchy Mager"/>
                <a:sym typeface="Catchy Mager"/>
              </a:rPr>
              <a:t>Jonatan Huiñapi</a:t>
            </a:r>
          </a:p>
          <a:p>
            <a:pPr algn="ctr">
              <a:lnSpc>
                <a:spcPts val="3834"/>
              </a:lnSpc>
            </a:pPr>
            <a:r>
              <a:rPr lang="en-US" sz="2739" spc="282">
                <a:solidFill>
                  <a:srgbClr val="000000"/>
                </a:solidFill>
                <a:latin typeface="Catchy Mager"/>
                <a:ea typeface="Catchy Mager"/>
                <a:cs typeface="Catchy Mager"/>
                <a:sym typeface="Catchy Mager"/>
              </a:rPr>
              <a:t>Gael Santivañez</a:t>
            </a:r>
          </a:p>
          <a:p>
            <a:pPr algn="ctr">
              <a:lnSpc>
                <a:spcPts val="3834"/>
              </a:lnSpc>
            </a:pPr>
            <a:r>
              <a:rPr lang="en-US" sz="2739" spc="282">
                <a:solidFill>
                  <a:srgbClr val="000000"/>
                </a:solidFill>
                <a:latin typeface="Catchy Mager"/>
                <a:ea typeface="Catchy Mager"/>
                <a:cs typeface="Catchy Mager"/>
                <a:sym typeface="Catchy Mager"/>
              </a:rPr>
              <a:t>Luciana Saenz</a:t>
            </a:r>
          </a:p>
          <a:p>
            <a:pPr algn="ctr">
              <a:lnSpc>
                <a:spcPts val="3834"/>
              </a:lnSpc>
            </a:pPr>
            <a:r>
              <a:rPr lang="en-US" sz="2739" spc="282">
                <a:solidFill>
                  <a:srgbClr val="000000"/>
                </a:solidFill>
                <a:latin typeface="Catchy Mager"/>
                <a:ea typeface="Catchy Mager"/>
                <a:cs typeface="Catchy Mager"/>
                <a:sym typeface="Catchy Mager"/>
              </a:rPr>
              <a:t>Maria Cáceres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sp>
        <p:nvSpPr>
          <p:cNvPr id="3" name="TextBox 3"/>
          <p:cNvSpPr txBox="1"/>
          <p:nvPr/>
        </p:nvSpPr>
        <p:spPr>
          <a:xfrm>
            <a:off x="1028700" y="3852311"/>
            <a:ext cx="7397755" cy="4809599"/>
          </a:xfrm>
          <a:prstGeom prst="rect">
            <a:avLst/>
          </a:prstGeom>
        </p:spPr>
        <p:txBody>
          <a:bodyPr lIns="0" tIns="0" rIns="0" bIns="0" rtlCol="0" anchor="t">
            <a:spAutoFit/>
          </a:bodyPr>
          <a:lstStyle/>
          <a:p>
            <a:pPr algn="l">
              <a:lnSpc>
                <a:spcPts val="4229"/>
              </a:lnSpc>
            </a:pPr>
            <a:endParaRPr/>
          </a:p>
          <a:p>
            <a:pPr marL="652172" lvl="1" indent="-326086" algn="l">
              <a:lnSpc>
                <a:spcPts val="4229"/>
              </a:lnSpc>
              <a:buFont typeface="Arial"/>
              <a:buChar char="•"/>
            </a:pPr>
            <a:r>
              <a:rPr lang="en-US" sz="3020">
                <a:solidFill>
                  <a:srgbClr val="000000"/>
                </a:solidFill>
                <a:latin typeface="Catchy Mager"/>
                <a:ea typeface="Catchy Mager"/>
                <a:cs typeface="Catchy Mager"/>
                <a:sym typeface="Catchy Mager"/>
              </a:rPr>
              <a:t>Problemática</a:t>
            </a:r>
          </a:p>
          <a:p>
            <a:pPr marL="652172" lvl="1" indent="-326086" algn="l">
              <a:lnSpc>
                <a:spcPts val="4229"/>
              </a:lnSpc>
              <a:buFont typeface="Arial"/>
              <a:buChar char="•"/>
            </a:pPr>
            <a:r>
              <a:rPr lang="en-US" sz="3020">
                <a:solidFill>
                  <a:srgbClr val="000000"/>
                </a:solidFill>
                <a:latin typeface="Catchy Mager"/>
                <a:ea typeface="Catchy Mager"/>
                <a:cs typeface="Catchy Mager"/>
                <a:sym typeface="Catchy Mager"/>
              </a:rPr>
              <a:t>Estado del Arte</a:t>
            </a:r>
          </a:p>
          <a:p>
            <a:pPr marL="652172" lvl="1" indent="-326086" algn="l">
              <a:lnSpc>
                <a:spcPts val="4229"/>
              </a:lnSpc>
              <a:buFont typeface="Arial"/>
              <a:buChar char="•"/>
            </a:pPr>
            <a:r>
              <a:rPr lang="en-US" sz="3020">
                <a:solidFill>
                  <a:srgbClr val="000000"/>
                </a:solidFill>
                <a:latin typeface="Catchy Mager"/>
                <a:ea typeface="Catchy Mager"/>
                <a:cs typeface="Catchy Mager"/>
                <a:sym typeface="Catchy Mager"/>
              </a:rPr>
              <a:t>Lista de exigencias</a:t>
            </a:r>
          </a:p>
          <a:p>
            <a:pPr marL="652172" lvl="1" indent="-326086" algn="l">
              <a:lnSpc>
                <a:spcPts val="4229"/>
              </a:lnSpc>
              <a:buFont typeface="Arial"/>
              <a:buChar char="•"/>
            </a:pPr>
            <a:r>
              <a:rPr lang="en-US" sz="3020">
                <a:solidFill>
                  <a:srgbClr val="000000"/>
                </a:solidFill>
                <a:latin typeface="Catchy Mager"/>
                <a:ea typeface="Catchy Mager"/>
                <a:cs typeface="Catchy Mager"/>
                <a:sym typeface="Catchy Mager"/>
              </a:rPr>
              <a:t>Estructura de funciones óptima</a:t>
            </a:r>
          </a:p>
          <a:p>
            <a:pPr marL="1304345" lvl="2" indent="-434782" algn="l">
              <a:lnSpc>
                <a:spcPts val="4229"/>
              </a:lnSpc>
              <a:buFont typeface="Arial"/>
              <a:buChar char="⚬"/>
            </a:pPr>
            <a:r>
              <a:rPr lang="en-US" sz="3020">
                <a:solidFill>
                  <a:srgbClr val="000000"/>
                </a:solidFill>
                <a:latin typeface="Catchy Mager"/>
                <a:ea typeface="Catchy Mager"/>
                <a:cs typeface="Catchy Mager"/>
                <a:sym typeface="Catchy Mager"/>
              </a:rPr>
              <a:t>Artículos académicos</a:t>
            </a:r>
          </a:p>
          <a:p>
            <a:pPr marL="1304345" lvl="2" indent="-434782" algn="l">
              <a:lnSpc>
                <a:spcPts val="4229"/>
              </a:lnSpc>
              <a:buFont typeface="Arial"/>
              <a:buChar char="⚬"/>
            </a:pPr>
            <a:r>
              <a:rPr lang="en-US" sz="3020">
                <a:solidFill>
                  <a:srgbClr val="000000"/>
                </a:solidFill>
                <a:latin typeface="Catchy Mager"/>
                <a:ea typeface="Catchy Mager"/>
                <a:cs typeface="Catchy Mager"/>
                <a:sym typeface="Catchy Mager"/>
              </a:rPr>
              <a:t>Patentes</a:t>
            </a:r>
          </a:p>
          <a:p>
            <a:pPr marL="1304345" lvl="2" indent="-434782" algn="l">
              <a:lnSpc>
                <a:spcPts val="4229"/>
              </a:lnSpc>
              <a:buFont typeface="Arial"/>
              <a:buChar char="⚬"/>
            </a:pPr>
            <a:r>
              <a:rPr lang="en-US" sz="3020">
                <a:solidFill>
                  <a:srgbClr val="000000"/>
                </a:solidFill>
                <a:latin typeface="Catchy Mager"/>
                <a:ea typeface="Catchy Mager"/>
                <a:cs typeface="Catchy Mager"/>
                <a:sym typeface="Catchy Mager"/>
              </a:rPr>
              <a:t>Revistas de catálogos</a:t>
            </a:r>
          </a:p>
          <a:p>
            <a:pPr marL="1304345" lvl="2" indent="-434782" algn="l">
              <a:lnSpc>
                <a:spcPts val="4229"/>
              </a:lnSpc>
              <a:buFont typeface="Arial"/>
              <a:buChar char="⚬"/>
            </a:pPr>
            <a:r>
              <a:rPr lang="en-US" sz="3020">
                <a:solidFill>
                  <a:srgbClr val="000000"/>
                </a:solidFill>
                <a:latin typeface="Catchy Mager"/>
                <a:ea typeface="Catchy Mager"/>
                <a:cs typeface="Catchy Mager"/>
                <a:sym typeface="Catchy Mager"/>
              </a:rPr>
              <a:t>Páginas de fabricantes</a:t>
            </a:r>
          </a:p>
        </p:txBody>
      </p:sp>
      <p:grpSp>
        <p:nvGrpSpPr>
          <p:cNvPr id="4" name="Group 4"/>
          <p:cNvGrpSpPr/>
          <p:nvPr/>
        </p:nvGrpSpPr>
        <p:grpSpPr>
          <a:xfrm>
            <a:off x="5368499" y="1464576"/>
            <a:ext cx="4238424" cy="2698967"/>
            <a:chOff x="0" y="0"/>
            <a:chExt cx="5651233" cy="3598622"/>
          </a:xfrm>
        </p:grpSpPr>
        <p:grpSp>
          <p:nvGrpSpPr>
            <p:cNvPr id="5" name="Group 5"/>
            <p:cNvGrpSpPr/>
            <p:nvPr/>
          </p:nvGrpSpPr>
          <p:grpSpPr>
            <a:xfrm>
              <a:off x="0" y="0"/>
              <a:ext cx="3666521" cy="3598622"/>
              <a:chOff x="0" y="0"/>
              <a:chExt cx="685800" cy="673100"/>
            </a:xfrm>
          </p:grpSpPr>
          <p:sp>
            <p:nvSpPr>
              <p:cNvPr id="6" name="Freeform 6"/>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7" name="TextBox 7"/>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8" name="Group 8"/>
            <p:cNvGrpSpPr/>
            <p:nvPr/>
          </p:nvGrpSpPr>
          <p:grpSpPr>
            <a:xfrm rot="1693629">
              <a:off x="4331788" y="1046339"/>
              <a:ext cx="1119511" cy="1126926"/>
              <a:chOff x="0" y="0"/>
              <a:chExt cx="685800" cy="690880"/>
            </a:xfrm>
          </p:grpSpPr>
          <p:sp>
            <p:nvSpPr>
              <p:cNvPr id="9" name="Freeform 9"/>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10" name="TextBox 10"/>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1" name="Group 11"/>
            <p:cNvGrpSpPr/>
            <p:nvPr/>
          </p:nvGrpSpPr>
          <p:grpSpPr>
            <a:xfrm rot="78808">
              <a:off x="3863834" y="6073"/>
              <a:ext cx="536041" cy="540597"/>
              <a:chOff x="0" y="0"/>
              <a:chExt cx="685800" cy="693420"/>
            </a:xfrm>
          </p:grpSpPr>
          <p:sp>
            <p:nvSpPr>
              <p:cNvPr id="12" name="Freeform 12"/>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3" name="TextBox 13"/>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4" name="Freeform 14"/>
          <p:cNvSpPr/>
          <p:nvPr/>
        </p:nvSpPr>
        <p:spPr>
          <a:xfrm>
            <a:off x="11192511" y="714067"/>
            <a:ext cx="6381114" cy="9211131"/>
          </a:xfrm>
          <a:custGeom>
            <a:avLst/>
            <a:gdLst/>
            <a:ahLst/>
            <a:cxnLst/>
            <a:rect l="l" t="t" r="r" b="b"/>
            <a:pathLst>
              <a:path w="6381114" h="9211131">
                <a:moveTo>
                  <a:pt x="0" y="0"/>
                </a:moveTo>
                <a:lnTo>
                  <a:pt x="6381114" y="0"/>
                </a:lnTo>
                <a:lnTo>
                  <a:pt x="6381114" y="9211131"/>
                </a:lnTo>
                <a:lnTo>
                  <a:pt x="0" y="9211131"/>
                </a:lnTo>
                <a:lnTo>
                  <a:pt x="0" y="0"/>
                </a:lnTo>
                <a:close/>
              </a:path>
            </a:pathLst>
          </a:custGeom>
          <a:blipFill>
            <a:blip r:embed="rId3"/>
            <a:stretch>
              <a:fillRect l="-25982" r="-18367"/>
            </a:stretch>
          </a:blipFill>
        </p:spPr>
      </p:sp>
      <p:sp>
        <p:nvSpPr>
          <p:cNvPr id="15" name="Freeform 15"/>
          <p:cNvSpPr/>
          <p:nvPr/>
        </p:nvSpPr>
        <p:spPr>
          <a:xfrm>
            <a:off x="6768307" y="2951007"/>
            <a:ext cx="6325863" cy="6325863"/>
          </a:xfrm>
          <a:custGeom>
            <a:avLst/>
            <a:gdLst/>
            <a:ahLst/>
            <a:cxnLst/>
            <a:rect l="l" t="t" r="r" b="b"/>
            <a:pathLst>
              <a:path w="6325863" h="6325863">
                <a:moveTo>
                  <a:pt x="0" y="0"/>
                </a:moveTo>
                <a:lnTo>
                  <a:pt x="6325863" y="0"/>
                </a:lnTo>
                <a:lnTo>
                  <a:pt x="6325863" y="6325863"/>
                </a:lnTo>
                <a:lnTo>
                  <a:pt x="0" y="6325863"/>
                </a:lnTo>
                <a:lnTo>
                  <a:pt x="0" y="0"/>
                </a:lnTo>
                <a:close/>
              </a:path>
            </a:pathLst>
          </a:custGeom>
          <a:blipFill>
            <a:blip r:embed="rId4"/>
            <a:stretch>
              <a:fillRect/>
            </a:stretch>
          </a:blipFill>
        </p:spPr>
      </p:sp>
      <p:sp>
        <p:nvSpPr>
          <p:cNvPr id="16" name="TextBox 16"/>
          <p:cNvSpPr txBox="1"/>
          <p:nvPr/>
        </p:nvSpPr>
        <p:spPr>
          <a:xfrm>
            <a:off x="1028700" y="2642609"/>
            <a:ext cx="3743072" cy="1526549"/>
          </a:xfrm>
          <a:prstGeom prst="rect">
            <a:avLst/>
          </a:prstGeom>
        </p:spPr>
        <p:txBody>
          <a:bodyPr lIns="0" tIns="0" rIns="0" bIns="0" rtlCol="0" anchor="t">
            <a:spAutoFit/>
          </a:bodyPr>
          <a:lstStyle/>
          <a:p>
            <a:pPr marL="0" lvl="0" indent="0" algn="ctr">
              <a:lnSpc>
                <a:spcPts val="12459"/>
              </a:lnSpc>
              <a:spcBef>
                <a:spcPct val="0"/>
              </a:spcBef>
            </a:pPr>
            <a:r>
              <a:rPr lang="en-US" sz="8899" spc="302">
                <a:solidFill>
                  <a:srgbClr val="000000"/>
                </a:solidFill>
                <a:latin typeface="Eyesome Script"/>
                <a:ea typeface="Eyesome Script"/>
                <a:cs typeface="Eyesome Script"/>
                <a:sym typeface="Eyesome Script"/>
              </a:rPr>
              <a:t>Índice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333" b="-12333"/>
            </a:stretch>
          </a:blipFill>
        </p:spPr>
      </p:sp>
      <p:grpSp>
        <p:nvGrpSpPr>
          <p:cNvPr id="3" name="Group 3"/>
          <p:cNvGrpSpPr/>
          <p:nvPr/>
        </p:nvGrpSpPr>
        <p:grpSpPr>
          <a:xfrm rot="5400000">
            <a:off x="-2119212" y="776964"/>
            <a:ext cx="4238424" cy="2698967"/>
            <a:chOff x="0" y="0"/>
            <a:chExt cx="5651233" cy="3598622"/>
          </a:xfrm>
        </p:grpSpPr>
        <p:grpSp>
          <p:nvGrpSpPr>
            <p:cNvPr id="4" name="Group 4"/>
            <p:cNvGrpSpPr/>
            <p:nvPr/>
          </p:nvGrpSpPr>
          <p:grpSpPr>
            <a:xfrm>
              <a:off x="0" y="0"/>
              <a:ext cx="3666521" cy="3598622"/>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4331788" y="1046339"/>
              <a:ext cx="1119511" cy="1126926"/>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3863834" y="6073"/>
              <a:ext cx="536041" cy="540597"/>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3" name="Freeform 13"/>
          <p:cNvSpPr/>
          <p:nvPr/>
        </p:nvSpPr>
        <p:spPr>
          <a:xfrm>
            <a:off x="8735763" y="2126447"/>
            <a:ext cx="8110117" cy="5408434"/>
          </a:xfrm>
          <a:custGeom>
            <a:avLst/>
            <a:gdLst/>
            <a:ahLst/>
            <a:cxnLst/>
            <a:rect l="l" t="t" r="r" b="b"/>
            <a:pathLst>
              <a:path w="8110117" h="5408434">
                <a:moveTo>
                  <a:pt x="0" y="0"/>
                </a:moveTo>
                <a:lnTo>
                  <a:pt x="8110118" y="0"/>
                </a:lnTo>
                <a:lnTo>
                  <a:pt x="8110118" y="5408434"/>
                </a:lnTo>
                <a:lnTo>
                  <a:pt x="0" y="5408434"/>
                </a:lnTo>
                <a:lnTo>
                  <a:pt x="0" y="0"/>
                </a:lnTo>
                <a:close/>
              </a:path>
            </a:pathLst>
          </a:custGeom>
          <a:blipFill>
            <a:blip r:embed="rId3"/>
            <a:stretch>
              <a:fillRect/>
            </a:stretch>
          </a:blipFill>
          <a:ln w="38100" cap="sq">
            <a:solidFill>
              <a:srgbClr val="000000"/>
            </a:solidFill>
            <a:prstDash val="solid"/>
            <a:miter/>
          </a:ln>
        </p:spPr>
      </p:sp>
      <p:grpSp>
        <p:nvGrpSpPr>
          <p:cNvPr id="14" name="Group 14"/>
          <p:cNvGrpSpPr/>
          <p:nvPr/>
        </p:nvGrpSpPr>
        <p:grpSpPr>
          <a:xfrm>
            <a:off x="1603124" y="2985814"/>
            <a:ext cx="6449916" cy="4224184"/>
            <a:chOff x="0" y="0"/>
            <a:chExt cx="1698743" cy="1112542"/>
          </a:xfrm>
        </p:grpSpPr>
        <p:sp>
          <p:nvSpPr>
            <p:cNvPr id="15" name="Freeform 15"/>
            <p:cNvSpPr/>
            <p:nvPr/>
          </p:nvSpPr>
          <p:spPr>
            <a:xfrm>
              <a:off x="0" y="0"/>
              <a:ext cx="1698743" cy="1112542"/>
            </a:xfrm>
            <a:custGeom>
              <a:avLst/>
              <a:gdLst/>
              <a:ahLst/>
              <a:cxnLst/>
              <a:rect l="l" t="t" r="r" b="b"/>
              <a:pathLst>
                <a:path w="1698743" h="1112542">
                  <a:moveTo>
                    <a:pt x="61216" y="0"/>
                  </a:moveTo>
                  <a:lnTo>
                    <a:pt x="1637527" y="0"/>
                  </a:lnTo>
                  <a:cubicBezTo>
                    <a:pt x="1653763" y="0"/>
                    <a:pt x="1669333" y="6450"/>
                    <a:pt x="1680813" y="17930"/>
                  </a:cubicBezTo>
                  <a:cubicBezTo>
                    <a:pt x="1692294" y="29410"/>
                    <a:pt x="1698743" y="44980"/>
                    <a:pt x="1698743" y="61216"/>
                  </a:cubicBezTo>
                  <a:lnTo>
                    <a:pt x="1698743" y="1051326"/>
                  </a:lnTo>
                  <a:cubicBezTo>
                    <a:pt x="1698743" y="1067562"/>
                    <a:pt x="1692294" y="1083132"/>
                    <a:pt x="1680813" y="1094613"/>
                  </a:cubicBezTo>
                  <a:cubicBezTo>
                    <a:pt x="1669333" y="1106093"/>
                    <a:pt x="1653763" y="1112542"/>
                    <a:pt x="1637527" y="1112542"/>
                  </a:cubicBezTo>
                  <a:lnTo>
                    <a:pt x="61216" y="1112542"/>
                  </a:lnTo>
                  <a:cubicBezTo>
                    <a:pt x="44980" y="1112542"/>
                    <a:pt x="29410" y="1106093"/>
                    <a:pt x="17930" y="1094613"/>
                  </a:cubicBezTo>
                  <a:cubicBezTo>
                    <a:pt x="6450" y="1083132"/>
                    <a:pt x="0" y="1067562"/>
                    <a:pt x="0" y="1051326"/>
                  </a:cubicBezTo>
                  <a:lnTo>
                    <a:pt x="0" y="61216"/>
                  </a:lnTo>
                  <a:cubicBezTo>
                    <a:pt x="0" y="44980"/>
                    <a:pt x="6450" y="29410"/>
                    <a:pt x="17930" y="17930"/>
                  </a:cubicBezTo>
                  <a:cubicBezTo>
                    <a:pt x="29410" y="6450"/>
                    <a:pt x="44980" y="0"/>
                    <a:pt x="61216" y="0"/>
                  </a:cubicBezTo>
                  <a:close/>
                </a:path>
              </a:pathLst>
            </a:custGeom>
            <a:solidFill>
              <a:srgbClr val="F0E9DF"/>
            </a:solidFill>
          </p:spPr>
        </p:sp>
        <p:sp>
          <p:nvSpPr>
            <p:cNvPr id="16" name="TextBox 16"/>
            <p:cNvSpPr txBox="1"/>
            <p:nvPr/>
          </p:nvSpPr>
          <p:spPr>
            <a:xfrm>
              <a:off x="0" y="-47625"/>
              <a:ext cx="1698743" cy="1160167"/>
            </a:xfrm>
            <a:prstGeom prst="rect">
              <a:avLst/>
            </a:prstGeom>
          </p:spPr>
          <p:txBody>
            <a:bodyPr lIns="50800" tIns="50800" rIns="50800" bIns="50800" rtlCol="0" anchor="ctr"/>
            <a:lstStyle/>
            <a:p>
              <a:pPr algn="ctr">
                <a:lnSpc>
                  <a:spcPts val="2090"/>
                </a:lnSpc>
              </a:pPr>
              <a:endParaRPr/>
            </a:p>
          </p:txBody>
        </p:sp>
      </p:grpSp>
      <p:sp>
        <p:nvSpPr>
          <p:cNvPr id="17" name="TextBox 17"/>
          <p:cNvSpPr txBox="1"/>
          <p:nvPr/>
        </p:nvSpPr>
        <p:spPr>
          <a:xfrm>
            <a:off x="-162521" y="361773"/>
            <a:ext cx="9747722" cy="1526549"/>
          </a:xfrm>
          <a:prstGeom prst="rect">
            <a:avLst/>
          </a:prstGeom>
        </p:spPr>
        <p:txBody>
          <a:bodyPr lIns="0" tIns="0" rIns="0" bIns="0" rtlCol="0" anchor="t">
            <a:spAutoFit/>
          </a:bodyPr>
          <a:lstStyle/>
          <a:p>
            <a:pPr marL="0" lvl="0" indent="0" algn="ctr">
              <a:lnSpc>
                <a:spcPts val="12459"/>
              </a:lnSpc>
              <a:spcBef>
                <a:spcPct val="0"/>
              </a:spcBef>
            </a:pPr>
            <a:r>
              <a:rPr lang="en-US" sz="8899" spc="302">
                <a:solidFill>
                  <a:srgbClr val="000000"/>
                </a:solidFill>
                <a:latin typeface="Eyesome Script"/>
                <a:ea typeface="Eyesome Script"/>
                <a:cs typeface="Eyesome Script"/>
                <a:sym typeface="Eyesome Script"/>
              </a:rPr>
              <a:t>Problemática</a:t>
            </a:r>
          </a:p>
        </p:txBody>
      </p:sp>
      <p:sp>
        <p:nvSpPr>
          <p:cNvPr id="18" name="TextBox 18"/>
          <p:cNvSpPr txBox="1"/>
          <p:nvPr/>
        </p:nvSpPr>
        <p:spPr>
          <a:xfrm>
            <a:off x="2035162" y="2814364"/>
            <a:ext cx="5066586" cy="1321607"/>
          </a:xfrm>
          <a:prstGeom prst="rect">
            <a:avLst/>
          </a:prstGeom>
        </p:spPr>
        <p:txBody>
          <a:bodyPr lIns="0" tIns="0" rIns="0" bIns="0" rtlCol="0" anchor="t">
            <a:spAutoFit/>
          </a:bodyPr>
          <a:lstStyle/>
          <a:p>
            <a:pPr algn="ctr">
              <a:lnSpc>
                <a:spcPts val="10630"/>
              </a:lnSpc>
              <a:spcBef>
                <a:spcPct val="0"/>
              </a:spcBef>
            </a:pPr>
            <a:r>
              <a:rPr lang="en-US" sz="7593">
                <a:solidFill>
                  <a:srgbClr val="000000"/>
                </a:solidFill>
                <a:latin typeface="Catchy Mager"/>
                <a:ea typeface="Catchy Mager"/>
                <a:cs typeface="Catchy Mager"/>
                <a:sym typeface="Catchy Mager"/>
              </a:rPr>
              <a:t>166 millones </a:t>
            </a:r>
          </a:p>
        </p:txBody>
      </p:sp>
      <p:sp>
        <p:nvSpPr>
          <p:cNvPr id="19" name="TextBox 19"/>
          <p:cNvSpPr txBox="1"/>
          <p:nvPr/>
        </p:nvSpPr>
        <p:spPr>
          <a:xfrm>
            <a:off x="4828082" y="3889909"/>
            <a:ext cx="5090529" cy="425450"/>
          </a:xfrm>
          <a:prstGeom prst="rect">
            <a:avLst/>
          </a:prstGeom>
        </p:spPr>
        <p:txBody>
          <a:bodyPr lIns="0" tIns="0" rIns="0" bIns="0" rtlCol="0" anchor="t">
            <a:spAutoFit/>
          </a:bodyPr>
          <a:lstStyle/>
          <a:p>
            <a:pPr algn="l">
              <a:lnSpc>
                <a:spcPts val="3324"/>
              </a:lnSpc>
            </a:pPr>
            <a:r>
              <a:rPr lang="en-US" sz="2374">
                <a:solidFill>
                  <a:srgbClr val="000000"/>
                </a:solidFill>
                <a:latin typeface="Catchy Mager"/>
                <a:ea typeface="Catchy Mager"/>
                <a:cs typeface="Catchy Mager"/>
                <a:sym typeface="Catchy Mager"/>
              </a:rPr>
              <a:t>Casos estimados</a:t>
            </a:r>
          </a:p>
        </p:txBody>
      </p:sp>
      <p:sp>
        <p:nvSpPr>
          <p:cNvPr id="20" name="TextBox 20"/>
          <p:cNvSpPr txBox="1"/>
          <p:nvPr/>
        </p:nvSpPr>
        <p:spPr>
          <a:xfrm>
            <a:off x="1986942" y="4981575"/>
            <a:ext cx="5163026" cy="1321607"/>
          </a:xfrm>
          <a:prstGeom prst="rect">
            <a:avLst/>
          </a:prstGeom>
        </p:spPr>
        <p:txBody>
          <a:bodyPr lIns="0" tIns="0" rIns="0" bIns="0" rtlCol="0" anchor="t">
            <a:spAutoFit/>
          </a:bodyPr>
          <a:lstStyle/>
          <a:p>
            <a:pPr algn="ctr">
              <a:lnSpc>
                <a:spcPts val="10630"/>
              </a:lnSpc>
              <a:spcBef>
                <a:spcPct val="0"/>
              </a:spcBef>
            </a:pPr>
            <a:r>
              <a:rPr lang="en-US" sz="7593">
                <a:solidFill>
                  <a:srgbClr val="000000"/>
                </a:solidFill>
                <a:latin typeface="Catchy Mager"/>
                <a:ea typeface="Catchy Mager"/>
                <a:cs typeface="Catchy Mager"/>
                <a:sym typeface="Catchy Mager"/>
              </a:rPr>
              <a:t>21,4 millones </a:t>
            </a:r>
          </a:p>
        </p:txBody>
      </p:sp>
      <p:sp>
        <p:nvSpPr>
          <p:cNvPr id="21" name="TextBox 21"/>
          <p:cNvSpPr txBox="1"/>
          <p:nvPr/>
        </p:nvSpPr>
        <p:spPr>
          <a:xfrm>
            <a:off x="2892470" y="6236507"/>
            <a:ext cx="5090529" cy="425450"/>
          </a:xfrm>
          <a:prstGeom prst="rect">
            <a:avLst/>
          </a:prstGeom>
        </p:spPr>
        <p:txBody>
          <a:bodyPr lIns="0" tIns="0" rIns="0" bIns="0" rtlCol="0" anchor="t">
            <a:spAutoFit/>
          </a:bodyPr>
          <a:lstStyle/>
          <a:p>
            <a:pPr algn="l">
              <a:lnSpc>
                <a:spcPts val="3324"/>
              </a:lnSpc>
            </a:pPr>
            <a:r>
              <a:rPr lang="en-US" sz="2374">
                <a:solidFill>
                  <a:srgbClr val="000000"/>
                </a:solidFill>
                <a:latin typeface="Catchy Mager"/>
                <a:ea typeface="Catchy Mager"/>
                <a:cs typeface="Catchy Mager"/>
                <a:sym typeface="Catchy Mager"/>
              </a:rPr>
              <a:t>Muertes relacionadas a la sepsis</a:t>
            </a:r>
          </a:p>
        </p:txBody>
      </p:sp>
      <p:sp>
        <p:nvSpPr>
          <p:cNvPr id="22" name="TextBox 22"/>
          <p:cNvSpPr txBox="1"/>
          <p:nvPr/>
        </p:nvSpPr>
        <p:spPr>
          <a:xfrm>
            <a:off x="1812095" y="7894040"/>
            <a:ext cx="7251280" cy="844550"/>
          </a:xfrm>
          <a:prstGeom prst="rect">
            <a:avLst/>
          </a:prstGeom>
        </p:spPr>
        <p:txBody>
          <a:bodyPr lIns="0" tIns="0" rIns="0" bIns="0" rtlCol="0" anchor="t">
            <a:spAutoFit/>
          </a:bodyPr>
          <a:lstStyle/>
          <a:p>
            <a:pPr algn="l">
              <a:lnSpc>
                <a:spcPts val="3324"/>
              </a:lnSpc>
            </a:pPr>
            <a:r>
              <a:rPr lang="en-US" sz="2374">
                <a:solidFill>
                  <a:srgbClr val="000000"/>
                </a:solidFill>
                <a:latin typeface="Catchy Mager"/>
                <a:ea typeface="Catchy Mager"/>
                <a:cs typeface="Catchy Mager"/>
                <a:sym typeface="Catchy Mager"/>
              </a:rPr>
              <a:t>31,5% de las muertes mundiales en el 2021 estuvieron relacionadas con sepsis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sp>
        <p:nvSpPr>
          <p:cNvPr id="2" name="Freeform 2"/>
          <p:cNvSpPr/>
          <p:nvPr/>
        </p:nvSpPr>
        <p:spPr>
          <a:xfrm>
            <a:off x="-3092719" y="-230996"/>
            <a:ext cx="25874019" cy="10719236"/>
          </a:xfrm>
          <a:custGeom>
            <a:avLst/>
            <a:gdLst/>
            <a:ahLst/>
            <a:cxnLst/>
            <a:rect l="l" t="t" r="r" b="b"/>
            <a:pathLst>
              <a:path w="25874019" h="10719236">
                <a:moveTo>
                  <a:pt x="0" y="0"/>
                </a:moveTo>
                <a:lnTo>
                  <a:pt x="25874019" y="0"/>
                </a:lnTo>
                <a:lnTo>
                  <a:pt x="25874019" y="10719236"/>
                </a:lnTo>
                <a:lnTo>
                  <a:pt x="0" y="10719236"/>
                </a:lnTo>
                <a:lnTo>
                  <a:pt x="0" y="0"/>
                </a:lnTo>
                <a:close/>
              </a:path>
            </a:pathLst>
          </a:custGeom>
          <a:blipFill>
            <a:blip r:embed="rId2"/>
            <a:stretch>
              <a:fillRect/>
            </a:stretch>
          </a:blipFill>
        </p:spPr>
      </p:sp>
      <p:grpSp>
        <p:nvGrpSpPr>
          <p:cNvPr id="3" name="Group 3"/>
          <p:cNvGrpSpPr/>
          <p:nvPr/>
        </p:nvGrpSpPr>
        <p:grpSpPr>
          <a:xfrm rot="5400000">
            <a:off x="-2119212" y="776964"/>
            <a:ext cx="4238424" cy="2698967"/>
            <a:chOff x="0" y="0"/>
            <a:chExt cx="5651233" cy="3598622"/>
          </a:xfrm>
        </p:grpSpPr>
        <p:grpSp>
          <p:nvGrpSpPr>
            <p:cNvPr id="4" name="Group 4"/>
            <p:cNvGrpSpPr/>
            <p:nvPr/>
          </p:nvGrpSpPr>
          <p:grpSpPr>
            <a:xfrm>
              <a:off x="0" y="0"/>
              <a:ext cx="3666521" cy="3598622"/>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4331788" y="1046339"/>
              <a:ext cx="1119511" cy="1126926"/>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3863834" y="6073"/>
              <a:ext cx="536041" cy="540597"/>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3" name="AutoShape 13"/>
          <p:cNvSpPr/>
          <p:nvPr/>
        </p:nvSpPr>
        <p:spPr>
          <a:xfrm>
            <a:off x="3635384" y="4443762"/>
            <a:ext cx="6492240" cy="0"/>
          </a:xfrm>
          <a:prstGeom prst="line">
            <a:avLst/>
          </a:prstGeom>
          <a:ln w="38100" cap="flat">
            <a:solidFill>
              <a:srgbClr val="000000"/>
            </a:solidFill>
            <a:prstDash val="solid"/>
            <a:headEnd type="none" w="sm" len="sm"/>
            <a:tailEnd type="none" w="sm" len="sm"/>
          </a:ln>
        </p:spPr>
      </p:sp>
      <p:sp>
        <p:nvSpPr>
          <p:cNvPr id="14" name="Freeform 14"/>
          <p:cNvSpPr/>
          <p:nvPr/>
        </p:nvSpPr>
        <p:spPr>
          <a:xfrm>
            <a:off x="2739519" y="2952491"/>
            <a:ext cx="12631105" cy="4832824"/>
          </a:xfrm>
          <a:custGeom>
            <a:avLst/>
            <a:gdLst/>
            <a:ahLst/>
            <a:cxnLst/>
            <a:rect l="l" t="t" r="r" b="b"/>
            <a:pathLst>
              <a:path w="12631105" h="4832824">
                <a:moveTo>
                  <a:pt x="0" y="0"/>
                </a:moveTo>
                <a:lnTo>
                  <a:pt x="12631104" y="0"/>
                </a:lnTo>
                <a:lnTo>
                  <a:pt x="12631104" y="4832824"/>
                </a:lnTo>
                <a:lnTo>
                  <a:pt x="0" y="4832824"/>
                </a:lnTo>
                <a:lnTo>
                  <a:pt x="0" y="0"/>
                </a:lnTo>
                <a:close/>
              </a:path>
            </a:pathLst>
          </a:custGeom>
          <a:blipFill>
            <a:blip r:embed="rId3"/>
            <a:stretch>
              <a:fillRect l="-4472" t="-37603" r="-825"/>
            </a:stretch>
          </a:blipFill>
        </p:spPr>
      </p:sp>
      <p:sp>
        <p:nvSpPr>
          <p:cNvPr id="15" name="Freeform 15"/>
          <p:cNvSpPr/>
          <p:nvPr/>
        </p:nvSpPr>
        <p:spPr>
          <a:xfrm>
            <a:off x="1817157" y="6370342"/>
            <a:ext cx="3636454" cy="1506531"/>
          </a:xfrm>
          <a:custGeom>
            <a:avLst/>
            <a:gdLst/>
            <a:ahLst/>
            <a:cxnLst/>
            <a:rect l="l" t="t" r="r" b="b"/>
            <a:pathLst>
              <a:path w="3636454" h="1506531">
                <a:moveTo>
                  <a:pt x="0" y="0"/>
                </a:moveTo>
                <a:lnTo>
                  <a:pt x="3636454" y="0"/>
                </a:lnTo>
                <a:lnTo>
                  <a:pt x="3636454" y="1506531"/>
                </a:lnTo>
                <a:lnTo>
                  <a:pt x="0" y="1506531"/>
                </a:lnTo>
                <a:lnTo>
                  <a:pt x="0" y="0"/>
                </a:lnTo>
                <a:close/>
              </a:path>
            </a:pathLst>
          </a:custGeom>
          <a:blipFill>
            <a:blip r:embed="rId2"/>
            <a:stretch>
              <a:fillRect/>
            </a:stretch>
          </a:blipFill>
        </p:spPr>
      </p:sp>
      <p:sp>
        <p:nvSpPr>
          <p:cNvPr id="16" name="TextBox 16"/>
          <p:cNvSpPr txBox="1"/>
          <p:nvPr/>
        </p:nvSpPr>
        <p:spPr>
          <a:xfrm>
            <a:off x="0" y="369542"/>
            <a:ext cx="9747722" cy="1526549"/>
          </a:xfrm>
          <a:prstGeom prst="rect">
            <a:avLst/>
          </a:prstGeom>
        </p:spPr>
        <p:txBody>
          <a:bodyPr lIns="0" tIns="0" rIns="0" bIns="0" rtlCol="0" anchor="t">
            <a:spAutoFit/>
          </a:bodyPr>
          <a:lstStyle/>
          <a:p>
            <a:pPr marL="0" lvl="0" indent="0" algn="ctr">
              <a:lnSpc>
                <a:spcPts val="12459"/>
              </a:lnSpc>
              <a:spcBef>
                <a:spcPct val="0"/>
              </a:spcBef>
            </a:pPr>
            <a:r>
              <a:rPr lang="en-US" sz="8899" spc="302">
                <a:solidFill>
                  <a:srgbClr val="000000"/>
                </a:solidFill>
                <a:latin typeface="Eyesome Script"/>
                <a:ea typeface="Eyesome Script"/>
                <a:cs typeface="Eyesome Script"/>
                <a:sym typeface="Eyesome Script"/>
              </a:rPr>
              <a:t>Problemática</a:t>
            </a:r>
          </a:p>
        </p:txBody>
      </p:sp>
      <p:sp>
        <p:nvSpPr>
          <p:cNvPr id="17" name="TextBox 17"/>
          <p:cNvSpPr txBox="1"/>
          <p:nvPr/>
        </p:nvSpPr>
        <p:spPr>
          <a:xfrm>
            <a:off x="1144452" y="7992695"/>
            <a:ext cx="15999095" cy="879475"/>
          </a:xfrm>
          <a:prstGeom prst="rect">
            <a:avLst/>
          </a:prstGeom>
        </p:spPr>
        <p:txBody>
          <a:bodyPr lIns="0" tIns="0" rIns="0" bIns="0" rtlCol="0" anchor="t">
            <a:spAutoFit/>
          </a:bodyPr>
          <a:lstStyle/>
          <a:p>
            <a:pPr algn="ctr">
              <a:lnSpc>
                <a:spcPts val="3500"/>
              </a:lnSpc>
              <a:spcBef>
                <a:spcPct val="0"/>
              </a:spcBef>
            </a:pPr>
            <a:r>
              <a:rPr lang="en-US" sz="2500">
                <a:solidFill>
                  <a:srgbClr val="000000"/>
                </a:solidFill>
                <a:latin typeface="Catchy Mager"/>
                <a:ea typeface="Catchy Mager"/>
                <a:cs typeface="Catchy Mager"/>
                <a:sym typeface="Catchy Mager"/>
              </a:rPr>
              <a:t>Esta escalada no es rara ni lenta: ocurre en horas. Cada hora de retraso en el antibiótico efectivo se asocia a 7.6% más mortalidad, mientras la sala genera mide signos vitales, en promedio, una vez cada uno o dos días.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333" b="-12333"/>
            </a:stretch>
          </a:blipFill>
        </p:spPr>
      </p:sp>
      <p:grpSp>
        <p:nvGrpSpPr>
          <p:cNvPr id="3" name="Group 3"/>
          <p:cNvGrpSpPr/>
          <p:nvPr/>
        </p:nvGrpSpPr>
        <p:grpSpPr>
          <a:xfrm rot="5400000">
            <a:off x="-2119212" y="776964"/>
            <a:ext cx="4238424" cy="2698967"/>
            <a:chOff x="0" y="0"/>
            <a:chExt cx="5651233" cy="3598622"/>
          </a:xfrm>
        </p:grpSpPr>
        <p:grpSp>
          <p:nvGrpSpPr>
            <p:cNvPr id="4" name="Group 4"/>
            <p:cNvGrpSpPr/>
            <p:nvPr/>
          </p:nvGrpSpPr>
          <p:grpSpPr>
            <a:xfrm>
              <a:off x="0" y="0"/>
              <a:ext cx="3666521" cy="3598622"/>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4331788" y="1046339"/>
              <a:ext cx="1119511" cy="1126926"/>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3863834" y="6073"/>
              <a:ext cx="536041" cy="540597"/>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3" name="AutoShape 13"/>
          <p:cNvSpPr/>
          <p:nvPr/>
        </p:nvSpPr>
        <p:spPr>
          <a:xfrm>
            <a:off x="8360456" y="2625606"/>
            <a:ext cx="0" cy="4542238"/>
          </a:xfrm>
          <a:prstGeom prst="line">
            <a:avLst/>
          </a:prstGeom>
          <a:ln w="9525" cap="flat">
            <a:solidFill>
              <a:srgbClr val="000000"/>
            </a:solidFill>
            <a:prstDash val="solid"/>
            <a:headEnd type="none" w="sm" len="sm"/>
            <a:tailEnd type="none" w="sm" len="sm"/>
          </a:ln>
        </p:spPr>
      </p:sp>
      <p:grpSp>
        <p:nvGrpSpPr>
          <p:cNvPr id="14" name="Group 14"/>
          <p:cNvGrpSpPr/>
          <p:nvPr/>
        </p:nvGrpSpPr>
        <p:grpSpPr>
          <a:xfrm>
            <a:off x="8898618" y="3883368"/>
            <a:ext cx="2183665" cy="2183665"/>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499"/>
                </a:lnSpc>
              </a:pPr>
              <a:r>
                <a:rPr lang="en-US" sz="2499">
                  <a:solidFill>
                    <a:srgbClr val="3D2500"/>
                  </a:solidFill>
                  <a:latin typeface="Catchy Mager"/>
                  <a:ea typeface="Catchy Mager"/>
                  <a:cs typeface="Catchy Mager"/>
                  <a:sym typeface="Catchy Mager"/>
                </a:rPr>
                <a:t>Evaluación inicial</a:t>
              </a:r>
            </a:p>
          </p:txBody>
        </p:sp>
      </p:grpSp>
      <p:grpSp>
        <p:nvGrpSpPr>
          <p:cNvPr id="17" name="Group 17"/>
          <p:cNvGrpSpPr/>
          <p:nvPr/>
        </p:nvGrpSpPr>
        <p:grpSpPr>
          <a:xfrm>
            <a:off x="12191156" y="1436697"/>
            <a:ext cx="2183665" cy="218366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4D9"/>
            </a:solidFill>
            <a:ln w="38100" cap="sq">
              <a:solidFill>
                <a:srgbClr val="000000"/>
              </a:solidFill>
              <a:prstDash val="lgDash"/>
              <a:miter/>
            </a:ln>
          </p:spPr>
        </p:sp>
        <p:sp>
          <p:nvSpPr>
            <p:cNvPr id="19" name="TextBox 19"/>
            <p:cNvSpPr txBox="1"/>
            <p:nvPr/>
          </p:nvSpPr>
          <p:spPr>
            <a:xfrm>
              <a:off x="76200" y="0"/>
              <a:ext cx="660400" cy="736600"/>
            </a:xfrm>
            <a:prstGeom prst="rect">
              <a:avLst/>
            </a:prstGeom>
          </p:spPr>
          <p:txBody>
            <a:bodyPr lIns="50800" tIns="50800" rIns="50800" bIns="50800" rtlCol="0" anchor="ctr"/>
            <a:lstStyle/>
            <a:p>
              <a:pPr algn="ctr">
                <a:lnSpc>
                  <a:spcPts val="4330"/>
                </a:lnSpc>
              </a:pPr>
              <a:r>
                <a:rPr lang="en-US" sz="3093">
                  <a:solidFill>
                    <a:srgbClr val="3D2500"/>
                  </a:solidFill>
                  <a:latin typeface="Catchy Mager"/>
                  <a:ea typeface="Catchy Mager"/>
                  <a:cs typeface="Catchy Mager"/>
                  <a:sym typeface="Catchy Mager"/>
                </a:rPr>
                <a:t>Posible deterioro</a:t>
              </a:r>
            </a:p>
          </p:txBody>
        </p:sp>
      </p:grpSp>
      <p:grpSp>
        <p:nvGrpSpPr>
          <p:cNvPr id="20" name="Group 20"/>
          <p:cNvGrpSpPr/>
          <p:nvPr/>
        </p:nvGrpSpPr>
        <p:grpSpPr>
          <a:xfrm>
            <a:off x="15557983" y="4092605"/>
            <a:ext cx="2183665" cy="218366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sp>
        <p:sp>
          <p:nvSpPr>
            <p:cNvPr id="22" name="TextBox 22"/>
            <p:cNvSpPr txBox="1"/>
            <p:nvPr/>
          </p:nvSpPr>
          <p:spPr>
            <a:xfrm>
              <a:off x="76200" y="19050"/>
              <a:ext cx="660400" cy="717550"/>
            </a:xfrm>
            <a:prstGeom prst="rect">
              <a:avLst/>
            </a:prstGeom>
          </p:spPr>
          <p:txBody>
            <a:bodyPr lIns="50800" tIns="50800" rIns="50800" bIns="50800" rtlCol="0" anchor="ctr"/>
            <a:lstStyle/>
            <a:p>
              <a:pPr algn="ctr">
                <a:lnSpc>
                  <a:spcPts val="3499"/>
                </a:lnSpc>
              </a:pPr>
              <a:r>
                <a:rPr lang="en-US" sz="2499">
                  <a:solidFill>
                    <a:srgbClr val="3D2500"/>
                  </a:solidFill>
                  <a:latin typeface="Catchy Mager"/>
                  <a:ea typeface="Catchy Mager"/>
                  <a:cs typeface="Catchy Mager"/>
                  <a:sym typeface="Catchy Mager"/>
                </a:rPr>
                <a:t>Siguiente control</a:t>
              </a:r>
            </a:p>
          </p:txBody>
        </p:sp>
      </p:grpSp>
      <p:sp>
        <p:nvSpPr>
          <p:cNvPr id="23" name="Freeform 23"/>
          <p:cNvSpPr/>
          <p:nvPr/>
        </p:nvSpPr>
        <p:spPr>
          <a:xfrm rot="-1916371">
            <a:off x="10852742" y="3387170"/>
            <a:ext cx="1239005" cy="700038"/>
          </a:xfrm>
          <a:custGeom>
            <a:avLst/>
            <a:gdLst/>
            <a:ahLst/>
            <a:cxnLst/>
            <a:rect l="l" t="t" r="r" b="b"/>
            <a:pathLst>
              <a:path w="1239005" h="700038">
                <a:moveTo>
                  <a:pt x="0" y="0"/>
                </a:moveTo>
                <a:lnTo>
                  <a:pt x="1239005" y="0"/>
                </a:lnTo>
                <a:lnTo>
                  <a:pt x="1239005" y="700038"/>
                </a:lnTo>
                <a:lnTo>
                  <a:pt x="0" y="700038"/>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24" name="Freeform 24"/>
          <p:cNvSpPr/>
          <p:nvPr/>
        </p:nvSpPr>
        <p:spPr>
          <a:xfrm rot="2700000">
            <a:off x="14645324" y="3447965"/>
            <a:ext cx="1239005" cy="700038"/>
          </a:xfrm>
          <a:custGeom>
            <a:avLst/>
            <a:gdLst/>
            <a:ahLst/>
            <a:cxnLst/>
            <a:rect l="l" t="t" r="r" b="b"/>
            <a:pathLst>
              <a:path w="1239005" h="700038">
                <a:moveTo>
                  <a:pt x="0" y="0"/>
                </a:moveTo>
                <a:lnTo>
                  <a:pt x="1239005" y="0"/>
                </a:lnTo>
                <a:lnTo>
                  <a:pt x="1239005" y="700038"/>
                </a:lnTo>
                <a:lnTo>
                  <a:pt x="0" y="700038"/>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grpSp>
        <p:nvGrpSpPr>
          <p:cNvPr id="25" name="Group 25"/>
          <p:cNvGrpSpPr/>
          <p:nvPr/>
        </p:nvGrpSpPr>
        <p:grpSpPr>
          <a:xfrm>
            <a:off x="1484311" y="7967667"/>
            <a:ext cx="16129091" cy="976125"/>
            <a:chOff x="0" y="0"/>
            <a:chExt cx="21505454" cy="1301500"/>
          </a:xfrm>
        </p:grpSpPr>
        <p:grpSp>
          <p:nvGrpSpPr>
            <p:cNvPr id="26" name="Group 26"/>
            <p:cNvGrpSpPr/>
            <p:nvPr/>
          </p:nvGrpSpPr>
          <p:grpSpPr>
            <a:xfrm>
              <a:off x="0" y="0"/>
              <a:ext cx="21505454" cy="1301500"/>
              <a:chOff x="0" y="0"/>
              <a:chExt cx="4247991" cy="257086"/>
            </a:xfrm>
          </p:grpSpPr>
          <p:sp>
            <p:nvSpPr>
              <p:cNvPr id="27" name="Freeform 27"/>
              <p:cNvSpPr/>
              <p:nvPr/>
            </p:nvSpPr>
            <p:spPr>
              <a:xfrm>
                <a:off x="0" y="0"/>
                <a:ext cx="4247991" cy="257086"/>
              </a:xfrm>
              <a:custGeom>
                <a:avLst/>
                <a:gdLst/>
                <a:ahLst/>
                <a:cxnLst/>
                <a:rect l="l" t="t" r="r" b="b"/>
                <a:pathLst>
                  <a:path w="4247991" h="257086">
                    <a:moveTo>
                      <a:pt x="24480" y="0"/>
                    </a:moveTo>
                    <a:lnTo>
                      <a:pt x="4223511" y="0"/>
                    </a:lnTo>
                    <a:cubicBezTo>
                      <a:pt x="4237031" y="0"/>
                      <a:pt x="4247991" y="10960"/>
                      <a:pt x="4247991" y="24480"/>
                    </a:cubicBezTo>
                    <a:lnTo>
                      <a:pt x="4247991" y="232607"/>
                    </a:lnTo>
                    <a:cubicBezTo>
                      <a:pt x="4247991" y="239099"/>
                      <a:pt x="4245412" y="245326"/>
                      <a:pt x="4240821" y="249916"/>
                    </a:cubicBezTo>
                    <a:cubicBezTo>
                      <a:pt x="4236230" y="254507"/>
                      <a:pt x="4230004" y="257086"/>
                      <a:pt x="4223511" y="257086"/>
                    </a:cubicBezTo>
                    <a:lnTo>
                      <a:pt x="24480" y="257086"/>
                    </a:lnTo>
                    <a:cubicBezTo>
                      <a:pt x="17987" y="257086"/>
                      <a:pt x="11761" y="254507"/>
                      <a:pt x="7170" y="249916"/>
                    </a:cubicBezTo>
                    <a:cubicBezTo>
                      <a:pt x="2579" y="245326"/>
                      <a:pt x="0" y="239099"/>
                      <a:pt x="0" y="232607"/>
                    </a:cubicBezTo>
                    <a:lnTo>
                      <a:pt x="0" y="24480"/>
                    </a:lnTo>
                    <a:cubicBezTo>
                      <a:pt x="0" y="17987"/>
                      <a:pt x="2579" y="11761"/>
                      <a:pt x="7170" y="7170"/>
                    </a:cubicBezTo>
                    <a:cubicBezTo>
                      <a:pt x="11761" y="2579"/>
                      <a:pt x="17987" y="0"/>
                      <a:pt x="24480" y="0"/>
                    </a:cubicBezTo>
                    <a:close/>
                  </a:path>
                </a:pathLst>
              </a:custGeom>
              <a:solidFill>
                <a:srgbClr val="FFF4D9"/>
              </a:solidFill>
              <a:ln w="38100" cap="rnd">
                <a:solidFill>
                  <a:srgbClr val="000000"/>
                </a:solidFill>
                <a:prstDash val="sysDot"/>
                <a:round/>
              </a:ln>
            </p:spPr>
          </p:sp>
          <p:sp>
            <p:nvSpPr>
              <p:cNvPr id="28" name="TextBox 28"/>
              <p:cNvSpPr txBox="1"/>
              <p:nvPr/>
            </p:nvSpPr>
            <p:spPr>
              <a:xfrm>
                <a:off x="0" y="-47625"/>
                <a:ext cx="4247991" cy="304711"/>
              </a:xfrm>
              <a:prstGeom prst="rect">
                <a:avLst/>
              </a:prstGeom>
            </p:spPr>
            <p:txBody>
              <a:bodyPr lIns="50800" tIns="50800" rIns="50800" bIns="50800" rtlCol="0" anchor="ctr"/>
              <a:lstStyle/>
              <a:p>
                <a:pPr algn="ctr">
                  <a:lnSpc>
                    <a:spcPts val="2090"/>
                  </a:lnSpc>
                </a:pPr>
                <a:endParaRPr/>
              </a:p>
            </p:txBody>
          </p:sp>
        </p:grpSp>
        <p:sp>
          <p:nvSpPr>
            <p:cNvPr id="29" name="TextBox 29"/>
            <p:cNvSpPr txBox="1"/>
            <p:nvPr/>
          </p:nvSpPr>
          <p:spPr>
            <a:xfrm>
              <a:off x="452102" y="245163"/>
              <a:ext cx="20452685" cy="664011"/>
            </a:xfrm>
            <a:prstGeom prst="rect">
              <a:avLst/>
            </a:prstGeom>
          </p:spPr>
          <p:txBody>
            <a:bodyPr lIns="0" tIns="0" rIns="0" bIns="0" rtlCol="0" anchor="t">
              <a:spAutoFit/>
            </a:bodyPr>
            <a:lstStyle/>
            <a:p>
              <a:pPr algn="ctr">
                <a:lnSpc>
                  <a:spcPts val="4050"/>
                </a:lnSpc>
                <a:spcBef>
                  <a:spcPct val="0"/>
                </a:spcBef>
              </a:pPr>
              <a:r>
                <a:rPr lang="en-US" sz="2893">
                  <a:solidFill>
                    <a:srgbClr val="000000"/>
                  </a:solidFill>
                  <a:latin typeface="Catchy Mager"/>
                  <a:ea typeface="Catchy Mager"/>
                  <a:cs typeface="Catchy Mager"/>
                  <a:sym typeface="Catchy Mager"/>
                </a:rPr>
                <a:t>¿Cómo identificar a tiempo el riesgo de shock séptico en pacientes con sepsis en hospitalización?</a:t>
              </a:r>
            </a:p>
          </p:txBody>
        </p:sp>
      </p:grpSp>
      <p:grpSp>
        <p:nvGrpSpPr>
          <p:cNvPr id="30" name="Group 30"/>
          <p:cNvGrpSpPr/>
          <p:nvPr/>
        </p:nvGrpSpPr>
        <p:grpSpPr>
          <a:xfrm>
            <a:off x="1484311" y="2625606"/>
            <a:ext cx="6449916" cy="4224184"/>
            <a:chOff x="0" y="0"/>
            <a:chExt cx="1698743" cy="1112542"/>
          </a:xfrm>
        </p:grpSpPr>
        <p:sp>
          <p:nvSpPr>
            <p:cNvPr id="31" name="Freeform 31"/>
            <p:cNvSpPr/>
            <p:nvPr/>
          </p:nvSpPr>
          <p:spPr>
            <a:xfrm>
              <a:off x="0" y="0"/>
              <a:ext cx="1698743" cy="1112542"/>
            </a:xfrm>
            <a:custGeom>
              <a:avLst/>
              <a:gdLst/>
              <a:ahLst/>
              <a:cxnLst/>
              <a:rect l="l" t="t" r="r" b="b"/>
              <a:pathLst>
                <a:path w="1698743" h="1112542">
                  <a:moveTo>
                    <a:pt x="61216" y="0"/>
                  </a:moveTo>
                  <a:lnTo>
                    <a:pt x="1637527" y="0"/>
                  </a:lnTo>
                  <a:cubicBezTo>
                    <a:pt x="1653763" y="0"/>
                    <a:pt x="1669333" y="6450"/>
                    <a:pt x="1680813" y="17930"/>
                  </a:cubicBezTo>
                  <a:cubicBezTo>
                    <a:pt x="1692294" y="29410"/>
                    <a:pt x="1698743" y="44980"/>
                    <a:pt x="1698743" y="61216"/>
                  </a:cubicBezTo>
                  <a:lnTo>
                    <a:pt x="1698743" y="1051326"/>
                  </a:lnTo>
                  <a:cubicBezTo>
                    <a:pt x="1698743" y="1067562"/>
                    <a:pt x="1692294" y="1083132"/>
                    <a:pt x="1680813" y="1094613"/>
                  </a:cubicBezTo>
                  <a:cubicBezTo>
                    <a:pt x="1669333" y="1106093"/>
                    <a:pt x="1653763" y="1112542"/>
                    <a:pt x="1637527" y="1112542"/>
                  </a:cubicBezTo>
                  <a:lnTo>
                    <a:pt x="61216" y="1112542"/>
                  </a:lnTo>
                  <a:cubicBezTo>
                    <a:pt x="44980" y="1112542"/>
                    <a:pt x="29410" y="1106093"/>
                    <a:pt x="17930" y="1094613"/>
                  </a:cubicBezTo>
                  <a:cubicBezTo>
                    <a:pt x="6450" y="1083132"/>
                    <a:pt x="0" y="1067562"/>
                    <a:pt x="0" y="1051326"/>
                  </a:cubicBezTo>
                  <a:lnTo>
                    <a:pt x="0" y="61216"/>
                  </a:lnTo>
                  <a:cubicBezTo>
                    <a:pt x="0" y="44980"/>
                    <a:pt x="6450" y="29410"/>
                    <a:pt x="17930" y="17930"/>
                  </a:cubicBezTo>
                  <a:cubicBezTo>
                    <a:pt x="29410" y="6450"/>
                    <a:pt x="44980" y="0"/>
                    <a:pt x="61216" y="0"/>
                  </a:cubicBezTo>
                  <a:close/>
                </a:path>
              </a:pathLst>
            </a:custGeom>
            <a:solidFill>
              <a:srgbClr val="F0E9DF"/>
            </a:solidFill>
          </p:spPr>
        </p:sp>
        <p:sp>
          <p:nvSpPr>
            <p:cNvPr id="32" name="TextBox 32"/>
            <p:cNvSpPr txBox="1"/>
            <p:nvPr/>
          </p:nvSpPr>
          <p:spPr>
            <a:xfrm>
              <a:off x="0" y="-47625"/>
              <a:ext cx="1698743" cy="1160167"/>
            </a:xfrm>
            <a:prstGeom prst="rect">
              <a:avLst/>
            </a:prstGeom>
          </p:spPr>
          <p:txBody>
            <a:bodyPr lIns="50800" tIns="50800" rIns="50800" bIns="50800" rtlCol="0" anchor="ctr"/>
            <a:lstStyle/>
            <a:p>
              <a:pPr algn="ctr">
                <a:lnSpc>
                  <a:spcPts val="2090"/>
                </a:lnSpc>
              </a:pPr>
              <a:endParaRPr/>
            </a:p>
          </p:txBody>
        </p:sp>
      </p:grpSp>
      <p:sp>
        <p:nvSpPr>
          <p:cNvPr id="33" name="TextBox 33"/>
          <p:cNvSpPr txBox="1"/>
          <p:nvPr/>
        </p:nvSpPr>
        <p:spPr>
          <a:xfrm>
            <a:off x="-89805" y="357823"/>
            <a:ext cx="9747722" cy="1526549"/>
          </a:xfrm>
          <a:prstGeom prst="rect">
            <a:avLst/>
          </a:prstGeom>
        </p:spPr>
        <p:txBody>
          <a:bodyPr lIns="0" tIns="0" rIns="0" bIns="0" rtlCol="0" anchor="t">
            <a:spAutoFit/>
          </a:bodyPr>
          <a:lstStyle/>
          <a:p>
            <a:pPr marL="0" lvl="0" indent="0" algn="ctr">
              <a:lnSpc>
                <a:spcPts val="12459"/>
              </a:lnSpc>
              <a:spcBef>
                <a:spcPct val="0"/>
              </a:spcBef>
            </a:pPr>
            <a:r>
              <a:rPr lang="en-US" sz="8899" spc="302">
                <a:solidFill>
                  <a:srgbClr val="000000"/>
                </a:solidFill>
                <a:latin typeface="Eyesome Script"/>
                <a:ea typeface="Eyesome Script"/>
                <a:cs typeface="Eyesome Script"/>
                <a:sym typeface="Eyesome Script"/>
              </a:rPr>
              <a:t>Problemática</a:t>
            </a:r>
          </a:p>
        </p:txBody>
      </p:sp>
      <p:sp>
        <p:nvSpPr>
          <p:cNvPr id="34" name="TextBox 34"/>
          <p:cNvSpPr txBox="1"/>
          <p:nvPr/>
        </p:nvSpPr>
        <p:spPr>
          <a:xfrm>
            <a:off x="1881375" y="2452560"/>
            <a:ext cx="3520255" cy="3398366"/>
          </a:xfrm>
          <a:prstGeom prst="rect">
            <a:avLst/>
          </a:prstGeom>
        </p:spPr>
        <p:txBody>
          <a:bodyPr wrap="square" lIns="0" tIns="0" rIns="0" bIns="0" rtlCol="0" anchor="t">
            <a:spAutoFit/>
          </a:bodyPr>
          <a:lstStyle/>
          <a:p>
            <a:pPr algn="ctr">
              <a:lnSpc>
                <a:spcPts val="26467"/>
              </a:lnSpc>
              <a:spcBef>
                <a:spcPct val="0"/>
              </a:spcBef>
            </a:pPr>
            <a:r>
              <a:rPr lang="en-US" sz="18905" dirty="0">
                <a:solidFill>
                  <a:srgbClr val="3D2500"/>
                </a:solidFill>
                <a:latin typeface="Catchy Mager"/>
                <a:ea typeface="Catchy Mager"/>
                <a:cs typeface="Catchy Mager"/>
                <a:sym typeface="Catchy Mager"/>
              </a:rPr>
              <a:t>1/4</a:t>
            </a:r>
          </a:p>
        </p:txBody>
      </p:sp>
      <p:sp>
        <p:nvSpPr>
          <p:cNvPr id="35" name="TextBox 35"/>
          <p:cNvSpPr txBox="1"/>
          <p:nvPr/>
        </p:nvSpPr>
        <p:spPr>
          <a:xfrm>
            <a:off x="1783013" y="5374883"/>
            <a:ext cx="5914552" cy="1317625"/>
          </a:xfrm>
          <a:prstGeom prst="rect">
            <a:avLst/>
          </a:prstGeom>
        </p:spPr>
        <p:txBody>
          <a:bodyPr lIns="0" tIns="0" rIns="0" bIns="0" rtlCol="0" anchor="t">
            <a:spAutoFit/>
          </a:bodyPr>
          <a:lstStyle/>
          <a:p>
            <a:pPr algn="l">
              <a:lnSpc>
                <a:spcPts val="3500"/>
              </a:lnSpc>
            </a:pPr>
            <a:r>
              <a:rPr lang="en-US" sz="2500" dirty="0">
                <a:solidFill>
                  <a:srgbClr val="000000"/>
                </a:solidFill>
                <a:latin typeface="Catchy Mager"/>
                <a:ea typeface="Catchy Mager"/>
                <a:cs typeface="Catchy Mager"/>
                <a:sym typeface="Catchy Mager"/>
              </a:rPr>
              <a:t>de </a:t>
            </a:r>
            <a:r>
              <a:rPr lang="en-US" sz="2500" dirty="0" err="1">
                <a:solidFill>
                  <a:srgbClr val="000000"/>
                </a:solidFill>
                <a:latin typeface="Catchy Mager"/>
                <a:ea typeface="Catchy Mager"/>
                <a:cs typeface="Catchy Mager"/>
                <a:sym typeface="Catchy Mager"/>
              </a:rPr>
              <a:t>los</a:t>
            </a:r>
            <a:r>
              <a:rPr lang="en-US" sz="2500" dirty="0">
                <a:solidFill>
                  <a:srgbClr val="000000"/>
                </a:solidFill>
                <a:latin typeface="Catchy Mager"/>
                <a:ea typeface="Catchy Mager"/>
                <a:cs typeface="Catchy Mager"/>
                <a:sym typeface="Catchy Mager"/>
              </a:rPr>
              <a:t> </a:t>
            </a:r>
            <a:r>
              <a:rPr lang="en-US" sz="2500" dirty="0" err="1">
                <a:solidFill>
                  <a:srgbClr val="000000"/>
                </a:solidFill>
                <a:latin typeface="Catchy Mager"/>
                <a:ea typeface="Catchy Mager"/>
                <a:cs typeface="Catchy Mager"/>
                <a:sym typeface="Catchy Mager"/>
              </a:rPr>
              <a:t>pacientes</a:t>
            </a:r>
            <a:r>
              <a:rPr lang="en-US" sz="2500" dirty="0">
                <a:solidFill>
                  <a:srgbClr val="000000"/>
                </a:solidFill>
                <a:latin typeface="Catchy Mager"/>
                <a:ea typeface="Catchy Mager"/>
                <a:cs typeface="Catchy Mager"/>
                <a:sym typeface="Catchy Mager"/>
              </a:rPr>
              <a:t> </a:t>
            </a:r>
            <a:r>
              <a:rPr lang="en-US" sz="2500" dirty="0" err="1">
                <a:solidFill>
                  <a:srgbClr val="000000"/>
                </a:solidFill>
                <a:latin typeface="Catchy Mager"/>
                <a:ea typeface="Catchy Mager"/>
                <a:cs typeface="Catchy Mager"/>
                <a:sym typeface="Catchy Mager"/>
              </a:rPr>
              <a:t>que</a:t>
            </a:r>
            <a:r>
              <a:rPr lang="en-US" sz="2500" dirty="0">
                <a:solidFill>
                  <a:srgbClr val="000000"/>
                </a:solidFill>
                <a:latin typeface="Catchy Mager"/>
                <a:ea typeface="Catchy Mager"/>
                <a:cs typeface="Catchy Mager"/>
                <a:sym typeface="Catchy Mager"/>
              </a:rPr>
              <a:t> </a:t>
            </a:r>
            <a:r>
              <a:rPr lang="en-US" sz="2500" dirty="0" err="1">
                <a:solidFill>
                  <a:srgbClr val="000000"/>
                </a:solidFill>
                <a:latin typeface="Catchy Mager"/>
                <a:ea typeface="Catchy Mager"/>
                <a:cs typeface="Catchy Mager"/>
                <a:sym typeface="Catchy Mager"/>
              </a:rPr>
              <a:t>llegan</a:t>
            </a:r>
            <a:r>
              <a:rPr lang="en-US" sz="2500" dirty="0">
                <a:solidFill>
                  <a:srgbClr val="000000"/>
                </a:solidFill>
                <a:latin typeface="Catchy Mager"/>
                <a:ea typeface="Catchy Mager"/>
                <a:cs typeface="Catchy Mager"/>
                <a:sym typeface="Catchy Mager"/>
              </a:rPr>
              <a:t> a </a:t>
            </a:r>
            <a:r>
              <a:rPr lang="en-US" sz="2500" dirty="0" err="1">
                <a:solidFill>
                  <a:srgbClr val="000000"/>
                </a:solidFill>
                <a:latin typeface="Catchy Mager"/>
                <a:ea typeface="Catchy Mager"/>
                <a:cs typeface="Catchy Mager"/>
                <a:sym typeface="Catchy Mager"/>
              </a:rPr>
              <a:t>emergencia</a:t>
            </a:r>
            <a:r>
              <a:rPr lang="en-US" sz="2500" dirty="0">
                <a:solidFill>
                  <a:srgbClr val="000000"/>
                </a:solidFill>
                <a:latin typeface="Catchy Mager"/>
                <a:ea typeface="Catchy Mager"/>
                <a:cs typeface="Catchy Mager"/>
                <a:sym typeface="Catchy Mager"/>
              </a:rPr>
              <a:t> con sepsis </a:t>
            </a:r>
            <a:r>
              <a:rPr lang="en-US" sz="2500" dirty="0" err="1">
                <a:solidFill>
                  <a:srgbClr val="000000"/>
                </a:solidFill>
                <a:latin typeface="Catchy Mager"/>
                <a:ea typeface="Catchy Mager"/>
                <a:cs typeface="Catchy Mager"/>
                <a:sym typeface="Catchy Mager"/>
              </a:rPr>
              <a:t>progresa</a:t>
            </a:r>
            <a:r>
              <a:rPr lang="en-US" sz="2500" dirty="0">
                <a:solidFill>
                  <a:srgbClr val="000000"/>
                </a:solidFill>
                <a:latin typeface="Catchy Mager"/>
                <a:ea typeface="Catchy Mager"/>
                <a:cs typeface="Catchy Mager"/>
                <a:sym typeface="Catchy Mager"/>
              </a:rPr>
              <a:t> a shock </a:t>
            </a:r>
            <a:r>
              <a:rPr lang="en-US" sz="2500" dirty="0" err="1">
                <a:solidFill>
                  <a:srgbClr val="000000"/>
                </a:solidFill>
                <a:latin typeface="Catchy Mager"/>
                <a:ea typeface="Catchy Mager"/>
                <a:cs typeface="Catchy Mager"/>
                <a:sym typeface="Catchy Mager"/>
              </a:rPr>
              <a:t>séptico</a:t>
            </a:r>
            <a:r>
              <a:rPr lang="en-US" sz="2500" dirty="0">
                <a:solidFill>
                  <a:srgbClr val="000000"/>
                </a:solidFill>
                <a:latin typeface="Catchy Mager"/>
                <a:ea typeface="Catchy Mager"/>
                <a:cs typeface="Catchy Mager"/>
                <a:sym typeface="Catchy Mager"/>
              </a:rPr>
              <a:t> </a:t>
            </a:r>
            <a:r>
              <a:rPr lang="en-US" sz="2500" dirty="0" err="1">
                <a:solidFill>
                  <a:srgbClr val="000000"/>
                </a:solidFill>
                <a:latin typeface="Catchy Mager"/>
                <a:ea typeface="Catchy Mager"/>
                <a:cs typeface="Catchy Mager"/>
                <a:sym typeface="Catchy Mager"/>
              </a:rPr>
              <a:t>dentro</a:t>
            </a:r>
            <a:r>
              <a:rPr lang="en-US" sz="2500" dirty="0">
                <a:solidFill>
                  <a:srgbClr val="000000"/>
                </a:solidFill>
                <a:latin typeface="Catchy Mager"/>
                <a:ea typeface="Catchy Mager"/>
                <a:cs typeface="Catchy Mager"/>
                <a:sym typeface="Catchy Mager"/>
              </a:rPr>
              <a:t> de las </a:t>
            </a:r>
            <a:r>
              <a:rPr lang="en-US" sz="2500" dirty="0" err="1">
                <a:solidFill>
                  <a:srgbClr val="000000"/>
                </a:solidFill>
                <a:latin typeface="Catchy Mager"/>
                <a:ea typeface="Catchy Mager"/>
                <a:cs typeface="Catchy Mager"/>
                <a:sym typeface="Catchy Mager"/>
              </a:rPr>
              <a:t>sigueinte</a:t>
            </a:r>
            <a:r>
              <a:rPr lang="en-US" sz="2500" dirty="0">
                <a:solidFill>
                  <a:srgbClr val="000000"/>
                </a:solidFill>
                <a:latin typeface="Catchy Mager"/>
                <a:ea typeface="Catchy Mager"/>
                <a:cs typeface="Catchy Mager"/>
                <a:sym typeface="Catchy Mager"/>
              </a:rPr>
              <a:t> 72 horas</a:t>
            </a:r>
          </a:p>
        </p:txBody>
      </p:sp>
      <p:sp>
        <p:nvSpPr>
          <p:cNvPr id="36" name="TextBox 36"/>
          <p:cNvSpPr txBox="1"/>
          <p:nvPr/>
        </p:nvSpPr>
        <p:spPr>
          <a:xfrm>
            <a:off x="1484311" y="7420128"/>
            <a:ext cx="2948345" cy="547539"/>
          </a:xfrm>
          <a:prstGeom prst="rect">
            <a:avLst/>
          </a:prstGeom>
        </p:spPr>
        <p:txBody>
          <a:bodyPr lIns="0" tIns="0" rIns="0" bIns="0" rtlCol="0" anchor="t">
            <a:spAutoFit/>
          </a:bodyPr>
          <a:lstStyle/>
          <a:p>
            <a:pPr algn="ctr">
              <a:lnSpc>
                <a:spcPts val="4470"/>
              </a:lnSpc>
              <a:spcBef>
                <a:spcPct val="0"/>
              </a:spcBef>
            </a:pPr>
            <a:r>
              <a:rPr lang="en-US" sz="3193" dirty="0" err="1">
                <a:solidFill>
                  <a:srgbClr val="000000"/>
                </a:solidFill>
                <a:latin typeface="Catchy Mager"/>
                <a:ea typeface="Catchy Mager"/>
                <a:cs typeface="Catchy Mager"/>
                <a:sym typeface="Catchy Mager"/>
              </a:rPr>
              <a:t>Problema</a:t>
            </a:r>
            <a:r>
              <a:rPr lang="en-US" sz="3193" dirty="0">
                <a:solidFill>
                  <a:srgbClr val="000000"/>
                </a:solidFill>
                <a:latin typeface="Catchy Mager"/>
                <a:ea typeface="Catchy Mager"/>
                <a:cs typeface="Catchy Mager"/>
                <a:sym typeface="Catchy Mager"/>
              </a:rPr>
              <a:t> central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111" b="-14111"/>
            </a:stretch>
          </a:blipFill>
        </p:spPr>
      </p:sp>
      <p:sp>
        <p:nvSpPr>
          <p:cNvPr id="3" name="TextBox 3"/>
          <p:cNvSpPr txBox="1"/>
          <p:nvPr/>
        </p:nvSpPr>
        <p:spPr>
          <a:xfrm>
            <a:off x="4767738" y="3705124"/>
            <a:ext cx="13520262" cy="1872602"/>
          </a:xfrm>
          <a:prstGeom prst="rect">
            <a:avLst/>
          </a:prstGeom>
        </p:spPr>
        <p:txBody>
          <a:bodyPr lIns="0" tIns="0" rIns="0" bIns="0" rtlCol="0" anchor="t">
            <a:spAutoFit/>
          </a:bodyPr>
          <a:lstStyle/>
          <a:p>
            <a:pPr marL="0" lvl="0" indent="0" algn="l">
              <a:lnSpc>
                <a:spcPts val="15394"/>
              </a:lnSpc>
              <a:spcBef>
                <a:spcPct val="0"/>
              </a:spcBef>
            </a:pPr>
            <a:r>
              <a:rPr lang="en-US" sz="10995" spc="373">
                <a:solidFill>
                  <a:srgbClr val="000000"/>
                </a:solidFill>
                <a:latin typeface="Eyesome Script"/>
                <a:ea typeface="Eyesome Script"/>
                <a:cs typeface="Eyesome Script"/>
                <a:sym typeface="Eyesome Script"/>
              </a:rPr>
              <a:t>Estado del arte</a:t>
            </a:r>
          </a:p>
        </p:txBody>
      </p:sp>
      <p:grpSp>
        <p:nvGrpSpPr>
          <p:cNvPr id="4" name="Group 4"/>
          <p:cNvGrpSpPr/>
          <p:nvPr/>
        </p:nvGrpSpPr>
        <p:grpSpPr>
          <a:xfrm>
            <a:off x="852035" y="3965060"/>
            <a:ext cx="353329" cy="1552755"/>
            <a:chOff x="0" y="0"/>
            <a:chExt cx="471106" cy="2070340"/>
          </a:xfrm>
        </p:grpSpPr>
        <p:grpSp>
          <p:nvGrpSpPr>
            <p:cNvPr id="5" name="Group 5"/>
            <p:cNvGrpSpPr/>
            <p:nvPr/>
          </p:nvGrpSpPr>
          <p:grpSpPr>
            <a:xfrm>
              <a:off x="0" y="0"/>
              <a:ext cx="471106" cy="475110"/>
              <a:chOff x="0" y="0"/>
              <a:chExt cx="685800" cy="693420"/>
            </a:xfrm>
          </p:grpSpPr>
          <p:sp>
            <p:nvSpPr>
              <p:cNvPr id="6" name="Freeform 6"/>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7" name="TextBox 7"/>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8" name="Group 8"/>
            <p:cNvGrpSpPr/>
            <p:nvPr/>
          </p:nvGrpSpPr>
          <p:grpSpPr>
            <a:xfrm>
              <a:off x="0" y="797615"/>
              <a:ext cx="471106" cy="475110"/>
              <a:chOff x="0" y="0"/>
              <a:chExt cx="685800" cy="693420"/>
            </a:xfrm>
          </p:grpSpPr>
          <p:sp>
            <p:nvSpPr>
              <p:cNvPr id="9" name="Freeform 9"/>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0" name="TextBox 10"/>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11" name="Group 11"/>
            <p:cNvGrpSpPr/>
            <p:nvPr/>
          </p:nvGrpSpPr>
          <p:grpSpPr>
            <a:xfrm>
              <a:off x="0" y="1595230"/>
              <a:ext cx="471106" cy="475110"/>
              <a:chOff x="0" y="0"/>
              <a:chExt cx="685800" cy="693420"/>
            </a:xfrm>
          </p:grpSpPr>
          <p:sp>
            <p:nvSpPr>
              <p:cNvPr id="12" name="Freeform 12"/>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3" name="TextBox 13"/>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sp>
        <p:nvSpPr>
          <p:cNvPr id="2" name="Freeform 2"/>
          <p:cNvSpPr/>
          <p:nvPr/>
        </p:nvSpPr>
        <p:spPr>
          <a:xfrm>
            <a:off x="9291072" y="1297304"/>
            <a:ext cx="8132136" cy="8158798"/>
          </a:xfrm>
          <a:custGeom>
            <a:avLst/>
            <a:gdLst/>
            <a:ahLst/>
            <a:cxnLst/>
            <a:rect l="l" t="t" r="r" b="b"/>
            <a:pathLst>
              <a:path w="8132136" h="8158798">
                <a:moveTo>
                  <a:pt x="0" y="0"/>
                </a:moveTo>
                <a:lnTo>
                  <a:pt x="8132136" y="0"/>
                </a:lnTo>
                <a:lnTo>
                  <a:pt x="8132136" y="8158798"/>
                </a:lnTo>
                <a:lnTo>
                  <a:pt x="0" y="8158798"/>
                </a:lnTo>
                <a:lnTo>
                  <a:pt x="0" y="0"/>
                </a:lnTo>
                <a:close/>
              </a:path>
            </a:pathLst>
          </a:custGeom>
          <a:blipFill>
            <a:blip r:embed="rId2"/>
            <a:stretch>
              <a:fillRect/>
            </a:stretch>
          </a:blipFill>
          <a:ln w="38100" cap="sq">
            <a:solidFill>
              <a:srgbClr val="000000"/>
            </a:solidFill>
            <a:prstDash val="solid"/>
            <a:miter/>
          </a:ln>
        </p:spPr>
      </p:sp>
      <p:sp>
        <p:nvSpPr>
          <p:cNvPr id="3" name="Freeform 3"/>
          <p:cNvSpPr/>
          <p:nvPr/>
        </p:nvSpPr>
        <p:spPr>
          <a:xfrm>
            <a:off x="1208472" y="4426423"/>
            <a:ext cx="6887666" cy="5108929"/>
          </a:xfrm>
          <a:custGeom>
            <a:avLst/>
            <a:gdLst/>
            <a:ahLst/>
            <a:cxnLst/>
            <a:rect l="l" t="t" r="r" b="b"/>
            <a:pathLst>
              <a:path w="6887666" h="5108929">
                <a:moveTo>
                  <a:pt x="0" y="0"/>
                </a:moveTo>
                <a:lnTo>
                  <a:pt x="6887665" y="0"/>
                </a:lnTo>
                <a:lnTo>
                  <a:pt x="6887665" y="5108929"/>
                </a:lnTo>
                <a:lnTo>
                  <a:pt x="0" y="5108929"/>
                </a:lnTo>
                <a:lnTo>
                  <a:pt x="0" y="0"/>
                </a:lnTo>
                <a:close/>
              </a:path>
            </a:pathLst>
          </a:custGeom>
          <a:blipFill>
            <a:blip r:embed="rId3"/>
            <a:stretch>
              <a:fillRect/>
            </a:stretch>
          </a:blipFill>
          <a:ln w="38100" cap="sq">
            <a:solidFill>
              <a:srgbClr val="000000"/>
            </a:solidFill>
            <a:prstDash val="solid"/>
            <a:miter/>
          </a:ln>
        </p:spPr>
      </p:sp>
      <p:sp>
        <p:nvSpPr>
          <p:cNvPr id="4" name="TextBox 4"/>
          <p:cNvSpPr txBox="1"/>
          <p:nvPr/>
        </p:nvSpPr>
        <p:spPr>
          <a:xfrm>
            <a:off x="429638" y="169544"/>
            <a:ext cx="8115300"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Artículos académicos</a:t>
            </a:r>
          </a:p>
        </p:txBody>
      </p:sp>
      <p:grpSp>
        <p:nvGrpSpPr>
          <p:cNvPr id="5" name="Group 5"/>
          <p:cNvGrpSpPr/>
          <p:nvPr/>
        </p:nvGrpSpPr>
        <p:grpSpPr>
          <a:xfrm>
            <a:off x="694065" y="1812135"/>
            <a:ext cx="8151660" cy="2078987"/>
            <a:chOff x="0" y="0"/>
            <a:chExt cx="2146939" cy="547552"/>
          </a:xfrm>
        </p:grpSpPr>
        <p:sp>
          <p:nvSpPr>
            <p:cNvPr id="6" name="Freeform 6"/>
            <p:cNvSpPr/>
            <p:nvPr/>
          </p:nvSpPr>
          <p:spPr>
            <a:xfrm>
              <a:off x="0" y="0"/>
              <a:ext cx="2146939" cy="547552"/>
            </a:xfrm>
            <a:custGeom>
              <a:avLst/>
              <a:gdLst/>
              <a:ahLst/>
              <a:cxnLst/>
              <a:rect l="l" t="t" r="r" b="b"/>
              <a:pathLst>
                <a:path w="2146939" h="547552">
                  <a:moveTo>
                    <a:pt x="48437" y="0"/>
                  </a:moveTo>
                  <a:lnTo>
                    <a:pt x="2098503" y="0"/>
                  </a:lnTo>
                  <a:cubicBezTo>
                    <a:pt x="2111349" y="0"/>
                    <a:pt x="2123669" y="5103"/>
                    <a:pt x="2132752" y="14187"/>
                  </a:cubicBezTo>
                  <a:cubicBezTo>
                    <a:pt x="2141836" y="23270"/>
                    <a:pt x="2146939" y="35590"/>
                    <a:pt x="2146939" y="48437"/>
                  </a:cubicBezTo>
                  <a:lnTo>
                    <a:pt x="2146939" y="499116"/>
                  </a:lnTo>
                  <a:cubicBezTo>
                    <a:pt x="2146939" y="525866"/>
                    <a:pt x="2125253" y="547552"/>
                    <a:pt x="2098503" y="547552"/>
                  </a:cubicBezTo>
                  <a:lnTo>
                    <a:pt x="48437" y="547552"/>
                  </a:lnTo>
                  <a:cubicBezTo>
                    <a:pt x="21686" y="547552"/>
                    <a:pt x="0" y="525866"/>
                    <a:pt x="0" y="499116"/>
                  </a:cubicBezTo>
                  <a:lnTo>
                    <a:pt x="0" y="48437"/>
                  </a:lnTo>
                  <a:cubicBezTo>
                    <a:pt x="0" y="21686"/>
                    <a:pt x="21686" y="0"/>
                    <a:pt x="48437" y="0"/>
                  </a:cubicBezTo>
                  <a:close/>
                </a:path>
              </a:pathLst>
            </a:custGeom>
            <a:solidFill>
              <a:srgbClr val="F0E9DF"/>
            </a:solidFill>
          </p:spPr>
        </p:sp>
        <p:sp>
          <p:nvSpPr>
            <p:cNvPr id="7" name="TextBox 7"/>
            <p:cNvSpPr txBox="1"/>
            <p:nvPr/>
          </p:nvSpPr>
          <p:spPr>
            <a:xfrm>
              <a:off x="0" y="-47625"/>
              <a:ext cx="2146939" cy="595177"/>
            </a:xfrm>
            <a:prstGeom prst="rect">
              <a:avLst/>
            </a:prstGeom>
          </p:spPr>
          <p:txBody>
            <a:bodyPr lIns="50800" tIns="50800" rIns="50800" bIns="50800" rtlCol="0" anchor="ctr"/>
            <a:lstStyle/>
            <a:p>
              <a:pPr algn="ctr">
                <a:lnSpc>
                  <a:spcPts val="2090"/>
                </a:lnSpc>
              </a:pPr>
              <a:endParaRPr/>
            </a:p>
          </p:txBody>
        </p:sp>
      </p:grpSp>
      <p:sp>
        <p:nvSpPr>
          <p:cNvPr id="8" name="TextBox 8"/>
          <p:cNvSpPr txBox="1"/>
          <p:nvPr/>
        </p:nvSpPr>
        <p:spPr>
          <a:xfrm>
            <a:off x="684540" y="1920713"/>
            <a:ext cx="7935528" cy="2286635"/>
          </a:xfrm>
          <a:prstGeom prst="rect">
            <a:avLst/>
          </a:prstGeom>
        </p:spPr>
        <p:txBody>
          <a:bodyPr lIns="0" tIns="0" rIns="0" bIns="0" rtlCol="0" anchor="t">
            <a:spAutoFit/>
          </a:bodyPr>
          <a:lstStyle/>
          <a:p>
            <a:pPr algn="ctr">
              <a:lnSpc>
                <a:spcPts val="3640"/>
              </a:lnSpc>
              <a:spcBef>
                <a:spcPct val="0"/>
              </a:spcBef>
            </a:pPr>
            <a:r>
              <a:rPr lang="en-US" sz="2600" spc="88">
                <a:solidFill>
                  <a:srgbClr val="000000"/>
                </a:solidFill>
                <a:latin typeface="Catchy Mager"/>
                <a:ea typeface="Catchy Mager"/>
                <a:cs typeface="Catchy Mager"/>
                <a:sym typeface="Catchy Mager"/>
              </a:rPr>
              <a:t>Predicción mediante señales fisiológicas: Parsimonious waveform-derived features consisting of pulse arrival time and heart rate variability predicts the onset of septic shock</a:t>
            </a:r>
          </a:p>
          <a:p>
            <a:pPr algn="ctr">
              <a:lnSpc>
                <a:spcPts val="3640"/>
              </a:lnSpc>
              <a:spcBef>
                <a:spcPct val="0"/>
              </a:spcBef>
            </a:pPr>
            <a:r>
              <a:rPr lang="en-US" sz="2600" spc="88">
                <a:solidFill>
                  <a:srgbClr val="000000"/>
                </a:solidFill>
                <a:latin typeface="Catchy Mager"/>
                <a:ea typeface="Catchy Mager"/>
                <a:cs typeface="Catchy Mager"/>
                <a:sym typeface="Catchy Mager"/>
              </a:rPr>
              <a:t>  </a:t>
            </a:r>
          </a:p>
        </p:txBody>
      </p:sp>
      <p:sp>
        <p:nvSpPr>
          <p:cNvPr id="9" name="TextBox 9"/>
          <p:cNvSpPr txBox="1"/>
          <p:nvPr/>
        </p:nvSpPr>
        <p:spPr>
          <a:xfrm>
            <a:off x="10493599" y="9487727"/>
            <a:ext cx="6413897" cy="266867"/>
          </a:xfrm>
          <a:prstGeom prst="rect">
            <a:avLst/>
          </a:prstGeom>
        </p:spPr>
        <p:txBody>
          <a:bodyPr lIns="0" tIns="0" rIns="0" bIns="0" rtlCol="0" anchor="t">
            <a:spAutoFit/>
          </a:bodyPr>
          <a:lstStyle/>
          <a:p>
            <a:pPr algn="ctr">
              <a:lnSpc>
                <a:spcPts val="2090"/>
              </a:lnSpc>
              <a:spcBef>
                <a:spcPct val="0"/>
              </a:spcBef>
            </a:pPr>
            <a:r>
              <a:rPr lang="en-US" sz="1493">
                <a:solidFill>
                  <a:srgbClr val="000000"/>
                </a:solidFill>
                <a:latin typeface="Catchy Mager"/>
                <a:ea typeface="Catchy Mager"/>
                <a:cs typeface="Catchy Mager"/>
                <a:sym typeface="Catchy Mager"/>
              </a:rPr>
              <a:t>Figura 2. Extracción de variables fisiológicas a partir de señales ECG, PPG y ABP.</a:t>
            </a:r>
          </a:p>
        </p:txBody>
      </p:sp>
      <p:sp>
        <p:nvSpPr>
          <p:cNvPr id="10" name="TextBox 10"/>
          <p:cNvSpPr txBox="1"/>
          <p:nvPr/>
        </p:nvSpPr>
        <p:spPr>
          <a:xfrm>
            <a:off x="1016433" y="9706969"/>
            <a:ext cx="7271742" cy="266867"/>
          </a:xfrm>
          <a:prstGeom prst="rect">
            <a:avLst/>
          </a:prstGeom>
        </p:spPr>
        <p:txBody>
          <a:bodyPr lIns="0" tIns="0" rIns="0" bIns="0" rtlCol="0" anchor="t">
            <a:spAutoFit/>
          </a:bodyPr>
          <a:lstStyle/>
          <a:p>
            <a:pPr algn="ctr">
              <a:lnSpc>
                <a:spcPts val="2090"/>
              </a:lnSpc>
              <a:spcBef>
                <a:spcPct val="0"/>
              </a:spcBef>
            </a:pPr>
            <a:r>
              <a:rPr lang="en-US" sz="1493">
                <a:solidFill>
                  <a:srgbClr val="000000"/>
                </a:solidFill>
                <a:latin typeface="Catchy Mager"/>
                <a:ea typeface="Catchy Mager"/>
                <a:cs typeface="Catchy Mager"/>
                <a:sym typeface="Catchy Mager"/>
              </a:rPr>
              <a:t>Figura 1. Desempeño predictivo e importancia de las variables en los modelos LR y XGBoost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sp>
        <p:nvSpPr>
          <p:cNvPr id="2" name="Freeform 2"/>
          <p:cNvSpPr/>
          <p:nvPr/>
        </p:nvSpPr>
        <p:spPr>
          <a:xfrm>
            <a:off x="603527" y="4156291"/>
            <a:ext cx="10124858" cy="5655955"/>
          </a:xfrm>
          <a:custGeom>
            <a:avLst/>
            <a:gdLst/>
            <a:ahLst/>
            <a:cxnLst/>
            <a:rect l="l" t="t" r="r" b="b"/>
            <a:pathLst>
              <a:path w="10124858" h="5655955">
                <a:moveTo>
                  <a:pt x="0" y="0"/>
                </a:moveTo>
                <a:lnTo>
                  <a:pt x="10124858" y="0"/>
                </a:lnTo>
                <a:lnTo>
                  <a:pt x="10124858" y="5655956"/>
                </a:lnTo>
                <a:lnTo>
                  <a:pt x="0" y="5655956"/>
                </a:lnTo>
                <a:lnTo>
                  <a:pt x="0" y="0"/>
                </a:lnTo>
                <a:close/>
              </a:path>
            </a:pathLst>
          </a:custGeom>
          <a:blipFill>
            <a:blip r:embed="rId2"/>
            <a:stretch>
              <a:fillRect/>
            </a:stretch>
          </a:blipFill>
          <a:ln w="38100" cap="sq">
            <a:solidFill>
              <a:srgbClr val="000000"/>
            </a:solidFill>
            <a:prstDash val="solid"/>
            <a:miter/>
          </a:ln>
        </p:spPr>
      </p:sp>
      <p:sp>
        <p:nvSpPr>
          <p:cNvPr id="3" name="Freeform 3"/>
          <p:cNvSpPr/>
          <p:nvPr/>
        </p:nvSpPr>
        <p:spPr>
          <a:xfrm>
            <a:off x="11778095" y="521820"/>
            <a:ext cx="4954368" cy="4016409"/>
          </a:xfrm>
          <a:custGeom>
            <a:avLst/>
            <a:gdLst/>
            <a:ahLst/>
            <a:cxnLst/>
            <a:rect l="l" t="t" r="r" b="b"/>
            <a:pathLst>
              <a:path w="4954368" h="4016409">
                <a:moveTo>
                  <a:pt x="0" y="0"/>
                </a:moveTo>
                <a:lnTo>
                  <a:pt x="4954369" y="0"/>
                </a:lnTo>
                <a:lnTo>
                  <a:pt x="4954369" y="4016410"/>
                </a:lnTo>
                <a:lnTo>
                  <a:pt x="0" y="4016410"/>
                </a:lnTo>
                <a:lnTo>
                  <a:pt x="0" y="0"/>
                </a:lnTo>
                <a:close/>
              </a:path>
            </a:pathLst>
          </a:custGeom>
          <a:blipFill>
            <a:blip r:embed="rId3"/>
            <a:stretch>
              <a:fillRect r="-97920"/>
            </a:stretch>
          </a:blipFill>
          <a:ln w="38100" cap="sq">
            <a:solidFill>
              <a:srgbClr val="000000"/>
            </a:solidFill>
            <a:prstDash val="solid"/>
            <a:miter/>
          </a:ln>
        </p:spPr>
      </p:sp>
      <p:sp>
        <p:nvSpPr>
          <p:cNvPr id="4" name="Freeform 4"/>
          <p:cNvSpPr/>
          <p:nvPr/>
        </p:nvSpPr>
        <p:spPr>
          <a:xfrm>
            <a:off x="11778095" y="5347339"/>
            <a:ext cx="4888816" cy="4016409"/>
          </a:xfrm>
          <a:custGeom>
            <a:avLst/>
            <a:gdLst/>
            <a:ahLst/>
            <a:cxnLst/>
            <a:rect l="l" t="t" r="r" b="b"/>
            <a:pathLst>
              <a:path w="4888816" h="4016409">
                <a:moveTo>
                  <a:pt x="0" y="0"/>
                </a:moveTo>
                <a:lnTo>
                  <a:pt x="4888817" y="0"/>
                </a:lnTo>
                <a:lnTo>
                  <a:pt x="4888817" y="4016409"/>
                </a:lnTo>
                <a:lnTo>
                  <a:pt x="0" y="4016409"/>
                </a:lnTo>
                <a:lnTo>
                  <a:pt x="0" y="0"/>
                </a:lnTo>
                <a:close/>
              </a:path>
            </a:pathLst>
          </a:custGeom>
          <a:blipFill>
            <a:blip r:embed="rId3"/>
            <a:stretch>
              <a:fillRect l="-100574"/>
            </a:stretch>
          </a:blipFill>
          <a:ln w="38100" cap="sq">
            <a:solidFill>
              <a:srgbClr val="000000"/>
            </a:solidFill>
            <a:prstDash val="solid"/>
            <a:miter/>
          </a:ln>
        </p:spPr>
      </p:sp>
      <p:sp>
        <p:nvSpPr>
          <p:cNvPr id="5" name="TextBox 5"/>
          <p:cNvSpPr txBox="1"/>
          <p:nvPr/>
        </p:nvSpPr>
        <p:spPr>
          <a:xfrm>
            <a:off x="429638" y="169544"/>
            <a:ext cx="8115300"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Artículos académicos</a:t>
            </a:r>
          </a:p>
        </p:txBody>
      </p:sp>
      <p:grpSp>
        <p:nvGrpSpPr>
          <p:cNvPr id="6" name="Group 6"/>
          <p:cNvGrpSpPr/>
          <p:nvPr/>
        </p:nvGrpSpPr>
        <p:grpSpPr>
          <a:xfrm>
            <a:off x="603527" y="1856106"/>
            <a:ext cx="10124858" cy="1959654"/>
            <a:chOff x="0" y="0"/>
            <a:chExt cx="2666629" cy="516123"/>
          </a:xfrm>
        </p:grpSpPr>
        <p:sp>
          <p:nvSpPr>
            <p:cNvPr id="7" name="Freeform 7"/>
            <p:cNvSpPr/>
            <p:nvPr/>
          </p:nvSpPr>
          <p:spPr>
            <a:xfrm>
              <a:off x="0" y="0"/>
              <a:ext cx="2666629" cy="516123"/>
            </a:xfrm>
            <a:custGeom>
              <a:avLst/>
              <a:gdLst/>
              <a:ahLst/>
              <a:cxnLst/>
              <a:rect l="l" t="t" r="r" b="b"/>
              <a:pathLst>
                <a:path w="2666629" h="516123">
                  <a:moveTo>
                    <a:pt x="38997" y="0"/>
                  </a:moveTo>
                  <a:lnTo>
                    <a:pt x="2627632" y="0"/>
                  </a:lnTo>
                  <a:cubicBezTo>
                    <a:pt x="2637975" y="0"/>
                    <a:pt x="2647894" y="4109"/>
                    <a:pt x="2655207" y="11422"/>
                  </a:cubicBezTo>
                  <a:cubicBezTo>
                    <a:pt x="2662521" y="18735"/>
                    <a:pt x="2666629" y="28654"/>
                    <a:pt x="2666629" y="38997"/>
                  </a:cubicBezTo>
                  <a:lnTo>
                    <a:pt x="2666629" y="477126"/>
                  </a:lnTo>
                  <a:cubicBezTo>
                    <a:pt x="2666629" y="498664"/>
                    <a:pt x="2649170" y="516123"/>
                    <a:pt x="2627632" y="516123"/>
                  </a:cubicBezTo>
                  <a:lnTo>
                    <a:pt x="38997" y="516123"/>
                  </a:lnTo>
                  <a:cubicBezTo>
                    <a:pt x="17459" y="516123"/>
                    <a:pt x="0" y="498664"/>
                    <a:pt x="0" y="477126"/>
                  </a:cubicBezTo>
                  <a:lnTo>
                    <a:pt x="0" y="38997"/>
                  </a:lnTo>
                  <a:cubicBezTo>
                    <a:pt x="0" y="17459"/>
                    <a:pt x="17459" y="0"/>
                    <a:pt x="38997" y="0"/>
                  </a:cubicBezTo>
                  <a:close/>
                </a:path>
              </a:pathLst>
            </a:custGeom>
            <a:solidFill>
              <a:srgbClr val="F0E9DF"/>
            </a:solidFill>
          </p:spPr>
        </p:sp>
        <p:sp>
          <p:nvSpPr>
            <p:cNvPr id="8" name="TextBox 8"/>
            <p:cNvSpPr txBox="1"/>
            <p:nvPr/>
          </p:nvSpPr>
          <p:spPr>
            <a:xfrm>
              <a:off x="0" y="-47625"/>
              <a:ext cx="2666629" cy="563748"/>
            </a:xfrm>
            <a:prstGeom prst="rect">
              <a:avLst/>
            </a:prstGeom>
          </p:spPr>
          <p:txBody>
            <a:bodyPr lIns="50800" tIns="50800" rIns="50800" bIns="50800" rtlCol="0" anchor="ctr"/>
            <a:lstStyle/>
            <a:p>
              <a:pPr algn="ctr">
                <a:lnSpc>
                  <a:spcPts val="2090"/>
                </a:lnSpc>
              </a:pPr>
              <a:endParaRPr/>
            </a:p>
          </p:txBody>
        </p:sp>
      </p:grpSp>
      <p:sp>
        <p:nvSpPr>
          <p:cNvPr id="9" name="TextBox 9"/>
          <p:cNvSpPr txBox="1"/>
          <p:nvPr/>
        </p:nvSpPr>
        <p:spPr>
          <a:xfrm>
            <a:off x="146309" y="2033564"/>
            <a:ext cx="10441584" cy="2286635"/>
          </a:xfrm>
          <a:prstGeom prst="rect">
            <a:avLst/>
          </a:prstGeom>
        </p:spPr>
        <p:txBody>
          <a:bodyPr lIns="0" tIns="0" rIns="0" bIns="0" rtlCol="0" anchor="t">
            <a:spAutoFit/>
          </a:bodyPr>
          <a:lstStyle/>
          <a:p>
            <a:pPr algn="ctr">
              <a:lnSpc>
                <a:spcPts val="3640"/>
              </a:lnSpc>
              <a:spcBef>
                <a:spcPct val="0"/>
              </a:spcBef>
            </a:pPr>
            <a:r>
              <a:rPr lang="en-US" sz="2600" spc="88">
                <a:solidFill>
                  <a:srgbClr val="000000"/>
                </a:solidFill>
                <a:latin typeface="Catchy Mager"/>
                <a:ea typeface="Catchy Mager"/>
                <a:cs typeface="Catchy Mager"/>
                <a:sym typeface="Catchy Mager"/>
              </a:rPr>
              <a:t>Advantage of Vital Sign Monitoring Using a Wireless Wearable Device for   </a:t>
            </a:r>
          </a:p>
          <a:p>
            <a:pPr algn="ctr">
              <a:lnSpc>
                <a:spcPts val="3640"/>
              </a:lnSpc>
              <a:spcBef>
                <a:spcPct val="0"/>
              </a:spcBef>
            </a:pPr>
            <a:r>
              <a:rPr lang="en-US" sz="2600" spc="88">
                <a:solidFill>
                  <a:srgbClr val="000000"/>
                </a:solidFill>
                <a:latin typeface="Catchy Mager"/>
                <a:ea typeface="Catchy Mager"/>
                <a:cs typeface="Catchy Mager"/>
                <a:sym typeface="Catchy Mager"/>
              </a:rPr>
              <a:t>Predicting Septic Shock in Febrile Patients in the Emergency Department: A Machine    Learning-Based Analysis</a:t>
            </a:r>
          </a:p>
          <a:p>
            <a:pPr algn="ctr">
              <a:lnSpc>
                <a:spcPts val="3640"/>
              </a:lnSpc>
              <a:spcBef>
                <a:spcPct val="0"/>
              </a:spcBef>
            </a:pPr>
            <a:endParaRPr lang="en-US" sz="2600" spc="88">
              <a:solidFill>
                <a:srgbClr val="000000"/>
              </a:solidFill>
              <a:latin typeface="Catchy Mager"/>
              <a:ea typeface="Catchy Mager"/>
              <a:cs typeface="Catchy Mager"/>
              <a:sym typeface="Catchy Mager"/>
            </a:endParaRPr>
          </a:p>
        </p:txBody>
      </p:sp>
      <p:sp>
        <p:nvSpPr>
          <p:cNvPr id="10" name="TextBox 10"/>
          <p:cNvSpPr txBox="1"/>
          <p:nvPr/>
        </p:nvSpPr>
        <p:spPr>
          <a:xfrm>
            <a:off x="1623308" y="9873573"/>
            <a:ext cx="8085297" cy="266867"/>
          </a:xfrm>
          <a:prstGeom prst="rect">
            <a:avLst/>
          </a:prstGeom>
        </p:spPr>
        <p:txBody>
          <a:bodyPr lIns="0" tIns="0" rIns="0" bIns="0" rtlCol="0" anchor="t">
            <a:spAutoFit/>
          </a:bodyPr>
          <a:lstStyle/>
          <a:p>
            <a:pPr algn="ctr">
              <a:lnSpc>
                <a:spcPts val="2090"/>
              </a:lnSpc>
              <a:spcBef>
                <a:spcPct val="0"/>
              </a:spcBef>
            </a:pPr>
            <a:r>
              <a:rPr lang="en-US" sz="1493">
                <a:solidFill>
                  <a:srgbClr val="000000"/>
                </a:solidFill>
                <a:latin typeface="Catchy Mager"/>
                <a:ea typeface="Catchy Mager"/>
                <a:cs typeface="Catchy Mager"/>
                <a:sym typeface="Catchy Mager"/>
              </a:rPr>
              <a:t>Figura 3. Arquitectura del modelo predictivo basado en signos vitales manuales y señales del wearable.</a:t>
            </a:r>
          </a:p>
        </p:txBody>
      </p:sp>
      <p:sp>
        <p:nvSpPr>
          <p:cNvPr id="11" name="TextBox 11"/>
          <p:cNvSpPr txBox="1"/>
          <p:nvPr/>
        </p:nvSpPr>
        <p:spPr>
          <a:xfrm>
            <a:off x="11394119" y="4656950"/>
            <a:ext cx="5338345" cy="524042"/>
          </a:xfrm>
          <a:prstGeom prst="rect">
            <a:avLst/>
          </a:prstGeom>
        </p:spPr>
        <p:txBody>
          <a:bodyPr lIns="0" tIns="0" rIns="0" bIns="0" rtlCol="0" anchor="t">
            <a:spAutoFit/>
          </a:bodyPr>
          <a:lstStyle/>
          <a:p>
            <a:pPr algn="ctr">
              <a:lnSpc>
                <a:spcPts val="2090"/>
              </a:lnSpc>
              <a:spcBef>
                <a:spcPct val="0"/>
              </a:spcBef>
            </a:pPr>
            <a:r>
              <a:rPr lang="en-US" sz="1493">
                <a:solidFill>
                  <a:srgbClr val="000000"/>
                </a:solidFill>
                <a:latin typeface="Catchy Mager"/>
                <a:ea typeface="Catchy Mager"/>
                <a:cs typeface="Catchy Mager"/>
                <a:sym typeface="Catchy Mager"/>
              </a:rPr>
              <a:t>Figura 4. Concordancia entre la frecuencia cardíaca obtenida mediante el wearable y la medición manual.</a:t>
            </a:r>
          </a:p>
        </p:txBody>
      </p:sp>
      <p:sp>
        <p:nvSpPr>
          <p:cNvPr id="12" name="TextBox 12"/>
          <p:cNvSpPr txBox="1"/>
          <p:nvPr/>
        </p:nvSpPr>
        <p:spPr>
          <a:xfrm>
            <a:off x="11594589" y="9397156"/>
            <a:ext cx="5562005" cy="524042"/>
          </a:xfrm>
          <a:prstGeom prst="rect">
            <a:avLst/>
          </a:prstGeom>
        </p:spPr>
        <p:txBody>
          <a:bodyPr lIns="0" tIns="0" rIns="0" bIns="0" rtlCol="0" anchor="t">
            <a:spAutoFit/>
          </a:bodyPr>
          <a:lstStyle/>
          <a:p>
            <a:pPr algn="ctr">
              <a:lnSpc>
                <a:spcPts val="2090"/>
              </a:lnSpc>
              <a:spcBef>
                <a:spcPct val="0"/>
              </a:spcBef>
            </a:pPr>
            <a:r>
              <a:rPr lang="en-US" sz="1493">
                <a:solidFill>
                  <a:srgbClr val="000000"/>
                </a:solidFill>
                <a:latin typeface="Catchy Mager"/>
                <a:ea typeface="Catchy Mager"/>
                <a:cs typeface="Catchy Mager"/>
                <a:sym typeface="Catchy Mager"/>
              </a:rPr>
              <a:t>Figura 5. Concordancia entre la frecuencia respiratoria obtenida mediante el wearable y la medición manual.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sp>
        <p:nvSpPr>
          <p:cNvPr id="2" name="Freeform 2"/>
          <p:cNvSpPr/>
          <p:nvPr/>
        </p:nvSpPr>
        <p:spPr>
          <a:xfrm>
            <a:off x="766975" y="4034575"/>
            <a:ext cx="10205102" cy="4559960"/>
          </a:xfrm>
          <a:custGeom>
            <a:avLst/>
            <a:gdLst/>
            <a:ahLst/>
            <a:cxnLst/>
            <a:rect l="l" t="t" r="r" b="b"/>
            <a:pathLst>
              <a:path w="10205102" h="4559960">
                <a:moveTo>
                  <a:pt x="0" y="0"/>
                </a:moveTo>
                <a:lnTo>
                  <a:pt x="10205101" y="0"/>
                </a:lnTo>
                <a:lnTo>
                  <a:pt x="10205101" y="4559960"/>
                </a:lnTo>
                <a:lnTo>
                  <a:pt x="0" y="4559960"/>
                </a:lnTo>
                <a:lnTo>
                  <a:pt x="0" y="0"/>
                </a:lnTo>
                <a:close/>
              </a:path>
            </a:pathLst>
          </a:custGeom>
          <a:blipFill>
            <a:blip r:embed="rId2"/>
            <a:stretch>
              <a:fillRect/>
            </a:stretch>
          </a:blipFill>
          <a:ln w="38100" cap="sq">
            <a:solidFill>
              <a:srgbClr val="000000"/>
            </a:solidFill>
            <a:prstDash val="solid"/>
            <a:miter/>
          </a:ln>
        </p:spPr>
      </p:sp>
      <p:sp>
        <p:nvSpPr>
          <p:cNvPr id="3" name="Freeform 3"/>
          <p:cNvSpPr/>
          <p:nvPr/>
        </p:nvSpPr>
        <p:spPr>
          <a:xfrm>
            <a:off x="11737086" y="4034575"/>
            <a:ext cx="5910600" cy="4252826"/>
          </a:xfrm>
          <a:custGeom>
            <a:avLst/>
            <a:gdLst/>
            <a:ahLst/>
            <a:cxnLst/>
            <a:rect l="l" t="t" r="r" b="b"/>
            <a:pathLst>
              <a:path w="5910600" h="4252826">
                <a:moveTo>
                  <a:pt x="0" y="0"/>
                </a:moveTo>
                <a:lnTo>
                  <a:pt x="5910599" y="0"/>
                </a:lnTo>
                <a:lnTo>
                  <a:pt x="5910599" y="4252827"/>
                </a:lnTo>
                <a:lnTo>
                  <a:pt x="0" y="4252827"/>
                </a:lnTo>
                <a:lnTo>
                  <a:pt x="0" y="0"/>
                </a:lnTo>
                <a:close/>
              </a:path>
            </a:pathLst>
          </a:custGeom>
          <a:blipFill>
            <a:blip r:embed="rId3"/>
            <a:stretch>
              <a:fillRect/>
            </a:stretch>
          </a:blipFill>
          <a:ln w="38100" cap="sq">
            <a:solidFill>
              <a:srgbClr val="000000"/>
            </a:solidFill>
            <a:prstDash val="solid"/>
            <a:miter/>
          </a:ln>
        </p:spPr>
      </p:sp>
      <p:sp>
        <p:nvSpPr>
          <p:cNvPr id="4" name="TextBox 4"/>
          <p:cNvSpPr txBox="1"/>
          <p:nvPr/>
        </p:nvSpPr>
        <p:spPr>
          <a:xfrm>
            <a:off x="429638" y="169544"/>
            <a:ext cx="8115300"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Artículos académicos</a:t>
            </a:r>
          </a:p>
        </p:txBody>
      </p:sp>
      <p:sp>
        <p:nvSpPr>
          <p:cNvPr id="5" name="TextBox 5"/>
          <p:cNvSpPr txBox="1"/>
          <p:nvPr/>
        </p:nvSpPr>
        <p:spPr>
          <a:xfrm>
            <a:off x="548079" y="2006687"/>
            <a:ext cx="11919016" cy="2117723"/>
          </a:xfrm>
          <a:prstGeom prst="rect">
            <a:avLst/>
          </a:prstGeom>
        </p:spPr>
        <p:txBody>
          <a:bodyPr lIns="0" tIns="0" rIns="0" bIns="0" rtlCol="0" anchor="t">
            <a:spAutoFit/>
          </a:bodyPr>
          <a:lstStyle/>
          <a:p>
            <a:pPr algn="ctr">
              <a:lnSpc>
                <a:spcPts val="5600"/>
              </a:lnSpc>
              <a:spcBef>
                <a:spcPct val="0"/>
              </a:spcBef>
            </a:pPr>
            <a:r>
              <a:rPr lang="en-US" sz="4000" spc="136">
                <a:solidFill>
                  <a:srgbClr val="000000"/>
                </a:solidFill>
                <a:latin typeface="Catchy Mager"/>
                <a:ea typeface="Catchy Mager"/>
                <a:cs typeface="Catchy Mager"/>
                <a:sym typeface="Catchy Mager"/>
              </a:rPr>
              <a:t>Data-driven discovery of a novel sepsis pre-shock state predicts impending septic shock in the ICU </a:t>
            </a:r>
          </a:p>
          <a:p>
            <a:pPr algn="ctr">
              <a:lnSpc>
                <a:spcPts val="5600"/>
              </a:lnSpc>
              <a:spcBef>
                <a:spcPct val="0"/>
              </a:spcBef>
            </a:pPr>
            <a:endParaRPr lang="en-US" sz="4000" spc="136">
              <a:solidFill>
                <a:srgbClr val="000000"/>
              </a:solidFill>
              <a:latin typeface="Catchy Mager"/>
              <a:ea typeface="Catchy Mager"/>
              <a:cs typeface="Catchy Mager"/>
              <a:sym typeface="Catchy Mager"/>
            </a:endParaRPr>
          </a:p>
        </p:txBody>
      </p:sp>
      <p:sp>
        <p:nvSpPr>
          <p:cNvPr id="6" name="TextBox 6"/>
          <p:cNvSpPr txBox="1"/>
          <p:nvPr/>
        </p:nvSpPr>
        <p:spPr>
          <a:xfrm>
            <a:off x="2036130" y="8725998"/>
            <a:ext cx="7666792" cy="266867"/>
          </a:xfrm>
          <a:prstGeom prst="rect">
            <a:avLst/>
          </a:prstGeom>
        </p:spPr>
        <p:txBody>
          <a:bodyPr lIns="0" tIns="0" rIns="0" bIns="0" rtlCol="0" anchor="t">
            <a:spAutoFit/>
          </a:bodyPr>
          <a:lstStyle/>
          <a:p>
            <a:pPr algn="ctr">
              <a:lnSpc>
                <a:spcPts val="2090"/>
              </a:lnSpc>
              <a:spcBef>
                <a:spcPct val="0"/>
              </a:spcBef>
            </a:pPr>
            <a:r>
              <a:rPr lang="en-US" sz="1493">
                <a:solidFill>
                  <a:srgbClr val="000000"/>
                </a:solidFill>
                <a:latin typeface="Catchy Mager"/>
                <a:ea typeface="Catchy Mager"/>
                <a:cs typeface="Catchy Mager"/>
                <a:sym typeface="Catchy Mager"/>
              </a:rPr>
              <a:t>Figura 6. Evolución del puntaje de riesgo en pacientes con y sin progresión hacia el shock séptico.</a:t>
            </a:r>
          </a:p>
        </p:txBody>
      </p:sp>
      <p:sp>
        <p:nvSpPr>
          <p:cNvPr id="7" name="TextBox 7"/>
          <p:cNvSpPr txBox="1"/>
          <p:nvPr/>
        </p:nvSpPr>
        <p:spPr>
          <a:xfrm>
            <a:off x="12355190" y="8359202"/>
            <a:ext cx="4674390" cy="524042"/>
          </a:xfrm>
          <a:prstGeom prst="rect">
            <a:avLst/>
          </a:prstGeom>
        </p:spPr>
        <p:txBody>
          <a:bodyPr lIns="0" tIns="0" rIns="0" bIns="0" rtlCol="0" anchor="t">
            <a:spAutoFit/>
          </a:bodyPr>
          <a:lstStyle/>
          <a:p>
            <a:pPr algn="ctr">
              <a:lnSpc>
                <a:spcPts val="2090"/>
              </a:lnSpc>
              <a:spcBef>
                <a:spcPct val="0"/>
              </a:spcBef>
            </a:pPr>
            <a:r>
              <a:rPr lang="en-US" sz="1493">
                <a:solidFill>
                  <a:srgbClr val="000000"/>
                </a:solidFill>
                <a:latin typeface="Catchy Mager"/>
                <a:ea typeface="Catchy Mager"/>
                <a:cs typeface="Catchy Mager"/>
                <a:sym typeface="Catchy Mager"/>
              </a:rPr>
              <a:t>Figura 7. Comparación del desempeño de los modelos RNN, GLM, XGBoost y Cox mediante curvas ROC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grpSp>
        <p:nvGrpSpPr>
          <p:cNvPr id="2" name="Group 2"/>
          <p:cNvGrpSpPr/>
          <p:nvPr/>
        </p:nvGrpSpPr>
        <p:grpSpPr>
          <a:xfrm>
            <a:off x="1009650" y="2726240"/>
            <a:ext cx="7555533" cy="5601675"/>
            <a:chOff x="0" y="0"/>
            <a:chExt cx="1989935" cy="1475338"/>
          </a:xfrm>
        </p:grpSpPr>
        <p:sp>
          <p:nvSpPr>
            <p:cNvPr id="3" name="Freeform 3"/>
            <p:cNvSpPr/>
            <p:nvPr/>
          </p:nvSpPr>
          <p:spPr>
            <a:xfrm>
              <a:off x="0" y="0"/>
              <a:ext cx="1989935" cy="1475338"/>
            </a:xfrm>
            <a:custGeom>
              <a:avLst/>
              <a:gdLst/>
              <a:ahLst/>
              <a:cxnLst/>
              <a:rect l="l" t="t" r="r" b="b"/>
              <a:pathLst>
                <a:path w="1989935" h="1475338">
                  <a:moveTo>
                    <a:pt x="52258" y="0"/>
                  </a:moveTo>
                  <a:lnTo>
                    <a:pt x="1937677" y="0"/>
                  </a:lnTo>
                  <a:cubicBezTo>
                    <a:pt x="1951536" y="0"/>
                    <a:pt x="1964828" y="5506"/>
                    <a:pt x="1974629" y="15306"/>
                  </a:cubicBezTo>
                  <a:cubicBezTo>
                    <a:pt x="1984429" y="25106"/>
                    <a:pt x="1989935" y="38398"/>
                    <a:pt x="1989935" y="52258"/>
                  </a:cubicBezTo>
                  <a:lnTo>
                    <a:pt x="1989935" y="1423080"/>
                  </a:lnTo>
                  <a:cubicBezTo>
                    <a:pt x="1989935" y="1436940"/>
                    <a:pt x="1984429" y="1450232"/>
                    <a:pt x="1974629" y="1460032"/>
                  </a:cubicBezTo>
                  <a:cubicBezTo>
                    <a:pt x="1964828" y="1469832"/>
                    <a:pt x="1951536" y="1475338"/>
                    <a:pt x="1937677" y="1475338"/>
                  </a:cubicBezTo>
                  <a:lnTo>
                    <a:pt x="52258" y="1475338"/>
                  </a:lnTo>
                  <a:cubicBezTo>
                    <a:pt x="38398" y="1475338"/>
                    <a:pt x="25106" y="1469832"/>
                    <a:pt x="15306" y="1460032"/>
                  </a:cubicBezTo>
                  <a:cubicBezTo>
                    <a:pt x="5506" y="1450232"/>
                    <a:pt x="0" y="1436940"/>
                    <a:pt x="0" y="1423080"/>
                  </a:cubicBezTo>
                  <a:lnTo>
                    <a:pt x="0" y="52258"/>
                  </a:lnTo>
                  <a:cubicBezTo>
                    <a:pt x="0" y="38398"/>
                    <a:pt x="5506" y="25106"/>
                    <a:pt x="15306" y="15306"/>
                  </a:cubicBezTo>
                  <a:cubicBezTo>
                    <a:pt x="25106" y="5506"/>
                    <a:pt x="38398" y="0"/>
                    <a:pt x="52258" y="0"/>
                  </a:cubicBezTo>
                  <a:close/>
                </a:path>
              </a:pathLst>
            </a:custGeom>
            <a:solidFill>
              <a:srgbClr val="F0E9DF"/>
            </a:solidFill>
          </p:spPr>
        </p:sp>
        <p:sp>
          <p:nvSpPr>
            <p:cNvPr id="4" name="TextBox 4"/>
            <p:cNvSpPr txBox="1"/>
            <p:nvPr/>
          </p:nvSpPr>
          <p:spPr>
            <a:xfrm>
              <a:off x="0" y="-47625"/>
              <a:ext cx="1989935" cy="1522963"/>
            </a:xfrm>
            <a:prstGeom prst="rect">
              <a:avLst/>
            </a:prstGeom>
          </p:spPr>
          <p:txBody>
            <a:bodyPr lIns="50800" tIns="50800" rIns="50800" bIns="50800" rtlCol="0" anchor="ctr"/>
            <a:lstStyle/>
            <a:p>
              <a:pPr algn="ctr">
                <a:lnSpc>
                  <a:spcPts val="2090"/>
                </a:lnSpc>
              </a:pPr>
              <a:endParaRPr/>
            </a:p>
          </p:txBody>
        </p:sp>
      </p:grpSp>
      <p:sp>
        <p:nvSpPr>
          <p:cNvPr id="5" name="Freeform 5"/>
          <p:cNvSpPr/>
          <p:nvPr/>
        </p:nvSpPr>
        <p:spPr>
          <a:xfrm>
            <a:off x="1190908" y="2966565"/>
            <a:ext cx="7101350" cy="5112333"/>
          </a:xfrm>
          <a:custGeom>
            <a:avLst/>
            <a:gdLst/>
            <a:ahLst/>
            <a:cxnLst/>
            <a:rect l="l" t="t" r="r" b="b"/>
            <a:pathLst>
              <a:path w="7101350" h="5112333">
                <a:moveTo>
                  <a:pt x="0" y="0"/>
                </a:moveTo>
                <a:lnTo>
                  <a:pt x="7101350" y="0"/>
                </a:lnTo>
                <a:lnTo>
                  <a:pt x="7101350" y="5112333"/>
                </a:lnTo>
                <a:lnTo>
                  <a:pt x="0" y="5112333"/>
                </a:lnTo>
                <a:lnTo>
                  <a:pt x="0" y="0"/>
                </a:lnTo>
                <a:close/>
              </a:path>
            </a:pathLst>
          </a:custGeom>
          <a:blipFill>
            <a:blip r:embed="rId2"/>
            <a:stretch>
              <a:fillRect/>
            </a:stretch>
          </a:blipFill>
        </p:spPr>
      </p:sp>
      <p:grpSp>
        <p:nvGrpSpPr>
          <p:cNvPr id="6" name="Group 6"/>
          <p:cNvGrpSpPr/>
          <p:nvPr/>
        </p:nvGrpSpPr>
        <p:grpSpPr>
          <a:xfrm>
            <a:off x="9458325" y="2726240"/>
            <a:ext cx="8115300" cy="5601675"/>
            <a:chOff x="0" y="0"/>
            <a:chExt cx="2137363" cy="1475338"/>
          </a:xfrm>
        </p:grpSpPr>
        <p:sp>
          <p:nvSpPr>
            <p:cNvPr id="7" name="Freeform 7"/>
            <p:cNvSpPr/>
            <p:nvPr/>
          </p:nvSpPr>
          <p:spPr>
            <a:xfrm>
              <a:off x="0" y="0"/>
              <a:ext cx="2137363" cy="1475338"/>
            </a:xfrm>
            <a:custGeom>
              <a:avLst/>
              <a:gdLst/>
              <a:ahLst/>
              <a:cxnLst/>
              <a:rect l="l" t="t" r="r" b="b"/>
              <a:pathLst>
                <a:path w="2137363" h="1475338">
                  <a:moveTo>
                    <a:pt x="48654" y="0"/>
                  </a:moveTo>
                  <a:lnTo>
                    <a:pt x="2088710" y="0"/>
                  </a:lnTo>
                  <a:cubicBezTo>
                    <a:pt x="2115580" y="0"/>
                    <a:pt x="2137363" y="21783"/>
                    <a:pt x="2137363" y="48654"/>
                  </a:cubicBezTo>
                  <a:lnTo>
                    <a:pt x="2137363" y="1426685"/>
                  </a:lnTo>
                  <a:cubicBezTo>
                    <a:pt x="2137363" y="1453555"/>
                    <a:pt x="2115580" y="1475338"/>
                    <a:pt x="2088710" y="1475338"/>
                  </a:cubicBezTo>
                  <a:lnTo>
                    <a:pt x="48654" y="1475338"/>
                  </a:lnTo>
                  <a:cubicBezTo>
                    <a:pt x="21783" y="1475338"/>
                    <a:pt x="0" y="1453555"/>
                    <a:pt x="0" y="1426685"/>
                  </a:cubicBezTo>
                  <a:lnTo>
                    <a:pt x="0" y="48654"/>
                  </a:lnTo>
                  <a:cubicBezTo>
                    <a:pt x="0" y="21783"/>
                    <a:pt x="21783" y="0"/>
                    <a:pt x="48654" y="0"/>
                  </a:cubicBezTo>
                  <a:close/>
                </a:path>
              </a:pathLst>
            </a:custGeom>
            <a:solidFill>
              <a:srgbClr val="F0E9DF"/>
            </a:solidFill>
          </p:spPr>
        </p:sp>
        <p:sp>
          <p:nvSpPr>
            <p:cNvPr id="8" name="TextBox 8"/>
            <p:cNvSpPr txBox="1"/>
            <p:nvPr/>
          </p:nvSpPr>
          <p:spPr>
            <a:xfrm>
              <a:off x="0" y="-47625"/>
              <a:ext cx="2137363" cy="1522963"/>
            </a:xfrm>
            <a:prstGeom prst="rect">
              <a:avLst/>
            </a:prstGeom>
          </p:spPr>
          <p:txBody>
            <a:bodyPr lIns="50800" tIns="50800" rIns="50800" bIns="50800" rtlCol="0" anchor="ctr"/>
            <a:lstStyle/>
            <a:p>
              <a:pPr algn="ctr">
                <a:lnSpc>
                  <a:spcPts val="2090"/>
                </a:lnSpc>
              </a:pPr>
              <a:endParaRPr/>
            </a:p>
          </p:txBody>
        </p:sp>
      </p:grpSp>
      <p:sp>
        <p:nvSpPr>
          <p:cNvPr id="9" name="Freeform 9"/>
          <p:cNvSpPr/>
          <p:nvPr/>
        </p:nvSpPr>
        <p:spPr>
          <a:xfrm rot="5400000">
            <a:off x="10965214" y="1711720"/>
            <a:ext cx="5112333" cy="7622024"/>
          </a:xfrm>
          <a:custGeom>
            <a:avLst/>
            <a:gdLst/>
            <a:ahLst/>
            <a:cxnLst/>
            <a:rect l="l" t="t" r="r" b="b"/>
            <a:pathLst>
              <a:path w="5112333" h="7622024">
                <a:moveTo>
                  <a:pt x="0" y="0"/>
                </a:moveTo>
                <a:lnTo>
                  <a:pt x="5112333" y="0"/>
                </a:lnTo>
                <a:lnTo>
                  <a:pt x="5112333" y="7622024"/>
                </a:lnTo>
                <a:lnTo>
                  <a:pt x="0" y="7622024"/>
                </a:lnTo>
                <a:lnTo>
                  <a:pt x="0" y="0"/>
                </a:lnTo>
                <a:close/>
              </a:path>
            </a:pathLst>
          </a:custGeom>
          <a:blipFill>
            <a:blip r:embed="rId3"/>
            <a:stretch>
              <a:fillRect/>
            </a:stretch>
          </a:blipFill>
        </p:spPr>
      </p:sp>
      <p:sp>
        <p:nvSpPr>
          <p:cNvPr id="10" name="TextBox 10"/>
          <p:cNvSpPr txBox="1"/>
          <p:nvPr/>
        </p:nvSpPr>
        <p:spPr>
          <a:xfrm>
            <a:off x="429638" y="169544"/>
            <a:ext cx="8115300"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Patentes</a:t>
            </a:r>
          </a:p>
        </p:txBody>
      </p:sp>
      <p:sp>
        <p:nvSpPr>
          <p:cNvPr id="11" name="TextBox 11"/>
          <p:cNvSpPr txBox="1"/>
          <p:nvPr/>
        </p:nvSpPr>
        <p:spPr>
          <a:xfrm>
            <a:off x="6340281" y="1439169"/>
            <a:ext cx="5607438" cy="916606"/>
          </a:xfrm>
          <a:prstGeom prst="rect">
            <a:avLst/>
          </a:prstGeom>
        </p:spPr>
        <p:txBody>
          <a:bodyPr lIns="0" tIns="0" rIns="0" bIns="0" rtlCol="0" anchor="t">
            <a:spAutoFit/>
          </a:bodyPr>
          <a:lstStyle/>
          <a:p>
            <a:pPr algn="ctr">
              <a:lnSpc>
                <a:spcPts val="7415"/>
              </a:lnSpc>
              <a:spcBef>
                <a:spcPct val="0"/>
              </a:spcBef>
            </a:pPr>
            <a:r>
              <a:rPr lang="en-US" sz="5296">
                <a:solidFill>
                  <a:srgbClr val="000000"/>
                </a:solidFill>
                <a:latin typeface="Catchy Mager"/>
                <a:ea typeface="Catchy Mager"/>
                <a:cs typeface="Catchy Mager"/>
                <a:sym typeface="Catchy Mager"/>
              </a:rPr>
              <a:t>US20230078248A1 </a:t>
            </a:r>
          </a:p>
        </p:txBody>
      </p:sp>
      <p:sp>
        <p:nvSpPr>
          <p:cNvPr id="12" name="TextBox 12"/>
          <p:cNvSpPr txBox="1"/>
          <p:nvPr/>
        </p:nvSpPr>
        <p:spPr>
          <a:xfrm>
            <a:off x="1927286" y="8459678"/>
            <a:ext cx="5720262" cy="5524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8. Evolución del puntaje de riesgo en un paciente real: transición de sepsis a shock séptico.</a:t>
            </a:r>
          </a:p>
        </p:txBody>
      </p:sp>
      <p:sp>
        <p:nvSpPr>
          <p:cNvPr id="13" name="TextBox 13"/>
          <p:cNvSpPr txBox="1"/>
          <p:nvPr/>
        </p:nvSpPr>
        <p:spPr>
          <a:xfrm>
            <a:off x="11726952" y="8478728"/>
            <a:ext cx="3588857"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9. Curva ROC del modelo predictivo,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grpSp>
        <p:nvGrpSpPr>
          <p:cNvPr id="2" name="Group 2"/>
          <p:cNvGrpSpPr/>
          <p:nvPr/>
        </p:nvGrpSpPr>
        <p:grpSpPr>
          <a:xfrm>
            <a:off x="604746" y="3092254"/>
            <a:ext cx="9792287" cy="4706973"/>
            <a:chOff x="0" y="0"/>
            <a:chExt cx="2579038" cy="1239697"/>
          </a:xfrm>
        </p:grpSpPr>
        <p:sp>
          <p:nvSpPr>
            <p:cNvPr id="3" name="Freeform 3"/>
            <p:cNvSpPr/>
            <p:nvPr/>
          </p:nvSpPr>
          <p:spPr>
            <a:xfrm>
              <a:off x="0" y="0"/>
              <a:ext cx="2579039" cy="1239697"/>
            </a:xfrm>
            <a:custGeom>
              <a:avLst/>
              <a:gdLst/>
              <a:ahLst/>
              <a:cxnLst/>
              <a:rect l="l" t="t" r="r" b="b"/>
              <a:pathLst>
                <a:path w="2579039" h="1239697">
                  <a:moveTo>
                    <a:pt x="40321" y="0"/>
                  </a:moveTo>
                  <a:lnTo>
                    <a:pt x="2538717" y="0"/>
                  </a:lnTo>
                  <a:cubicBezTo>
                    <a:pt x="2549411" y="0"/>
                    <a:pt x="2559667" y="4248"/>
                    <a:pt x="2567229" y="11810"/>
                  </a:cubicBezTo>
                  <a:cubicBezTo>
                    <a:pt x="2574790" y="19372"/>
                    <a:pt x="2579039" y="29627"/>
                    <a:pt x="2579039" y="40321"/>
                  </a:cubicBezTo>
                  <a:lnTo>
                    <a:pt x="2579039" y="1199375"/>
                  </a:lnTo>
                  <a:cubicBezTo>
                    <a:pt x="2579039" y="1210069"/>
                    <a:pt x="2574790" y="1220325"/>
                    <a:pt x="2567229" y="1227887"/>
                  </a:cubicBezTo>
                  <a:cubicBezTo>
                    <a:pt x="2559667" y="1235449"/>
                    <a:pt x="2549411" y="1239697"/>
                    <a:pt x="2538717" y="1239697"/>
                  </a:cubicBezTo>
                  <a:lnTo>
                    <a:pt x="40321" y="1239697"/>
                  </a:lnTo>
                  <a:cubicBezTo>
                    <a:pt x="29627" y="1239697"/>
                    <a:pt x="19372" y="1235449"/>
                    <a:pt x="11810" y="1227887"/>
                  </a:cubicBezTo>
                  <a:cubicBezTo>
                    <a:pt x="4248" y="1220325"/>
                    <a:pt x="0" y="1210069"/>
                    <a:pt x="0" y="1199375"/>
                  </a:cubicBezTo>
                  <a:lnTo>
                    <a:pt x="0" y="40321"/>
                  </a:lnTo>
                  <a:cubicBezTo>
                    <a:pt x="0" y="29627"/>
                    <a:pt x="4248" y="19372"/>
                    <a:pt x="11810" y="11810"/>
                  </a:cubicBezTo>
                  <a:cubicBezTo>
                    <a:pt x="19372" y="4248"/>
                    <a:pt x="29627" y="0"/>
                    <a:pt x="40321" y="0"/>
                  </a:cubicBezTo>
                  <a:close/>
                </a:path>
              </a:pathLst>
            </a:custGeom>
            <a:solidFill>
              <a:srgbClr val="F0E9DF"/>
            </a:solidFill>
          </p:spPr>
        </p:sp>
        <p:sp>
          <p:nvSpPr>
            <p:cNvPr id="4" name="TextBox 4"/>
            <p:cNvSpPr txBox="1"/>
            <p:nvPr/>
          </p:nvSpPr>
          <p:spPr>
            <a:xfrm>
              <a:off x="0" y="-47625"/>
              <a:ext cx="2579038" cy="1287322"/>
            </a:xfrm>
            <a:prstGeom prst="rect">
              <a:avLst/>
            </a:prstGeom>
          </p:spPr>
          <p:txBody>
            <a:bodyPr lIns="50800" tIns="50800" rIns="50800" bIns="50800" rtlCol="0" anchor="ctr"/>
            <a:lstStyle/>
            <a:p>
              <a:pPr algn="ctr">
                <a:lnSpc>
                  <a:spcPts val="2090"/>
                </a:lnSpc>
              </a:pPr>
              <a:endParaRPr/>
            </a:p>
          </p:txBody>
        </p:sp>
      </p:grpSp>
      <p:sp>
        <p:nvSpPr>
          <p:cNvPr id="5" name="Freeform 5"/>
          <p:cNvSpPr/>
          <p:nvPr/>
        </p:nvSpPr>
        <p:spPr>
          <a:xfrm rot="5400000">
            <a:off x="3405990" y="769956"/>
            <a:ext cx="4189798" cy="9355629"/>
          </a:xfrm>
          <a:custGeom>
            <a:avLst/>
            <a:gdLst/>
            <a:ahLst/>
            <a:cxnLst/>
            <a:rect l="l" t="t" r="r" b="b"/>
            <a:pathLst>
              <a:path w="4189798" h="9355629">
                <a:moveTo>
                  <a:pt x="0" y="0"/>
                </a:moveTo>
                <a:lnTo>
                  <a:pt x="4189799" y="0"/>
                </a:lnTo>
                <a:lnTo>
                  <a:pt x="4189799" y="9355629"/>
                </a:lnTo>
                <a:lnTo>
                  <a:pt x="0" y="9355629"/>
                </a:lnTo>
                <a:lnTo>
                  <a:pt x="0" y="0"/>
                </a:lnTo>
                <a:close/>
              </a:path>
            </a:pathLst>
          </a:custGeom>
          <a:blipFill>
            <a:blip r:embed="rId2"/>
            <a:stretch>
              <a:fillRect/>
            </a:stretch>
          </a:blipFill>
        </p:spPr>
      </p:sp>
      <p:grpSp>
        <p:nvGrpSpPr>
          <p:cNvPr id="6" name="Group 6"/>
          <p:cNvGrpSpPr/>
          <p:nvPr/>
        </p:nvGrpSpPr>
        <p:grpSpPr>
          <a:xfrm>
            <a:off x="10820757" y="3071920"/>
            <a:ext cx="6701500" cy="4727307"/>
            <a:chOff x="0" y="0"/>
            <a:chExt cx="1765004" cy="1245052"/>
          </a:xfrm>
        </p:grpSpPr>
        <p:sp>
          <p:nvSpPr>
            <p:cNvPr id="7" name="Freeform 7"/>
            <p:cNvSpPr/>
            <p:nvPr/>
          </p:nvSpPr>
          <p:spPr>
            <a:xfrm>
              <a:off x="0" y="0"/>
              <a:ext cx="1765004" cy="1245052"/>
            </a:xfrm>
            <a:custGeom>
              <a:avLst/>
              <a:gdLst/>
              <a:ahLst/>
              <a:cxnLst/>
              <a:rect l="l" t="t" r="r" b="b"/>
              <a:pathLst>
                <a:path w="1765004" h="1245052">
                  <a:moveTo>
                    <a:pt x="58918" y="0"/>
                  </a:moveTo>
                  <a:lnTo>
                    <a:pt x="1706086" y="0"/>
                  </a:lnTo>
                  <a:cubicBezTo>
                    <a:pt x="1721712" y="0"/>
                    <a:pt x="1736698" y="6207"/>
                    <a:pt x="1747747" y="17257"/>
                  </a:cubicBezTo>
                  <a:cubicBezTo>
                    <a:pt x="1758797" y="28306"/>
                    <a:pt x="1765004" y="43292"/>
                    <a:pt x="1765004" y="58918"/>
                  </a:cubicBezTo>
                  <a:lnTo>
                    <a:pt x="1765004" y="1186134"/>
                  </a:lnTo>
                  <a:cubicBezTo>
                    <a:pt x="1765004" y="1218674"/>
                    <a:pt x="1738626" y="1245052"/>
                    <a:pt x="1706086" y="1245052"/>
                  </a:cubicBezTo>
                  <a:lnTo>
                    <a:pt x="58918" y="1245052"/>
                  </a:lnTo>
                  <a:cubicBezTo>
                    <a:pt x="43292" y="1245052"/>
                    <a:pt x="28306" y="1238845"/>
                    <a:pt x="17257" y="1227796"/>
                  </a:cubicBezTo>
                  <a:cubicBezTo>
                    <a:pt x="6207" y="1216746"/>
                    <a:pt x="0" y="1201760"/>
                    <a:pt x="0" y="1186134"/>
                  </a:cubicBezTo>
                  <a:lnTo>
                    <a:pt x="0" y="58918"/>
                  </a:lnTo>
                  <a:cubicBezTo>
                    <a:pt x="0" y="43292"/>
                    <a:pt x="6207" y="28306"/>
                    <a:pt x="17257" y="17257"/>
                  </a:cubicBezTo>
                  <a:cubicBezTo>
                    <a:pt x="28306" y="6207"/>
                    <a:pt x="43292" y="0"/>
                    <a:pt x="58918" y="0"/>
                  </a:cubicBezTo>
                  <a:close/>
                </a:path>
              </a:pathLst>
            </a:custGeom>
            <a:solidFill>
              <a:srgbClr val="F0E9DF"/>
            </a:solidFill>
          </p:spPr>
        </p:sp>
        <p:sp>
          <p:nvSpPr>
            <p:cNvPr id="8" name="TextBox 8"/>
            <p:cNvSpPr txBox="1"/>
            <p:nvPr/>
          </p:nvSpPr>
          <p:spPr>
            <a:xfrm>
              <a:off x="0" y="-47625"/>
              <a:ext cx="1765004" cy="1292677"/>
            </a:xfrm>
            <a:prstGeom prst="rect">
              <a:avLst/>
            </a:prstGeom>
          </p:spPr>
          <p:txBody>
            <a:bodyPr lIns="50800" tIns="50800" rIns="50800" bIns="50800" rtlCol="0" anchor="ctr"/>
            <a:lstStyle/>
            <a:p>
              <a:pPr algn="ctr">
                <a:lnSpc>
                  <a:spcPts val="2090"/>
                </a:lnSpc>
              </a:pPr>
              <a:endParaRPr/>
            </a:p>
          </p:txBody>
        </p:sp>
      </p:grpSp>
      <p:sp>
        <p:nvSpPr>
          <p:cNvPr id="9" name="Freeform 9"/>
          <p:cNvSpPr/>
          <p:nvPr/>
        </p:nvSpPr>
        <p:spPr>
          <a:xfrm>
            <a:off x="10993231" y="3352871"/>
            <a:ext cx="6356554" cy="4189798"/>
          </a:xfrm>
          <a:custGeom>
            <a:avLst/>
            <a:gdLst/>
            <a:ahLst/>
            <a:cxnLst/>
            <a:rect l="l" t="t" r="r" b="b"/>
            <a:pathLst>
              <a:path w="6356554" h="4189798">
                <a:moveTo>
                  <a:pt x="0" y="0"/>
                </a:moveTo>
                <a:lnTo>
                  <a:pt x="6356553" y="0"/>
                </a:lnTo>
                <a:lnTo>
                  <a:pt x="6356553" y="4189798"/>
                </a:lnTo>
                <a:lnTo>
                  <a:pt x="0" y="4189798"/>
                </a:lnTo>
                <a:lnTo>
                  <a:pt x="0" y="0"/>
                </a:lnTo>
                <a:close/>
              </a:path>
            </a:pathLst>
          </a:custGeom>
          <a:blipFill>
            <a:blip r:embed="rId3"/>
            <a:stretch>
              <a:fillRect/>
            </a:stretch>
          </a:blipFill>
        </p:spPr>
      </p:sp>
      <p:sp>
        <p:nvSpPr>
          <p:cNvPr id="10" name="TextBox 10"/>
          <p:cNvSpPr txBox="1"/>
          <p:nvPr/>
        </p:nvSpPr>
        <p:spPr>
          <a:xfrm>
            <a:off x="429638" y="169544"/>
            <a:ext cx="8115300"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Patentes</a:t>
            </a:r>
          </a:p>
        </p:txBody>
      </p:sp>
      <p:sp>
        <p:nvSpPr>
          <p:cNvPr id="11" name="TextBox 11"/>
          <p:cNvSpPr txBox="1"/>
          <p:nvPr/>
        </p:nvSpPr>
        <p:spPr>
          <a:xfrm>
            <a:off x="6620130" y="1669159"/>
            <a:ext cx="5047740" cy="916606"/>
          </a:xfrm>
          <a:prstGeom prst="rect">
            <a:avLst/>
          </a:prstGeom>
        </p:spPr>
        <p:txBody>
          <a:bodyPr lIns="0" tIns="0" rIns="0" bIns="0" rtlCol="0" anchor="t">
            <a:spAutoFit/>
          </a:bodyPr>
          <a:lstStyle/>
          <a:p>
            <a:pPr algn="ctr">
              <a:lnSpc>
                <a:spcPts val="7415"/>
              </a:lnSpc>
              <a:spcBef>
                <a:spcPct val="0"/>
              </a:spcBef>
            </a:pPr>
            <a:r>
              <a:rPr lang="en-US" sz="5296">
                <a:solidFill>
                  <a:srgbClr val="000000"/>
                </a:solidFill>
                <a:latin typeface="Catchy Mager"/>
                <a:ea typeface="Catchy Mager"/>
                <a:cs typeface="Catchy Mager"/>
                <a:sym typeface="Catchy Mager"/>
              </a:rPr>
              <a:t>US20210052218A1</a:t>
            </a:r>
          </a:p>
        </p:txBody>
      </p:sp>
      <p:sp>
        <p:nvSpPr>
          <p:cNvPr id="12" name="TextBox 12"/>
          <p:cNvSpPr txBox="1"/>
          <p:nvPr/>
        </p:nvSpPr>
        <p:spPr>
          <a:xfrm>
            <a:off x="2577217" y="8003937"/>
            <a:ext cx="5847346" cy="5524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10. Diagrama de bloques del sistema: patch de signos vitales, interfaz móvil y almacenamiento con analítica.</a:t>
            </a:r>
          </a:p>
        </p:txBody>
      </p:sp>
      <p:sp>
        <p:nvSpPr>
          <p:cNvPr id="13" name="TextBox 13"/>
          <p:cNvSpPr txBox="1"/>
          <p:nvPr/>
        </p:nvSpPr>
        <p:spPr>
          <a:xfrm>
            <a:off x="11626243" y="8003937"/>
            <a:ext cx="5090529" cy="5524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11. Arquitectura interna del wearable: microcontrolador, sensor de ECG, acelerómetro y gestión de batería.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grpSp>
        <p:nvGrpSpPr>
          <p:cNvPr id="2" name="Group 2"/>
          <p:cNvGrpSpPr/>
          <p:nvPr/>
        </p:nvGrpSpPr>
        <p:grpSpPr>
          <a:xfrm>
            <a:off x="1588467" y="3113373"/>
            <a:ext cx="6956471" cy="5862787"/>
            <a:chOff x="0" y="0"/>
            <a:chExt cx="1832157" cy="1544109"/>
          </a:xfrm>
        </p:grpSpPr>
        <p:sp>
          <p:nvSpPr>
            <p:cNvPr id="3" name="Freeform 3"/>
            <p:cNvSpPr/>
            <p:nvPr/>
          </p:nvSpPr>
          <p:spPr>
            <a:xfrm>
              <a:off x="0" y="0"/>
              <a:ext cx="1832157" cy="1544109"/>
            </a:xfrm>
            <a:custGeom>
              <a:avLst/>
              <a:gdLst/>
              <a:ahLst/>
              <a:cxnLst/>
              <a:rect l="l" t="t" r="r" b="b"/>
              <a:pathLst>
                <a:path w="1832157" h="1544109">
                  <a:moveTo>
                    <a:pt x="56758" y="0"/>
                  </a:moveTo>
                  <a:lnTo>
                    <a:pt x="1775399" y="0"/>
                  </a:lnTo>
                  <a:cubicBezTo>
                    <a:pt x="1790452" y="0"/>
                    <a:pt x="1804889" y="5980"/>
                    <a:pt x="1815533" y="16624"/>
                  </a:cubicBezTo>
                  <a:cubicBezTo>
                    <a:pt x="1826177" y="27268"/>
                    <a:pt x="1832157" y="41705"/>
                    <a:pt x="1832157" y="56758"/>
                  </a:cubicBezTo>
                  <a:lnTo>
                    <a:pt x="1832157" y="1487350"/>
                  </a:lnTo>
                  <a:cubicBezTo>
                    <a:pt x="1832157" y="1502404"/>
                    <a:pt x="1826177" y="1516840"/>
                    <a:pt x="1815533" y="1527484"/>
                  </a:cubicBezTo>
                  <a:cubicBezTo>
                    <a:pt x="1804889" y="1538129"/>
                    <a:pt x="1790452" y="1544109"/>
                    <a:pt x="1775399" y="1544109"/>
                  </a:cubicBezTo>
                  <a:lnTo>
                    <a:pt x="56758" y="1544109"/>
                  </a:lnTo>
                  <a:cubicBezTo>
                    <a:pt x="41705" y="1544109"/>
                    <a:pt x="27268" y="1538129"/>
                    <a:pt x="16624" y="1527484"/>
                  </a:cubicBezTo>
                  <a:cubicBezTo>
                    <a:pt x="5980" y="1516840"/>
                    <a:pt x="0" y="1502404"/>
                    <a:pt x="0" y="1487350"/>
                  </a:cubicBezTo>
                  <a:lnTo>
                    <a:pt x="0" y="56758"/>
                  </a:lnTo>
                  <a:cubicBezTo>
                    <a:pt x="0" y="41705"/>
                    <a:pt x="5980" y="27268"/>
                    <a:pt x="16624" y="16624"/>
                  </a:cubicBezTo>
                  <a:cubicBezTo>
                    <a:pt x="27268" y="5980"/>
                    <a:pt x="41705" y="0"/>
                    <a:pt x="56758" y="0"/>
                  </a:cubicBezTo>
                  <a:close/>
                </a:path>
              </a:pathLst>
            </a:custGeom>
            <a:solidFill>
              <a:srgbClr val="F0E9DF"/>
            </a:solidFill>
          </p:spPr>
        </p:sp>
        <p:sp>
          <p:nvSpPr>
            <p:cNvPr id="4" name="TextBox 4"/>
            <p:cNvSpPr txBox="1"/>
            <p:nvPr/>
          </p:nvSpPr>
          <p:spPr>
            <a:xfrm>
              <a:off x="0" y="-47625"/>
              <a:ext cx="1832157" cy="1591734"/>
            </a:xfrm>
            <a:prstGeom prst="rect">
              <a:avLst/>
            </a:prstGeom>
          </p:spPr>
          <p:txBody>
            <a:bodyPr lIns="50800" tIns="50800" rIns="50800" bIns="50800" rtlCol="0" anchor="ctr"/>
            <a:lstStyle/>
            <a:p>
              <a:pPr algn="ctr">
                <a:lnSpc>
                  <a:spcPts val="2090"/>
                </a:lnSpc>
              </a:pPr>
              <a:endParaRPr/>
            </a:p>
          </p:txBody>
        </p:sp>
      </p:grpSp>
      <p:sp>
        <p:nvSpPr>
          <p:cNvPr id="5" name="Freeform 5"/>
          <p:cNvSpPr/>
          <p:nvPr/>
        </p:nvSpPr>
        <p:spPr>
          <a:xfrm rot="5400000">
            <a:off x="2388234" y="2766932"/>
            <a:ext cx="5360157" cy="6536073"/>
          </a:xfrm>
          <a:custGeom>
            <a:avLst/>
            <a:gdLst/>
            <a:ahLst/>
            <a:cxnLst/>
            <a:rect l="l" t="t" r="r" b="b"/>
            <a:pathLst>
              <a:path w="5360157" h="6536073">
                <a:moveTo>
                  <a:pt x="0" y="0"/>
                </a:moveTo>
                <a:lnTo>
                  <a:pt x="5360157" y="0"/>
                </a:lnTo>
                <a:lnTo>
                  <a:pt x="5360157" y="6536073"/>
                </a:lnTo>
                <a:lnTo>
                  <a:pt x="0" y="6536073"/>
                </a:lnTo>
                <a:lnTo>
                  <a:pt x="0" y="0"/>
                </a:lnTo>
                <a:close/>
              </a:path>
            </a:pathLst>
          </a:custGeom>
          <a:blipFill>
            <a:blip r:embed="rId2"/>
            <a:stretch>
              <a:fillRect/>
            </a:stretch>
          </a:blipFill>
        </p:spPr>
      </p:sp>
      <p:grpSp>
        <p:nvGrpSpPr>
          <p:cNvPr id="6" name="Group 6"/>
          <p:cNvGrpSpPr/>
          <p:nvPr/>
        </p:nvGrpSpPr>
        <p:grpSpPr>
          <a:xfrm>
            <a:off x="11773274" y="573446"/>
            <a:ext cx="3422443" cy="8402715"/>
            <a:chOff x="0" y="0"/>
            <a:chExt cx="901384" cy="2213061"/>
          </a:xfrm>
        </p:grpSpPr>
        <p:sp>
          <p:nvSpPr>
            <p:cNvPr id="7" name="Freeform 7"/>
            <p:cNvSpPr/>
            <p:nvPr/>
          </p:nvSpPr>
          <p:spPr>
            <a:xfrm>
              <a:off x="0" y="0"/>
              <a:ext cx="901384" cy="2213061"/>
            </a:xfrm>
            <a:custGeom>
              <a:avLst/>
              <a:gdLst/>
              <a:ahLst/>
              <a:cxnLst/>
              <a:rect l="l" t="t" r="r" b="b"/>
              <a:pathLst>
                <a:path w="901384" h="2213061">
                  <a:moveTo>
                    <a:pt x="115367" y="0"/>
                  </a:moveTo>
                  <a:lnTo>
                    <a:pt x="786017" y="0"/>
                  </a:lnTo>
                  <a:cubicBezTo>
                    <a:pt x="849733" y="0"/>
                    <a:pt x="901384" y="51652"/>
                    <a:pt x="901384" y="115367"/>
                  </a:cubicBezTo>
                  <a:lnTo>
                    <a:pt x="901384" y="2097693"/>
                  </a:lnTo>
                  <a:cubicBezTo>
                    <a:pt x="901384" y="2128291"/>
                    <a:pt x="889230" y="2157635"/>
                    <a:pt x="867594" y="2179270"/>
                  </a:cubicBezTo>
                  <a:cubicBezTo>
                    <a:pt x="845958" y="2200906"/>
                    <a:pt x="816614" y="2213061"/>
                    <a:pt x="786017" y="2213061"/>
                  </a:cubicBezTo>
                  <a:lnTo>
                    <a:pt x="115367" y="2213061"/>
                  </a:lnTo>
                  <a:cubicBezTo>
                    <a:pt x="84770" y="2213061"/>
                    <a:pt x="55426" y="2200906"/>
                    <a:pt x="33790" y="2179270"/>
                  </a:cubicBezTo>
                  <a:cubicBezTo>
                    <a:pt x="12155" y="2157635"/>
                    <a:pt x="0" y="2128291"/>
                    <a:pt x="0" y="2097693"/>
                  </a:cubicBezTo>
                  <a:lnTo>
                    <a:pt x="0" y="115367"/>
                  </a:lnTo>
                  <a:cubicBezTo>
                    <a:pt x="0" y="84770"/>
                    <a:pt x="12155" y="55426"/>
                    <a:pt x="33790" y="33790"/>
                  </a:cubicBezTo>
                  <a:cubicBezTo>
                    <a:pt x="55426" y="12155"/>
                    <a:pt x="84770" y="0"/>
                    <a:pt x="115367" y="0"/>
                  </a:cubicBezTo>
                  <a:close/>
                </a:path>
              </a:pathLst>
            </a:custGeom>
            <a:solidFill>
              <a:srgbClr val="F0E9DF"/>
            </a:solidFill>
          </p:spPr>
        </p:sp>
        <p:sp>
          <p:nvSpPr>
            <p:cNvPr id="8" name="TextBox 8"/>
            <p:cNvSpPr txBox="1"/>
            <p:nvPr/>
          </p:nvSpPr>
          <p:spPr>
            <a:xfrm>
              <a:off x="0" y="-47625"/>
              <a:ext cx="901384" cy="2260686"/>
            </a:xfrm>
            <a:prstGeom prst="rect">
              <a:avLst/>
            </a:prstGeom>
          </p:spPr>
          <p:txBody>
            <a:bodyPr lIns="50800" tIns="50800" rIns="50800" bIns="50800" rtlCol="0" anchor="ctr"/>
            <a:lstStyle/>
            <a:p>
              <a:pPr algn="ctr">
                <a:lnSpc>
                  <a:spcPts val="2090"/>
                </a:lnSpc>
              </a:pPr>
              <a:endParaRPr/>
            </a:p>
          </p:txBody>
        </p:sp>
      </p:grpSp>
      <p:sp>
        <p:nvSpPr>
          <p:cNvPr id="9" name="Freeform 9"/>
          <p:cNvSpPr/>
          <p:nvPr/>
        </p:nvSpPr>
        <p:spPr>
          <a:xfrm>
            <a:off x="11948767" y="795336"/>
            <a:ext cx="3022708" cy="7919711"/>
          </a:xfrm>
          <a:custGeom>
            <a:avLst/>
            <a:gdLst/>
            <a:ahLst/>
            <a:cxnLst/>
            <a:rect l="l" t="t" r="r" b="b"/>
            <a:pathLst>
              <a:path w="3022708" h="7919711">
                <a:moveTo>
                  <a:pt x="0" y="0"/>
                </a:moveTo>
                <a:lnTo>
                  <a:pt x="3022708" y="0"/>
                </a:lnTo>
                <a:lnTo>
                  <a:pt x="3022708" y="7919711"/>
                </a:lnTo>
                <a:lnTo>
                  <a:pt x="0" y="7919711"/>
                </a:lnTo>
                <a:lnTo>
                  <a:pt x="0" y="0"/>
                </a:lnTo>
                <a:close/>
              </a:path>
            </a:pathLst>
          </a:custGeom>
          <a:blipFill>
            <a:blip r:embed="rId3"/>
            <a:stretch>
              <a:fillRect/>
            </a:stretch>
          </a:blipFill>
        </p:spPr>
      </p:sp>
      <p:sp>
        <p:nvSpPr>
          <p:cNvPr id="10" name="TextBox 10"/>
          <p:cNvSpPr txBox="1"/>
          <p:nvPr/>
        </p:nvSpPr>
        <p:spPr>
          <a:xfrm>
            <a:off x="429638" y="169544"/>
            <a:ext cx="8115300"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Patentes</a:t>
            </a:r>
          </a:p>
        </p:txBody>
      </p:sp>
      <p:sp>
        <p:nvSpPr>
          <p:cNvPr id="11" name="TextBox 11"/>
          <p:cNvSpPr txBox="1"/>
          <p:nvPr/>
        </p:nvSpPr>
        <p:spPr>
          <a:xfrm>
            <a:off x="1800276" y="1810644"/>
            <a:ext cx="4015220" cy="916606"/>
          </a:xfrm>
          <a:prstGeom prst="rect">
            <a:avLst/>
          </a:prstGeom>
        </p:spPr>
        <p:txBody>
          <a:bodyPr lIns="0" tIns="0" rIns="0" bIns="0" rtlCol="0" anchor="t">
            <a:spAutoFit/>
          </a:bodyPr>
          <a:lstStyle/>
          <a:p>
            <a:pPr algn="ctr">
              <a:lnSpc>
                <a:spcPts val="7415"/>
              </a:lnSpc>
              <a:spcBef>
                <a:spcPct val="0"/>
              </a:spcBef>
            </a:pPr>
            <a:r>
              <a:rPr lang="en-US" sz="5296">
                <a:solidFill>
                  <a:srgbClr val="000000"/>
                </a:solidFill>
                <a:latin typeface="Catchy Mager"/>
                <a:ea typeface="Catchy Mager"/>
                <a:cs typeface="Catchy Mager"/>
                <a:sym typeface="Catchy Mager"/>
              </a:rPr>
              <a:t>US8527449B2 </a:t>
            </a:r>
          </a:p>
        </p:txBody>
      </p:sp>
      <p:sp>
        <p:nvSpPr>
          <p:cNvPr id="12" name="TextBox 12"/>
          <p:cNvSpPr txBox="1"/>
          <p:nvPr/>
        </p:nvSpPr>
        <p:spPr>
          <a:xfrm>
            <a:off x="2339784" y="9132888"/>
            <a:ext cx="5453836" cy="5524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12. Arquitectura del sistema de alerta: monitor de cabecera e historia clínica electrónica.</a:t>
            </a:r>
          </a:p>
        </p:txBody>
      </p:sp>
      <p:sp>
        <p:nvSpPr>
          <p:cNvPr id="13" name="TextBox 13"/>
          <p:cNvSpPr txBox="1"/>
          <p:nvPr/>
        </p:nvSpPr>
        <p:spPr>
          <a:xfrm>
            <a:off x="10224726" y="9151938"/>
            <a:ext cx="6519539"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13. Diagrama de flujo del algoritmo de detección y seguimiento de la alerta.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7F2"/>
        </a:solidFill>
        <a:effectLst/>
      </p:bgPr>
    </p:bg>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4111" b="-14111"/>
            </a:stretch>
          </a:blipFill>
        </p:spPr>
      </p:sp>
      <p:grpSp>
        <p:nvGrpSpPr>
          <p:cNvPr id="3" name="Group 3"/>
          <p:cNvGrpSpPr/>
          <p:nvPr/>
        </p:nvGrpSpPr>
        <p:grpSpPr>
          <a:xfrm>
            <a:off x="10952590" y="293369"/>
            <a:ext cx="6306710" cy="9072863"/>
            <a:chOff x="0" y="0"/>
            <a:chExt cx="1780831" cy="2561912"/>
          </a:xfrm>
        </p:grpSpPr>
        <p:sp>
          <p:nvSpPr>
            <p:cNvPr id="4" name="Freeform 4"/>
            <p:cNvSpPr/>
            <p:nvPr/>
          </p:nvSpPr>
          <p:spPr>
            <a:xfrm>
              <a:off x="0" y="0"/>
              <a:ext cx="1780831" cy="2561912"/>
            </a:xfrm>
            <a:custGeom>
              <a:avLst/>
              <a:gdLst/>
              <a:ahLst/>
              <a:cxnLst/>
              <a:rect l="l" t="t" r="r" b="b"/>
              <a:pathLst>
                <a:path w="1780831" h="2561912">
                  <a:moveTo>
                    <a:pt x="62606" y="0"/>
                  </a:moveTo>
                  <a:lnTo>
                    <a:pt x="1718225" y="0"/>
                  </a:lnTo>
                  <a:cubicBezTo>
                    <a:pt x="1752801" y="0"/>
                    <a:pt x="1780831" y="28030"/>
                    <a:pt x="1780831" y="62606"/>
                  </a:cubicBezTo>
                  <a:lnTo>
                    <a:pt x="1780831" y="2499306"/>
                  </a:lnTo>
                  <a:cubicBezTo>
                    <a:pt x="1780831" y="2533882"/>
                    <a:pt x="1752801" y="2561912"/>
                    <a:pt x="1718225" y="2561912"/>
                  </a:cubicBezTo>
                  <a:lnTo>
                    <a:pt x="62606" y="2561912"/>
                  </a:lnTo>
                  <a:cubicBezTo>
                    <a:pt x="28030" y="2561912"/>
                    <a:pt x="0" y="2533882"/>
                    <a:pt x="0" y="2499306"/>
                  </a:cubicBezTo>
                  <a:lnTo>
                    <a:pt x="0" y="62606"/>
                  </a:lnTo>
                  <a:cubicBezTo>
                    <a:pt x="0" y="28030"/>
                    <a:pt x="28030" y="0"/>
                    <a:pt x="62606" y="0"/>
                  </a:cubicBezTo>
                  <a:close/>
                </a:path>
              </a:pathLst>
            </a:custGeom>
            <a:solidFill>
              <a:srgbClr val="F0E9DF"/>
            </a:solidFill>
          </p:spPr>
        </p:sp>
        <p:sp>
          <p:nvSpPr>
            <p:cNvPr id="5" name="TextBox 5"/>
            <p:cNvSpPr txBox="1"/>
            <p:nvPr/>
          </p:nvSpPr>
          <p:spPr>
            <a:xfrm>
              <a:off x="0" y="-47625"/>
              <a:ext cx="1780831" cy="2609537"/>
            </a:xfrm>
            <a:prstGeom prst="rect">
              <a:avLst/>
            </a:prstGeom>
          </p:spPr>
          <p:txBody>
            <a:bodyPr lIns="50800" tIns="50800" rIns="50800" bIns="50800" rtlCol="0" anchor="ctr"/>
            <a:lstStyle/>
            <a:p>
              <a:pPr algn="ctr">
                <a:lnSpc>
                  <a:spcPts val="2090"/>
                </a:lnSpc>
              </a:pPr>
              <a:endParaRPr/>
            </a:p>
          </p:txBody>
        </p:sp>
      </p:grpSp>
      <p:grpSp>
        <p:nvGrpSpPr>
          <p:cNvPr id="6" name="Group 6"/>
          <p:cNvGrpSpPr/>
          <p:nvPr/>
        </p:nvGrpSpPr>
        <p:grpSpPr>
          <a:xfrm rot="10238238">
            <a:off x="6586393" y="687514"/>
            <a:ext cx="3170004" cy="2018612"/>
            <a:chOff x="0" y="0"/>
            <a:chExt cx="4226672" cy="2691483"/>
          </a:xfrm>
        </p:grpSpPr>
        <p:grpSp>
          <p:nvGrpSpPr>
            <p:cNvPr id="7" name="Group 7"/>
            <p:cNvGrpSpPr/>
            <p:nvPr/>
          </p:nvGrpSpPr>
          <p:grpSpPr>
            <a:xfrm>
              <a:off x="0" y="0"/>
              <a:ext cx="2742266" cy="2691483"/>
              <a:chOff x="0" y="0"/>
              <a:chExt cx="685800" cy="673100"/>
            </a:xfrm>
          </p:grpSpPr>
          <p:sp>
            <p:nvSpPr>
              <p:cNvPr id="8" name="Freeform 8"/>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9" name="TextBox 9"/>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1693629">
              <a:off x="3239833" y="782578"/>
              <a:ext cx="837305" cy="842851"/>
              <a:chOff x="0" y="0"/>
              <a:chExt cx="685800" cy="690880"/>
            </a:xfrm>
          </p:grpSpPr>
          <p:sp>
            <p:nvSpPr>
              <p:cNvPr id="11" name="Freeform 11"/>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12" name="TextBox 12"/>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3" name="Group 13"/>
            <p:cNvGrpSpPr/>
            <p:nvPr/>
          </p:nvGrpSpPr>
          <p:grpSpPr>
            <a:xfrm rot="78808">
              <a:off x="2889840" y="4542"/>
              <a:ext cx="400916" cy="404324"/>
              <a:chOff x="0" y="0"/>
              <a:chExt cx="685800" cy="693420"/>
            </a:xfrm>
          </p:grpSpPr>
          <p:sp>
            <p:nvSpPr>
              <p:cNvPr id="14" name="Freeform 14"/>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5" name="TextBox 15"/>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6" name="Freeform 16"/>
          <p:cNvSpPr/>
          <p:nvPr/>
        </p:nvSpPr>
        <p:spPr>
          <a:xfrm>
            <a:off x="12881503" y="444218"/>
            <a:ext cx="3965287" cy="3487242"/>
          </a:xfrm>
          <a:custGeom>
            <a:avLst/>
            <a:gdLst/>
            <a:ahLst/>
            <a:cxnLst/>
            <a:rect l="l" t="t" r="r" b="b"/>
            <a:pathLst>
              <a:path w="3965287" h="3487242">
                <a:moveTo>
                  <a:pt x="0" y="0"/>
                </a:moveTo>
                <a:lnTo>
                  <a:pt x="3965287" y="0"/>
                </a:lnTo>
                <a:lnTo>
                  <a:pt x="3965287" y="3487242"/>
                </a:lnTo>
                <a:lnTo>
                  <a:pt x="0" y="3487242"/>
                </a:lnTo>
                <a:lnTo>
                  <a:pt x="0" y="0"/>
                </a:lnTo>
                <a:close/>
              </a:path>
            </a:pathLst>
          </a:custGeom>
          <a:blipFill>
            <a:blip r:embed="rId3"/>
            <a:stretch>
              <a:fillRect l="-54874" r="-77922" b="-167848"/>
            </a:stretch>
          </a:blipFill>
        </p:spPr>
      </p:sp>
      <p:sp>
        <p:nvSpPr>
          <p:cNvPr id="17" name="Freeform 17"/>
          <p:cNvSpPr/>
          <p:nvPr/>
        </p:nvSpPr>
        <p:spPr>
          <a:xfrm>
            <a:off x="11276416" y="3881722"/>
            <a:ext cx="5484362" cy="5264205"/>
          </a:xfrm>
          <a:custGeom>
            <a:avLst/>
            <a:gdLst/>
            <a:ahLst/>
            <a:cxnLst/>
            <a:rect l="l" t="t" r="r" b="b"/>
            <a:pathLst>
              <a:path w="5484362" h="5264205">
                <a:moveTo>
                  <a:pt x="0" y="0"/>
                </a:moveTo>
                <a:lnTo>
                  <a:pt x="5484362" y="0"/>
                </a:lnTo>
                <a:lnTo>
                  <a:pt x="5484362" y="5264205"/>
                </a:lnTo>
                <a:lnTo>
                  <a:pt x="0" y="5264205"/>
                </a:lnTo>
                <a:lnTo>
                  <a:pt x="0" y="0"/>
                </a:lnTo>
                <a:close/>
              </a:path>
            </a:pathLst>
          </a:custGeom>
          <a:blipFill>
            <a:blip r:embed="rId3"/>
            <a:stretch>
              <a:fillRect l="-3025" t="-57664" r="-46536"/>
            </a:stretch>
          </a:blipFill>
        </p:spPr>
      </p:sp>
      <p:sp>
        <p:nvSpPr>
          <p:cNvPr id="18" name="TextBox 18"/>
          <p:cNvSpPr txBox="1"/>
          <p:nvPr/>
        </p:nvSpPr>
        <p:spPr>
          <a:xfrm>
            <a:off x="429638" y="169544"/>
            <a:ext cx="8115300"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Revistas de catálogos</a:t>
            </a:r>
          </a:p>
        </p:txBody>
      </p:sp>
      <p:sp>
        <p:nvSpPr>
          <p:cNvPr id="19" name="TextBox 19"/>
          <p:cNvSpPr txBox="1"/>
          <p:nvPr/>
        </p:nvSpPr>
        <p:spPr>
          <a:xfrm>
            <a:off x="652478" y="2451149"/>
            <a:ext cx="5656884" cy="932096"/>
          </a:xfrm>
          <a:prstGeom prst="rect">
            <a:avLst/>
          </a:prstGeom>
        </p:spPr>
        <p:txBody>
          <a:bodyPr lIns="0" tIns="0" rIns="0" bIns="0" rtlCol="0" anchor="t">
            <a:spAutoFit/>
          </a:bodyPr>
          <a:lstStyle/>
          <a:p>
            <a:pPr marL="0" lvl="0" indent="0" algn="ctr">
              <a:lnSpc>
                <a:spcPts val="3749"/>
              </a:lnSpc>
              <a:spcBef>
                <a:spcPct val="0"/>
              </a:spcBef>
            </a:pPr>
            <a:r>
              <a:rPr lang="en-US" sz="2678" spc="195">
                <a:solidFill>
                  <a:srgbClr val="000000"/>
                </a:solidFill>
                <a:latin typeface="Catchy Mager"/>
                <a:ea typeface="Catchy Mager"/>
                <a:cs typeface="Catchy Mager"/>
                <a:sym typeface="Catchy Mager"/>
              </a:rPr>
              <a:t>SENSIUM WIRELESS VITALS MONITORING</a:t>
            </a:r>
          </a:p>
        </p:txBody>
      </p:sp>
      <p:grpSp>
        <p:nvGrpSpPr>
          <p:cNvPr id="20" name="Group 20"/>
          <p:cNvGrpSpPr/>
          <p:nvPr/>
        </p:nvGrpSpPr>
        <p:grpSpPr>
          <a:xfrm>
            <a:off x="795690" y="3726787"/>
            <a:ext cx="8536457" cy="5531513"/>
            <a:chOff x="0" y="0"/>
            <a:chExt cx="2248285" cy="1456859"/>
          </a:xfrm>
        </p:grpSpPr>
        <p:sp>
          <p:nvSpPr>
            <p:cNvPr id="21" name="Freeform 21"/>
            <p:cNvSpPr/>
            <p:nvPr/>
          </p:nvSpPr>
          <p:spPr>
            <a:xfrm>
              <a:off x="0" y="0"/>
              <a:ext cx="2248285" cy="1456860"/>
            </a:xfrm>
            <a:custGeom>
              <a:avLst/>
              <a:gdLst/>
              <a:ahLst/>
              <a:cxnLst/>
              <a:rect l="l" t="t" r="r" b="b"/>
              <a:pathLst>
                <a:path w="2248285" h="1456860">
                  <a:moveTo>
                    <a:pt x="46253" y="0"/>
                  </a:moveTo>
                  <a:lnTo>
                    <a:pt x="2202032" y="0"/>
                  </a:lnTo>
                  <a:cubicBezTo>
                    <a:pt x="2227577" y="0"/>
                    <a:pt x="2248285" y="20708"/>
                    <a:pt x="2248285" y="46253"/>
                  </a:cubicBezTo>
                  <a:lnTo>
                    <a:pt x="2248285" y="1410606"/>
                  </a:lnTo>
                  <a:cubicBezTo>
                    <a:pt x="2248285" y="1436151"/>
                    <a:pt x="2227577" y="1456860"/>
                    <a:pt x="2202032" y="1456860"/>
                  </a:cubicBezTo>
                  <a:lnTo>
                    <a:pt x="46253" y="1456860"/>
                  </a:lnTo>
                  <a:cubicBezTo>
                    <a:pt x="20708" y="1456860"/>
                    <a:pt x="0" y="1436151"/>
                    <a:pt x="0" y="1410606"/>
                  </a:cubicBezTo>
                  <a:lnTo>
                    <a:pt x="0" y="46253"/>
                  </a:lnTo>
                  <a:cubicBezTo>
                    <a:pt x="0" y="20708"/>
                    <a:pt x="20708" y="0"/>
                    <a:pt x="46253" y="0"/>
                  </a:cubicBezTo>
                  <a:close/>
                </a:path>
              </a:pathLst>
            </a:custGeom>
            <a:solidFill>
              <a:srgbClr val="F0E9DF"/>
            </a:solidFill>
          </p:spPr>
        </p:sp>
        <p:sp>
          <p:nvSpPr>
            <p:cNvPr id="22" name="TextBox 22"/>
            <p:cNvSpPr txBox="1"/>
            <p:nvPr/>
          </p:nvSpPr>
          <p:spPr>
            <a:xfrm>
              <a:off x="0" y="-47625"/>
              <a:ext cx="2248285" cy="1504484"/>
            </a:xfrm>
            <a:prstGeom prst="rect">
              <a:avLst/>
            </a:prstGeom>
          </p:spPr>
          <p:txBody>
            <a:bodyPr lIns="50800" tIns="50800" rIns="50800" bIns="50800" rtlCol="0" anchor="ctr"/>
            <a:lstStyle/>
            <a:p>
              <a:pPr algn="ctr">
                <a:lnSpc>
                  <a:spcPts val="2090"/>
                </a:lnSpc>
              </a:pPr>
              <a:endParaRPr/>
            </a:p>
          </p:txBody>
        </p:sp>
      </p:grpSp>
      <p:sp>
        <p:nvSpPr>
          <p:cNvPr id="23" name="Freeform 23"/>
          <p:cNvSpPr/>
          <p:nvPr/>
        </p:nvSpPr>
        <p:spPr>
          <a:xfrm>
            <a:off x="1074794" y="4005253"/>
            <a:ext cx="7978249" cy="4974580"/>
          </a:xfrm>
          <a:custGeom>
            <a:avLst/>
            <a:gdLst/>
            <a:ahLst/>
            <a:cxnLst/>
            <a:rect l="l" t="t" r="r" b="b"/>
            <a:pathLst>
              <a:path w="7978249" h="4974580">
                <a:moveTo>
                  <a:pt x="0" y="0"/>
                </a:moveTo>
                <a:lnTo>
                  <a:pt x="7978249" y="0"/>
                </a:lnTo>
                <a:lnTo>
                  <a:pt x="7978249" y="4974580"/>
                </a:lnTo>
                <a:lnTo>
                  <a:pt x="0" y="4974580"/>
                </a:lnTo>
                <a:lnTo>
                  <a:pt x="0" y="0"/>
                </a:lnTo>
                <a:close/>
              </a:path>
            </a:pathLst>
          </a:custGeom>
          <a:blipFill>
            <a:blip r:embed="rId4"/>
            <a:stretch>
              <a:fillRect/>
            </a:stretch>
          </a:blipFill>
        </p:spPr>
      </p:sp>
      <p:sp>
        <p:nvSpPr>
          <p:cNvPr id="24" name="TextBox 24"/>
          <p:cNvSpPr txBox="1"/>
          <p:nvPr/>
        </p:nvSpPr>
        <p:spPr>
          <a:xfrm>
            <a:off x="12042044" y="9494838"/>
            <a:ext cx="3953106"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15. Diagrama de arquitectura del sistema..</a:t>
            </a:r>
          </a:p>
        </p:txBody>
      </p:sp>
      <p:sp>
        <p:nvSpPr>
          <p:cNvPr id="25" name="TextBox 25"/>
          <p:cNvSpPr txBox="1"/>
          <p:nvPr/>
        </p:nvSpPr>
        <p:spPr>
          <a:xfrm>
            <a:off x="3364243" y="9380538"/>
            <a:ext cx="3399352"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14. Display de alertas por pacientes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074" b="-14074"/>
            </a:stretch>
          </a:blipFill>
        </p:spPr>
      </p:sp>
      <p:grpSp>
        <p:nvGrpSpPr>
          <p:cNvPr id="3" name="Group 3"/>
          <p:cNvGrpSpPr/>
          <p:nvPr/>
        </p:nvGrpSpPr>
        <p:grpSpPr>
          <a:xfrm rot="5400000">
            <a:off x="6610988" y="2317671"/>
            <a:ext cx="3095105" cy="1970918"/>
            <a:chOff x="0" y="0"/>
            <a:chExt cx="4126807" cy="2627890"/>
          </a:xfrm>
        </p:grpSpPr>
        <p:grpSp>
          <p:nvGrpSpPr>
            <p:cNvPr id="4" name="Group 4"/>
            <p:cNvGrpSpPr/>
            <p:nvPr/>
          </p:nvGrpSpPr>
          <p:grpSpPr>
            <a:xfrm>
              <a:off x="0" y="0"/>
              <a:ext cx="2677473" cy="2627890"/>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3163284" y="764088"/>
              <a:ext cx="817521" cy="822937"/>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2821561" y="4435"/>
              <a:ext cx="391443" cy="394771"/>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grpSp>
        <p:nvGrpSpPr>
          <p:cNvPr id="13" name="Group 13"/>
          <p:cNvGrpSpPr/>
          <p:nvPr/>
        </p:nvGrpSpPr>
        <p:grpSpPr>
          <a:xfrm>
            <a:off x="607543" y="6649161"/>
            <a:ext cx="8106957" cy="2459516"/>
            <a:chOff x="0" y="0"/>
            <a:chExt cx="2135166" cy="647774"/>
          </a:xfrm>
        </p:grpSpPr>
        <p:sp>
          <p:nvSpPr>
            <p:cNvPr id="14" name="Freeform 14"/>
            <p:cNvSpPr/>
            <p:nvPr/>
          </p:nvSpPr>
          <p:spPr>
            <a:xfrm>
              <a:off x="0" y="0"/>
              <a:ext cx="2135166" cy="647774"/>
            </a:xfrm>
            <a:custGeom>
              <a:avLst/>
              <a:gdLst/>
              <a:ahLst/>
              <a:cxnLst/>
              <a:rect l="l" t="t" r="r" b="b"/>
              <a:pathLst>
                <a:path w="2135166" h="647774">
                  <a:moveTo>
                    <a:pt x="48704" y="0"/>
                  </a:moveTo>
                  <a:lnTo>
                    <a:pt x="2086462" y="0"/>
                  </a:lnTo>
                  <a:cubicBezTo>
                    <a:pt x="2099379" y="0"/>
                    <a:pt x="2111767" y="5131"/>
                    <a:pt x="2120901" y="14265"/>
                  </a:cubicBezTo>
                  <a:cubicBezTo>
                    <a:pt x="2130034" y="23399"/>
                    <a:pt x="2135166" y="35787"/>
                    <a:pt x="2135166" y="48704"/>
                  </a:cubicBezTo>
                  <a:lnTo>
                    <a:pt x="2135166" y="599070"/>
                  </a:lnTo>
                  <a:cubicBezTo>
                    <a:pt x="2135166" y="611987"/>
                    <a:pt x="2130034" y="624375"/>
                    <a:pt x="2120901" y="633509"/>
                  </a:cubicBezTo>
                  <a:cubicBezTo>
                    <a:pt x="2111767" y="642642"/>
                    <a:pt x="2099379" y="647774"/>
                    <a:pt x="2086462" y="647774"/>
                  </a:cubicBezTo>
                  <a:lnTo>
                    <a:pt x="48704" y="647774"/>
                  </a:lnTo>
                  <a:cubicBezTo>
                    <a:pt x="35787" y="647774"/>
                    <a:pt x="23399" y="642642"/>
                    <a:pt x="14265" y="633509"/>
                  </a:cubicBezTo>
                  <a:cubicBezTo>
                    <a:pt x="5131" y="624375"/>
                    <a:pt x="0" y="611987"/>
                    <a:pt x="0" y="599070"/>
                  </a:cubicBezTo>
                  <a:lnTo>
                    <a:pt x="0" y="48704"/>
                  </a:lnTo>
                  <a:cubicBezTo>
                    <a:pt x="0" y="35787"/>
                    <a:pt x="5131" y="23399"/>
                    <a:pt x="14265" y="14265"/>
                  </a:cubicBezTo>
                  <a:cubicBezTo>
                    <a:pt x="23399" y="5131"/>
                    <a:pt x="35787" y="0"/>
                    <a:pt x="48704" y="0"/>
                  </a:cubicBezTo>
                  <a:close/>
                </a:path>
              </a:pathLst>
            </a:custGeom>
            <a:solidFill>
              <a:srgbClr val="F0E9DF"/>
            </a:solidFill>
          </p:spPr>
        </p:sp>
        <p:sp>
          <p:nvSpPr>
            <p:cNvPr id="15" name="TextBox 15"/>
            <p:cNvSpPr txBox="1"/>
            <p:nvPr/>
          </p:nvSpPr>
          <p:spPr>
            <a:xfrm>
              <a:off x="0" y="-47625"/>
              <a:ext cx="2135166" cy="695399"/>
            </a:xfrm>
            <a:prstGeom prst="rect">
              <a:avLst/>
            </a:prstGeom>
          </p:spPr>
          <p:txBody>
            <a:bodyPr lIns="50800" tIns="50800" rIns="50800" bIns="50800" rtlCol="0" anchor="ctr"/>
            <a:lstStyle/>
            <a:p>
              <a:pPr algn="ctr">
                <a:lnSpc>
                  <a:spcPts val="2090"/>
                </a:lnSpc>
              </a:pPr>
              <a:endParaRPr/>
            </a:p>
          </p:txBody>
        </p:sp>
      </p:grpSp>
      <p:sp>
        <p:nvSpPr>
          <p:cNvPr id="16" name="Freeform 16"/>
          <p:cNvSpPr/>
          <p:nvPr/>
        </p:nvSpPr>
        <p:spPr>
          <a:xfrm>
            <a:off x="793710" y="6854176"/>
            <a:ext cx="7734623" cy="2049487"/>
          </a:xfrm>
          <a:custGeom>
            <a:avLst/>
            <a:gdLst/>
            <a:ahLst/>
            <a:cxnLst/>
            <a:rect l="l" t="t" r="r" b="b"/>
            <a:pathLst>
              <a:path w="7734623" h="2049487">
                <a:moveTo>
                  <a:pt x="0" y="0"/>
                </a:moveTo>
                <a:lnTo>
                  <a:pt x="7734623" y="0"/>
                </a:lnTo>
                <a:lnTo>
                  <a:pt x="7734623" y="2049487"/>
                </a:lnTo>
                <a:lnTo>
                  <a:pt x="0" y="2049487"/>
                </a:lnTo>
                <a:lnTo>
                  <a:pt x="0" y="0"/>
                </a:lnTo>
                <a:close/>
              </a:path>
            </a:pathLst>
          </a:custGeom>
          <a:blipFill>
            <a:blip r:embed="rId3"/>
            <a:stretch>
              <a:fillRect l="-10308" t="-439487" r="-5001"/>
            </a:stretch>
          </a:blipFill>
        </p:spPr>
      </p:sp>
      <p:grpSp>
        <p:nvGrpSpPr>
          <p:cNvPr id="17" name="Group 17"/>
          <p:cNvGrpSpPr/>
          <p:nvPr/>
        </p:nvGrpSpPr>
        <p:grpSpPr>
          <a:xfrm>
            <a:off x="607543" y="1028700"/>
            <a:ext cx="5682498" cy="5201391"/>
            <a:chOff x="0" y="0"/>
            <a:chExt cx="1496625" cy="1369914"/>
          </a:xfrm>
        </p:grpSpPr>
        <p:sp>
          <p:nvSpPr>
            <p:cNvPr id="18" name="Freeform 18"/>
            <p:cNvSpPr/>
            <p:nvPr/>
          </p:nvSpPr>
          <p:spPr>
            <a:xfrm>
              <a:off x="0" y="0"/>
              <a:ext cx="1496625" cy="1369914"/>
            </a:xfrm>
            <a:custGeom>
              <a:avLst/>
              <a:gdLst/>
              <a:ahLst/>
              <a:cxnLst/>
              <a:rect l="l" t="t" r="r" b="b"/>
              <a:pathLst>
                <a:path w="1496625" h="1369914">
                  <a:moveTo>
                    <a:pt x="69483" y="0"/>
                  </a:moveTo>
                  <a:lnTo>
                    <a:pt x="1427142" y="0"/>
                  </a:lnTo>
                  <a:cubicBezTo>
                    <a:pt x="1445570" y="0"/>
                    <a:pt x="1463243" y="7321"/>
                    <a:pt x="1476274" y="20351"/>
                  </a:cubicBezTo>
                  <a:cubicBezTo>
                    <a:pt x="1489305" y="33382"/>
                    <a:pt x="1496625" y="51055"/>
                    <a:pt x="1496625" y="69483"/>
                  </a:cubicBezTo>
                  <a:lnTo>
                    <a:pt x="1496625" y="1300431"/>
                  </a:lnTo>
                  <a:cubicBezTo>
                    <a:pt x="1496625" y="1318859"/>
                    <a:pt x="1489305" y="1336532"/>
                    <a:pt x="1476274" y="1349563"/>
                  </a:cubicBezTo>
                  <a:cubicBezTo>
                    <a:pt x="1463243" y="1362593"/>
                    <a:pt x="1445570" y="1369914"/>
                    <a:pt x="1427142" y="1369914"/>
                  </a:cubicBezTo>
                  <a:lnTo>
                    <a:pt x="69483" y="1369914"/>
                  </a:lnTo>
                  <a:cubicBezTo>
                    <a:pt x="51055" y="1369914"/>
                    <a:pt x="33382" y="1362593"/>
                    <a:pt x="20351" y="1349563"/>
                  </a:cubicBezTo>
                  <a:cubicBezTo>
                    <a:pt x="7321" y="1336532"/>
                    <a:pt x="0" y="1318859"/>
                    <a:pt x="0" y="1300431"/>
                  </a:cubicBezTo>
                  <a:lnTo>
                    <a:pt x="0" y="69483"/>
                  </a:lnTo>
                  <a:cubicBezTo>
                    <a:pt x="0" y="51055"/>
                    <a:pt x="7321" y="33382"/>
                    <a:pt x="20351" y="20351"/>
                  </a:cubicBezTo>
                  <a:cubicBezTo>
                    <a:pt x="33382" y="7321"/>
                    <a:pt x="51055" y="0"/>
                    <a:pt x="69483" y="0"/>
                  </a:cubicBezTo>
                  <a:close/>
                </a:path>
              </a:pathLst>
            </a:custGeom>
            <a:solidFill>
              <a:srgbClr val="F0E9DF"/>
            </a:solidFill>
          </p:spPr>
        </p:sp>
        <p:sp>
          <p:nvSpPr>
            <p:cNvPr id="19" name="TextBox 19"/>
            <p:cNvSpPr txBox="1"/>
            <p:nvPr/>
          </p:nvSpPr>
          <p:spPr>
            <a:xfrm>
              <a:off x="0" y="-47625"/>
              <a:ext cx="1496625" cy="1417539"/>
            </a:xfrm>
            <a:prstGeom prst="rect">
              <a:avLst/>
            </a:prstGeom>
          </p:spPr>
          <p:txBody>
            <a:bodyPr lIns="50800" tIns="50800" rIns="50800" bIns="50800" rtlCol="0" anchor="ctr"/>
            <a:lstStyle/>
            <a:p>
              <a:pPr algn="ctr">
                <a:lnSpc>
                  <a:spcPts val="2090"/>
                </a:lnSpc>
              </a:pPr>
              <a:endParaRPr/>
            </a:p>
          </p:txBody>
        </p:sp>
      </p:grpSp>
      <p:sp>
        <p:nvSpPr>
          <p:cNvPr id="20" name="Freeform 20"/>
          <p:cNvSpPr/>
          <p:nvPr/>
        </p:nvSpPr>
        <p:spPr>
          <a:xfrm>
            <a:off x="845471" y="1192661"/>
            <a:ext cx="5198796" cy="4877635"/>
          </a:xfrm>
          <a:custGeom>
            <a:avLst/>
            <a:gdLst/>
            <a:ahLst/>
            <a:cxnLst/>
            <a:rect l="l" t="t" r="r" b="b"/>
            <a:pathLst>
              <a:path w="5198796" h="4877635">
                <a:moveTo>
                  <a:pt x="0" y="0"/>
                </a:moveTo>
                <a:lnTo>
                  <a:pt x="5198796" y="0"/>
                </a:lnTo>
                <a:lnTo>
                  <a:pt x="5198796" y="4877635"/>
                </a:lnTo>
                <a:lnTo>
                  <a:pt x="0" y="4877635"/>
                </a:lnTo>
                <a:lnTo>
                  <a:pt x="0" y="0"/>
                </a:lnTo>
                <a:close/>
              </a:path>
            </a:pathLst>
          </a:custGeom>
          <a:blipFill>
            <a:blip r:embed="rId4"/>
            <a:stretch>
              <a:fillRect/>
            </a:stretch>
          </a:blipFill>
        </p:spPr>
      </p:sp>
      <p:grpSp>
        <p:nvGrpSpPr>
          <p:cNvPr id="21" name="Group 21"/>
          <p:cNvGrpSpPr/>
          <p:nvPr/>
        </p:nvGrpSpPr>
        <p:grpSpPr>
          <a:xfrm>
            <a:off x="9836777" y="2164761"/>
            <a:ext cx="7663231" cy="7192773"/>
            <a:chOff x="0" y="0"/>
            <a:chExt cx="2018299" cy="1894393"/>
          </a:xfrm>
        </p:grpSpPr>
        <p:sp>
          <p:nvSpPr>
            <p:cNvPr id="22" name="Freeform 22"/>
            <p:cNvSpPr/>
            <p:nvPr/>
          </p:nvSpPr>
          <p:spPr>
            <a:xfrm>
              <a:off x="0" y="0"/>
              <a:ext cx="2018299" cy="1894393"/>
            </a:xfrm>
            <a:custGeom>
              <a:avLst/>
              <a:gdLst/>
              <a:ahLst/>
              <a:cxnLst/>
              <a:rect l="l" t="t" r="r" b="b"/>
              <a:pathLst>
                <a:path w="2018299" h="1894393">
                  <a:moveTo>
                    <a:pt x="51524" y="0"/>
                  </a:moveTo>
                  <a:lnTo>
                    <a:pt x="1966776" y="0"/>
                  </a:lnTo>
                  <a:cubicBezTo>
                    <a:pt x="1980441" y="0"/>
                    <a:pt x="1993546" y="5428"/>
                    <a:pt x="2003209" y="15091"/>
                  </a:cubicBezTo>
                  <a:cubicBezTo>
                    <a:pt x="2012871" y="24754"/>
                    <a:pt x="2018299" y="37859"/>
                    <a:pt x="2018299" y="51524"/>
                  </a:cubicBezTo>
                  <a:lnTo>
                    <a:pt x="2018299" y="1842869"/>
                  </a:lnTo>
                  <a:cubicBezTo>
                    <a:pt x="2018299" y="1856534"/>
                    <a:pt x="2012871" y="1869639"/>
                    <a:pt x="2003209" y="1879302"/>
                  </a:cubicBezTo>
                  <a:cubicBezTo>
                    <a:pt x="1993546" y="1888965"/>
                    <a:pt x="1980441" y="1894393"/>
                    <a:pt x="1966776" y="1894393"/>
                  </a:cubicBezTo>
                  <a:lnTo>
                    <a:pt x="51524" y="1894393"/>
                  </a:lnTo>
                  <a:cubicBezTo>
                    <a:pt x="37859" y="1894393"/>
                    <a:pt x="24754" y="1888965"/>
                    <a:pt x="15091" y="1879302"/>
                  </a:cubicBezTo>
                  <a:cubicBezTo>
                    <a:pt x="5428" y="1869639"/>
                    <a:pt x="0" y="1856534"/>
                    <a:pt x="0" y="1842869"/>
                  </a:cubicBezTo>
                  <a:lnTo>
                    <a:pt x="0" y="51524"/>
                  </a:lnTo>
                  <a:cubicBezTo>
                    <a:pt x="0" y="37859"/>
                    <a:pt x="5428" y="24754"/>
                    <a:pt x="15091" y="15091"/>
                  </a:cubicBezTo>
                  <a:cubicBezTo>
                    <a:pt x="24754" y="5428"/>
                    <a:pt x="37859" y="0"/>
                    <a:pt x="51524" y="0"/>
                  </a:cubicBezTo>
                  <a:close/>
                </a:path>
              </a:pathLst>
            </a:custGeom>
            <a:solidFill>
              <a:srgbClr val="F0E9DF"/>
            </a:solidFill>
          </p:spPr>
        </p:sp>
        <p:sp>
          <p:nvSpPr>
            <p:cNvPr id="23" name="TextBox 23"/>
            <p:cNvSpPr txBox="1"/>
            <p:nvPr/>
          </p:nvSpPr>
          <p:spPr>
            <a:xfrm>
              <a:off x="0" y="-47625"/>
              <a:ext cx="2018299" cy="1942018"/>
            </a:xfrm>
            <a:prstGeom prst="rect">
              <a:avLst/>
            </a:prstGeom>
          </p:spPr>
          <p:txBody>
            <a:bodyPr lIns="50800" tIns="50800" rIns="50800" bIns="50800" rtlCol="0" anchor="ctr"/>
            <a:lstStyle/>
            <a:p>
              <a:pPr algn="ctr">
                <a:lnSpc>
                  <a:spcPts val="2090"/>
                </a:lnSpc>
              </a:pPr>
              <a:endParaRPr/>
            </a:p>
          </p:txBody>
        </p:sp>
      </p:grpSp>
      <p:sp>
        <p:nvSpPr>
          <p:cNvPr id="24" name="Freeform 24"/>
          <p:cNvSpPr/>
          <p:nvPr/>
        </p:nvSpPr>
        <p:spPr>
          <a:xfrm>
            <a:off x="10217799" y="2353151"/>
            <a:ext cx="6901186" cy="6858590"/>
          </a:xfrm>
          <a:custGeom>
            <a:avLst/>
            <a:gdLst/>
            <a:ahLst/>
            <a:cxnLst/>
            <a:rect l="l" t="t" r="r" b="b"/>
            <a:pathLst>
              <a:path w="6901186" h="6858590">
                <a:moveTo>
                  <a:pt x="0" y="0"/>
                </a:moveTo>
                <a:lnTo>
                  <a:pt x="6901186" y="0"/>
                </a:lnTo>
                <a:lnTo>
                  <a:pt x="6901186" y="6858590"/>
                </a:lnTo>
                <a:lnTo>
                  <a:pt x="0" y="6858590"/>
                </a:lnTo>
                <a:lnTo>
                  <a:pt x="0" y="0"/>
                </a:lnTo>
                <a:close/>
              </a:path>
            </a:pathLst>
          </a:custGeom>
          <a:blipFill>
            <a:blip r:embed="rId5"/>
            <a:stretch>
              <a:fillRect t="-621"/>
            </a:stretch>
          </a:blipFill>
        </p:spPr>
      </p:sp>
      <p:sp>
        <p:nvSpPr>
          <p:cNvPr id="25" name="TextBox 25"/>
          <p:cNvSpPr txBox="1"/>
          <p:nvPr/>
        </p:nvSpPr>
        <p:spPr>
          <a:xfrm>
            <a:off x="9144000" y="402908"/>
            <a:ext cx="4467003"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ZephyrL</a:t>
            </a:r>
            <a:r>
              <a:rPr lang="en-US" sz="6600" u="none" strike="noStrike" spc="224">
                <a:solidFill>
                  <a:srgbClr val="000000"/>
                </a:solidFill>
                <a:latin typeface="Eyesome Script"/>
                <a:ea typeface="Eyesome Script"/>
                <a:cs typeface="Eyesome Script"/>
                <a:sym typeface="Eyesome Script"/>
              </a:rPr>
              <a:t>ife</a:t>
            </a:r>
          </a:p>
        </p:txBody>
      </p:sp>
      <p:sp>
        <p:nvSpPr>
          <p:cNvPr id="26" name="TextBox 26"/>
          <p:cNvSpPr txBox="1"/>
          <p:nvPr/>
        </p:nvSpPr>
        <p:spPr>
          <a:xfrm>
            <a:off x="12042044" y="9494838"/>
            <a:ext cx="3953106"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18. Gráfico de tendencias según variable</a:t>
            </a:r>
          </a:p>
        </p:txBody>
      </p:sp>
      <p:sp>
        <p:nvSpPr>
          <p:cNvPr id="27" name="TextBox 27"/>
          <p:cNvSpPr txBox="1"/>
          <p:nvPr/>
        </p:nvSpPr>
        <p:spPr>
          <a:xfrm>
            <a:off x="1037929" y="6268176"/>
            <a:ext cx="4821725"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16. Umbrales relacionados a cada variable fisiológica.</a:t>
            </a:r>
          </a:p>
        </p:txBody>
      </p:sp>
      <p:sp>
        <p:nvSpPr>
          <p:cNvPr id="28" name="TextBox 28"/>
          <p:cNvSpPr txBox="1"/>
          <p:nvPr/>
        </p:nvSpPr>
        <p:spPr>
          <a:xfrm>
            <a:off x="2351357" y="9086850"/>
            <a:ext cx="4821725"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17. Aplicación y ubicación del parche externo.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074" b="-14074"/>
            </a:stretch>
          </a:blipFill>
        </p:spPr>
      </p:sp>
      <p:grpSp>
        <p:nvGrpSpPr>
          <p:cNvPr id="3" name="Group 3"/>
          <p:cNvGrpSpPr/>
          <p:nvPr/>
        </p:nvGrpSpPr>
        <p:grpSpPr>
          <a:xfrm rot="5400000">
            <a:off x="8314676" y="5939708"/>
            <a:ext cx="3095105" cy="1970918"/>
            <a:chOff x="0" y="0"/>
            <a:chExt cx="4126807" cy="2627890"/>
          </a:xfrm>
        </p:grpSpPr>
        <p:grpSp>
          <p:nvGrpSpPr>
            <p:cNvPr id="4" name="Group 4"/>
            <p:cNvGrpSpPr/>
            <p:nvPr/>
          </p:nvGrpSpPr>
          <p:grpSpPr>
            <a:xfrm>
              <a:off x="0" y="0"/>
              <a:ext cx="2677473" cy="2627890"/>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3163284" y="764088"/>
              <a:ext cx="817521" cy="822937"/>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2821561" y="4435"/>
              <a:ext cx="391443" cy="394771"/>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grpSp>
        <p:nvGrpSpPr>
          <p:cNvPr id="13" name="Group 13"/>
          <p:cNvGrpSpPr/>
          <p:nvPr/>
        </p:nvGrpSpPr>
        <p:grpSpPr>
          <a:xfrm>
            <a:off x="10878436" y="452442"/>
            <a:ext cx="6712611" cy="9039914"/>
            <a:chOff x="0" y="0"/>
            <a:chExt cx="1767930" cy="2380883"/>
          </a:xfrm>
        </p:grpSpPr>
        <p:sp>
          <p:nvSpPr>
            <p:cNvPr id="14" name="Freeform 14"/>
            <p:cNvSpPr/>
            <p:nvPr/>
          </p:nvSpPr>
          <p:spPr>
            <a:xfrm>
              <a:off x="0" y="0"/>
              <a:ext cx="1767930" cy="2380883"/>
            </a:xfrm>
            <a:custGeom>
              <a:avLst/>
              <a:gdLst/>
              <a:ahLst/>
              <a:cxnLst/>
              <a:rect l="l" t="t" r="r" b="b"/>
              <a:pathLst>
                <a:path w="1767930" h="2380883">
                  <a:moveTo>
                    <a:pt x="58820" y="0"/>
                  </a:moveTo>
                  <a:lnTo>
                    <a:pt x="1709110" y="0"/>
                  </a:lnTo>
                  <a:cubicBezTo>
                    <a:pt x="1741596" y="0"/>
                    <a:pt x="1767930" y="26335"/>
                    <a:pt x="1767930" y="58820"/>
                  </a:cubicBezTo>
                  <a:lnTo>
                    <a:pt x="1767930" y="2322063"/>
                  </a:lnTo>
                  <a:cubicBezTo>
                    <a:pt x="1767930" y="2354548"/>
                    <a:pt x="1741596" y="2380883"/>
                    <a:pt x="1709110" y="2380883"/>
                  </a:cubicBezTo>
                  <a:lnTo>
                    <a:pt x="58820" y="2380883"/>
                  </a:lnTo>
                  <a:cubicBezTo>
                    <a:pt x="43220" y="2380883"/>
                    <a:pt x="28259" y="2374686"/>
                    <a:pt x="17228" y="2363655"/>
                  </a:cubicBezTo>
                  <a:cubicBezTo>
                    <a:pt x="6197" y="2352624"/>
                    <a:pt x="0" y="2337663"/>
                    <a:pt x="0" y="2322063"/>
                  </a:cubicBezTo>
                  <a:lnTo>
                    <a:pt x="0" y="58820"/>
                  </a:lnTo>
                  <a:cubicBezTo>
                    <a:pt x="0" y="43220"/>
                    <a:pt x="6197" y="28259"/>
                    <a:pt x="17228" y="17228"/>
                  </a:cubicBezTo>
                  <a:cubicBezTo>
                    <a:pt x="28259" y="6197"/>
                    <a:pt x="43220" y="0"/>
                    <a:pt x="58820" y="0"/>
                  </a:cubicBezTo>
                  <a:close/>
                </a:path>
              </a:pathLst>
            </a:custGeom>
            <a:solidFill>
              <a:srgbClr val="F0E9DF"/>
            </a:solidFill>
          </p:spPr>
        </p:sp>
        <p:sp>
          <p:nvSpPr>
            <p:cNvPr id="15" name="TextBox 15"/>
            <p:cNvSpPr txBox="1"/>
            <p:nvPr/>
          </p:nvSpPr>
          <p:spPr>
            <a:xfrm>
              <a:off x="0" y="-47625"/>
              <a:ext cx="1767930" cy="2428508"/>
            </a:xfrm>
            <a:prstGeom prst="rect">
              <a:avLst/>
            </a:prstGeom>
          </p:spPr>
          <p:txBody>
            <a:bodyPr lIns="50800" tIns="50800" rIns="50800" bIns="50800" rtlCol="0" anchor="ctr"/>
            <a:lstStyle/>
            <a:p>
              <a:pPr algn="ctr">
                <a:lnSpc>
                  <a:spcPts val="2090"/>
                </a:lnSpc>
              </a:pPr>
              <a:endParaRPr/>
            </a:p>
          </p:txBody>
        </p:sp>
      </p:grpSp>
      <p:sp>
        <p:nvSpPr>
          <p:cNvPr id="16" name="Freeform 16"/>
          <p:cNvSpPr/>
          <p:nvPr/>
        </p:nvSpPr>
        <p:spPr>
          <a:xfrm>
            <a:off x="11297041" y="739359"/>
            <a:ext cx="5874730" cy="8518941"/>
          </a:xfrm>
          <a:custGeom>
            <a:avLst/>
            <a:gdLst/>
            <a:ahLst/>
            <a:cxnLst/>
            <a:rect l="l" t="t" r="r" b="b"/>
            <a:pathLst>
              <a:path w="5874730" h="8518941">
                <a:moveTo>
                  <a:pt x="0" y="0"/>
                </a:moveTo>
                <a:lnTo>
                  <a:pt x="5874730" y="0"/>
                </a:lnTo>
                <a:lnTo>
                  <a:pt x="5874730" y="8518941"/>
                </a:lnTo>
                <a:lnTo>
                  <a:pt x="0" y="8518941"/>
                </a:lnTo>
                <a:lnTo>
                  <a:pt x="0" y="0"/>
                </a:lnTo>
                <a:close/>
              </a:path>
            </a:pathLst>
          </a:custGeom>
          <a:blipFill>
            <a:blip r:embed="rId3"/>
            <a:stretch>
              <a:fillRect l="-2356" r="-2719"/>
            </a:stretch>
          </a:blipFill>
        </p:spPr>
      </p:sp>
      <p:grpSp>
        <p:nvGrpSpPr>
          <p:cNvPr id="17" name="Group 17"/>
          <p:cNvGrpSpPr/>
          <p:nvPr/>
        </p:nvGrpSpPr>
        <p:grpSpPr>
          <a:xfrm>
            <a:off x="655761" y="4621311"/>
            <a:ext cx="8221009" cy="4537611"/>
            <a:chOff x="0" y="0"/>
            <a:chExt cx="2165204" cy="1195091"/>
          </a:xfrm>
        </p:grpSpPr>
        <p:sp>
          <p:nvSpPr>
            <p:cNvPr id="18" name="Freeform 18"/>
            <p:cNvSpPr/>
            <p:nvPr/>
          </p:nvSpPr>
          <p:spPr>
            <a:xfrm>
              <a:off x="0" y="0"/>
              <a:ext cx="2165204" cy="1195091"/>
            </a:xfrm>
            <a:custGeom>
              <a:avLst/>
              <a:gdLst/>
              <a:ahLst/>
              <a:cxnLst/>
              <a:rect l="l" t="t" r="r" b="b"/>
              <a:pathLst>
                <a:path w="2165204" h="1195091">
                  <a:moveTo>
                    <a:pt x="48028" y="0"/>
                  </a:moveTo>
                  <a:lnTo>
                    <a:pt x="2117176" y="0"/>
                  </a:lnTo>
                  <a:cubicBezTo>
                    <a:pt x="2143701" y="0"/>
                    <a:pt x="2165204" y="21503"/>
                    <a:pt x="2165204" y="48028"/>
                  </a:cubicBezTo>
                  <a:lnTo>
                    <a:pt x="2165204" y="1147063"/>
                  </a:lnTo>
                  <a:cubicBezTo>
                    <a:pt x="2165204" y="1173588"/>
                    <a:pt x="2143701" y="1195091"/>
                    <a:pt x="2117176" y="1195091"/>
                  </a:cubicBezTo>
                  <a:lnTo>
                    <a:pt x="48028" y="1195091"/>
                  </a:lnTo>
                  <a:cubicBezTo>
                    <a:pt x="21503" y="1195091"/>
                    <a:pt x="0" y="1173588"/>
                    <a:pt x="0" y="1147063"/>
                  </a:cubicBezTo>
                  <a:lnTo>
                    <a:pt x="0" y="48028"/>
                  </a:lnTo>
                  <a:cubicBezTo>
                    <a:pt x="0" y="21503"/>
                    <a:pt x="21503" y="0"/>
                    <a:pt x="48028" y="0"/>
                  </a:cubicBezTo>
                  <a:close/>
                </a:path>
              </a:pathLst>
            </a:custGeom>
            <a:solidFill>
              <a:srgbClr val="F0E9DF"/>
            </a:solidFill>
          </p:spPr>
        </p:sp>
        <p:sp>
          <p:nvSpPr>
            <p:cNvPr id="19" name="TextBox 19"/>
            <p:cNvSpPr txBox="1"/>
            <p:nvPr/>
          </p:nvSpPr>
          <p:spPr>
            <a:xfrm>
              <a:off x="0" y="-47625"/>
              <a:ext cx="2165204" cy="1242716"/>
            </a:xfrm>
            <a:prstGeom prst="rect">
              <a:avLst/>
            </a:prstGeom>
          </p:spPr>
          <p:txBody>
            <a:bodyPr lIns="50800" tIns="50800" rIns="50800" bIns="50800" rtlCol="0" anchor="ctr"/>
            <a:lstStyle/>
            <a:p>
              <a:pPr algn="ctr">
                <a:lnSpc>
                  <a:spcPts val="2090"/>
                </a:lnSpc>
              </a:pPr>
              <a:endParaRPr/>
            </a:p>
          </p:txBody>
        </p:sp>
      </p:grpSp>
      <p:sp>
        <p:nvSpPr>
          <p:cNvPr id="20" name="Freeform 20"/>
          <p:cNvSpPr/>
          <p:nvPr/>
        </p:nvSpPr>
        <p:spPr>
          <a:xfrm>
            <a:off x="821710" y="4933673"/>
            <a:ext cx="7927681" cy="3934623"/>
          </a:xfrm>
          <a:custGeom>
            <a:avLst/>
            <a:gdLst/>
            <a:ahLst/>
            <a:cxnLst/>
            <a:rect l="l" t="t" r="r" b="b"/>
            <a:pathLst>
              <a:path w="7927681" h="3934623">
                <a:moveTo>
                  <a:pt x="0" y="0"/>
                </a:moveTo>
                <a:lnTo>
                  <a:pt x="7927681" y="0"/>
                </a:lnTo>
                <a:lnTo>
                  <a:pt x="7927681" y="3934623"/>
                </a:lnTo>
                <a:lnTo>
                  <a:pt x="0" y="3934623"/>
                </a:lnTo>
                <a:lnTo>
                  <a:pt x="0" y="0"/>
                </a:lnTo>
                <a:close/>
              </a:path>
            </a:pathLst>
          </a:custGeom>
          <a:blipFill>
            <a:blip r:embed="rId4"/>
            <a:stretch>
              <a:fillRect/>
            </a:stretch>
          </a:blipFill>
        </p:spPr>
      </p:sp>
      <p:sp>
        <p:nvSpPr>
          <p:cNvPr id="21" name="TextBox 21"/>
          <p:cNvSpPr txBox="1"/>
          <p:nvPr/>
        </p:nvSpPr>
        <p:spPr>
          <a:xfrm>
            <a:off x="1028700" y="904875"/>
            <a:ext cx="9849736" cy="2299335"/>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VitalStream® — Caretaker M</a:t>
            </a:r>
            <a:r>
              <a:rPr lang="en-US" sz="6600" u="none" strike="noStrike" spc="224">
                <a:solidFill>
                  <a:srgbClr val="000000"/>
                </a:solidFill>
                <a:latin typeface="Eyesome Script"/>
                <a:ea typeface="Eyesome Script"/>
                <a:cs typeface="Eyesome Script"/>
                <a:sym typeface="Eyesome Script"/>
              </a:rPr>
              <a:t>edical </a:t>
            </a:r>
          </a:p>
        </p:txBody>
      </p:sp>
      <p:sp>
        <p:nvSpPr>
          <p:cNvPr id="22" name="TextBox 22"/>
          <p:cNvSpPr txBox="1"/>
          <p:nvPr/>
        </p:nvSpPr>
        <p:spPr>
          <a:xfrm>
            <a:off x="2603353" y="9320906"/>
            <a:ext cx="4325824"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19. Módulo externo para sensar pulsoximetría.</a:t>
            </a:r>
          </a:p>
        </p:txBody>
      </p:sp>
      <p:sp>
        <p:nvSpPr>
          <p:cNvPr id="23" name="TextBox 23"/>
          <p:cNvSpPr txBox="1"/>
          <p:nvPr/>
        </p:nvSpPr>
        <p:spPr>
          <a:xfrm>
            <a:off x="11821241" y="9549506"/>
            <a:ext cx="4826332" cy="285750"/>
          </a:xfrm>
          <a:prstGeom prst="rect">
            <a:avLst/>
          </a:prstGeom>
        </p:spPr>
        <p:txBody>
          <a:bodyPr lIns="0" tIns="0" rIns="0" bIns="0" rtlCol="0" anchor="t">
            <a:spAutoFit/>
          </a:bodyPr>
          <a:lstStyle/>
          <a:p>
            <a:pPr algn="l">
              <a:lnSpc>
                <a:spcPts val="2100"/>
              </a:lnSpc>
            </a:pPr>
            <a:r>
              <a:rPr lang="en-US" sz="1500">
                <a:solidFill>
                  <a:srgbClr val="000000"/>
                </a:solidFill>
                <a:latin typeface="Catchy Mager"/>
                <a:ea typeface="Catchy Mager"/>
                <a:cs typeface="Catchy Mager"/>
                <a:sym typeface="Catchy Mager"/>
              </a:rPr>
              <a:t>Figura 20. Display de 19 variables fisiológicas de VitalStream.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4111" b="-14111"/>
            </a:stretch>
          </a:blipFill>
        </p:spPr>
      </p:sp>
      <p:grpSp>
        <p:nvGrpSpPr>
          <p:cNvPr id="3" name="Group 3"/>
          <p:cNvGrpSpPr/>
          <p:nvPr/>
        </p:nvGrpSpPr>
        <p:grpSpPr>
          <a:xfrm rot="-10800000">
            <a:off x="9099344" y="-213970"/>
            <a:ext cx="3170004" cy="2018612"/>
            <a:chOff x="0" y="0"/>
            <a:chExt cx="4226672" cy="2691483"/>
          </a:xfrm>
        </p:grpSpPr>
        <p:grpSp>
          <p:nvGrpSpPr>
            <p:cNvPr id="4" name="Group 4"/>
            <p:cNvGrpSpPr/>
            <p:nvPr/>
          </p:nvGrpSpPr>
          <p:grpSpPr>
            <a:xfrm>
              <a:off x="0" y="0"/>
              <a:ext cx="2742266" cy="2691483"/>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3239833" y="782578"/>
              <a:ext cx="837305" cy="842851"/>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2889840" y="4542"/>
              <a:ext cx="400916" cy="404324"/>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3" name="Freeform 13"/>
          <p:cNvSpPr/>
          <p:nvPr/>
        </p:nvSpPr>
        <p:spPr>
          <a:xfrm>
            <a:off x="863536" y="1535358"/>
            <a:ext cx="17021207" cy="9219820"/>
          </a:xfrm>
          <a:custGeom>
            <a:avLst/>
            <a:gdLst/>
            <a:ahLst/>
            <a:cxnLst/>
            <a:rect l="l" t="t" r="r" b="b"/>
            <a:pathLst>
              <a:path w="17021207" h="9219820">
                <a:moveTo>
                  <a:pt x="0" y="0"/>
                </a:moveTo>
                <a:lnTo>
                  <a:pt x="17021207" y="0"/>
                </a:lnTo>
                <a:lnTo>
                  <a:pt x="17021207" y="9219821"/>
                </a:lnTo>
                <a:lnTo>
                  <a:pt x="0" y="9219821"/>
                </a:lnTo>
                <a:lnTo>
                  <a:pt x="0" y="0"/>
                </a:lnTo>
                <a:close/>
              </a:path>
            </a:pathLst>
          </a:custGeom>
          <a:blipFill>
            <a:blip r:embed="rId3"/>
            <a:stretch>
              <a:fillRect/>
            </a:stretch>
          </a:blipFill>
        </p:spPr>
      </p:sp>
      <p:sp>
        <p:nvSpPr>
          <p:cNvPr id="14" name="TextBox 14"/>
          <p:cNvSpPr txBox="1"/>
          <p:nvPr/>
        </p:nvSpPr>
        <p:spPr>
          <a:xfrm>
            <a:off x="384079" y="169544"/>
            <a:ext cx="14447919"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Páginas de fabricantes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grpSp>
        <p:nvGrpSpPr>
          <p:cNvPr id="3" name="Group 3"/>
          <p:cNvGrpSpPr/>
          <p:nvPr/>
        </p:nvGrpSpPr>
        <p:grpSpPr>
          <a:xfrm>
            <a:off x="14049576" y="9627061"/>
            <a:ext cx="4238424" cy="2698967"/>
            <a:chOff x="0" y="0"/>
            <a:chExt cx="5651233" cy="3598622"/>
          </a:xfrm>
        </p:grpSpPr>
        <p:grpSp>
          <p:nvGrpSpPr>
            <p:cNvPr id="4" name="Group 4"/>
            <p:cNvGrpSpPr/>
            <p:nvPr/>
          </p:nvGrpSpPr>
          <p:grpSpPr>
            <a:xfrm>
              <a:off x="0" y="0"/>
              <a:ext cx="3666521" cy="3598622"/>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4331788" y="1046339"/>
              <a:ext cx="1119511" cy="1126926"/>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3863834" y="6073"/>
              <a:ext cx="536041" cy="540597"/>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3" name="Freeform 13"/>
          <p:cNvSpPr/>
          <p:nvPr/>
        </p:nvSpPr>
        <p:spPr>
          <a:xfrm>
            <a:off x="275895" y="1841759"/>
            <a:ext cx="17736210" cy="7558287"/>
          </a:xfrm>
          <a:custGeom>
            <a:avLst/>
            <a:gdLst/>
            <a:ahLst/>
            <a:cxnLst/>
            <a:rect l="l" t="t" r="r" b="b"/>
            <a:pathLst>
              <a:path w="17736210" h="7558287">
                <a:moveTo>
                  <a:pt x="0" y="0"/>
                </a:moveTo>
                <a:lnTo>
                  <a:pt x="17736210" y="0"/>
                </a:lnTo>
                <a:lnTo>
                  <a:pt x="17736210" y="7558286"/>
                </a:lnTo>
                <a:lnTo>
                  <a:pt x="0" y="7558286"/>
                </a:lnTo>
                <a:lnTo>
                  <a:pt x="0" y="0"/>
                </a:lnTo>
                <a:close/>
              </a:path>
            </a:pathLst>
          </a:custGeom>
          <a:blipFill>
            <a:blip r:embed="rId3"/>
            <a:stretch>
              <a:fillRect l="-20" r="-6203" b="-6716"/>
            </a:stretch>
          </a:blipFill>
        </p:spPr>
      </p:sp>
      <p:sp>
        <p:nvSpPr>
          <p:cNvPr id="14" name="TextBox 14"/>
          <p:cNvSpPr txBox="1"/>
          <p:nvPr/>
        </p:nvSpPr>
        <p:spPr>
          <a:xfrm>
            <a:off x="6040125" y="202696"/>
            <a:ext cx="9938452"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Lista de exigencias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111" b="-14111"/>
            </a:stretch>
          </a:blipFill>
        </p:spPr>
      </p:sp>
      <p:sp>
        <p:nvSpPr>
          <p:cNvPr id="3" name="TextBox 3"/>
          <p:cNvSpPr txBox="1"/>
          <p:nvPr/>
        </p:nvSpPr>
        <p:spPr>
          <a:xfrm>
            <a:off x="1851999" y="3705124"/>
            <a:ext cx="16436001" cy="1872602"/>
          </a:xfrm>
          <a:prstGeom prst="rect">
            <a:avLst/>
          </a:prstGeom>
        </p:spPr>
        <p:txBody>
          <a:bodyPr lIns="0" tIns="0" rIns="0" bIns="0" rtlCol="0" anchor="t">
            <a:spAutoFit/>
          </a:bodyPr>
          <a:lstStyle/>
          <a:p>
            <a:pPr marL="0" lvl="0" indent="0" algn="l">
              <a:lnSpc>
                <a:spcPts val="15394"/>
              </a:lnSpc>
              <a:spcBef>
                <a:spcPct val="0"/>
              </a:spcBef>
            </a:pPr>
            <a:r>
              <a:rPr lang="en-US" sz="10995" spc="373">
                <a:solidFill>
                  <a:srgbClr val="000000"/>
                </a:solidFill>
                <a:latin typeface="Eyesome Script"/>
                <a:ea typeface="Eyesome Script"/>
                <a:cs typeface="Eyesome Script"/>
                <a:sym typeface="Eyesome Script"/>
              </a:rPr>
              <a:t>Estructura de funciones</a:t>
            </a:r>
          </a:p>
        </p:txBody>
      </p:sp>
      <p:grpSp>
        <p:nvGrpSpPr>
          <p:cNvPr id="4" name="Group 4"/>
          <p:cNvGrpSpPr/>
          <p:nvPr/>
        </p:nvGrpSpPr>
        <p:grpSpPr>
          <a:xfrm>
            <a:off x="852035" y="3965060"/>
            <a:ext cx="353329" cy="1552755"/>
            <a:chOff x="0" y="0"/>
            <a:chExt cx="471106" cy="2070340"/>
          </a:xfrm>
        </p:grpSpPr>
        <p:grpSp>
          <p:nvGrpSpPr>
            <p:cNvPr id="5" name="Group 5"/>
            <p:cNvGrpSpPr/>
            <p:nvPr/>
          </p:nvGrpSpPr>
          <p:grpSpPr>
            <a:xfrm>
              <a:off x="0" y="0"/>
              <a:ext cx="471106" cy="475110"/>
              <a:chOff x="0" y="0"/>
              <a:chExt cx="685800" cy="693420"/>
            </a:xfrm>
          </p:grpSpPr>
          <p:sp>
            <p:nvSpPr>
              <p:cNvPr id="6" name="Freeform 6"/>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7" name="TextBox 7"/>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8" name="Group 8"/>
            <p:cNvGrpSpPr/>
            <p:nvPr/>
          </p:nvGrpSpPr>
          <p:grpSpPr>
            <a:xfrm>
              <a:off x="0" y="797615"/>
              <a:ext cx="471106" cy="475110"/>
              <a:chOff x="0" y="0"/>
              <a:chExt cx="685800" cy="693420"/>
            </a:xfrm>
          </p:grpSpPr>
          <p:sp>
            <p:nvSpPr>
              <p:cNvPr id="9" name="Freeform 9"/>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0" name="TextBox 10"/>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11" name="Group 11"/>
            <p:cNvGrpSpPr/>
            <p:nvPr/>
          </p:nvGrpSpPr>
          <p:grpSpPr>
            <a:xfrm>
              <a:off x="0" y="1595230"/>
              <a:ext cx="471106" cy="475110"/>
              <a:chOff x="0" y="0"/>
              <a:chExt cx="685800" cy="693420"/>
            </a:xfrm>
          </p:grpSpPr>
          <p:sp>
            <p:nvSpPr>
              <p:cNvPr id="12" name="Freeform 12"/>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3" name="TextBox 13"/>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4111" b="-14111"/>
            </a:stretch>
          </a:blipFill>
        </p:spPr>
      </p:sp>
      <p:grpSp>
        <p:nvGrpSpPr>
          <p:cNvPr id="3" name="Group 3"/>
          <p:cNvGrpSpPr/>
          <p:nvPr/>
        </p:nvGrpSpPr>
        <p:grpSpPr>
          <a:xfrm rot="-10800000">
            <a:off x="-751" y="8657453"/>
            <a:ext cx="2260834" cy="1439666"/>
            <a:chOff x="0" y="0"/>
            <a:chExt cx="3014446" cy="1919555"/>
          </a:xfrm>
        </p:grpSpPr>
        <p:grpSp>
          <p:nvGrpSpPr>
            <p:cNvPr id="4" name="Group 4"/>
            <p:cNvGrpSpPr/>
            <p:nvPr/>
          </p:nvGrpSpPr>
          <p:grpSpPr>
            <a:xfrm>
              <a:off x="0" y="0"/>
              <a:ext cx="1955773" cy="1919555"/>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2310636" y="558132"/>
              <a:ext cx="597162" cy="601118"/>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2061023" y="3239"/>
              <a:ext cx="285931" cy="288362"/>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3" name="TextBox 13"/>
          <p:cNvSpPr txBox="1"/>
          <p:nvPr/>
        </p:nvSpPr>
        <p:spPr>
          <a:xfrm>
            <a:off x="384079" y="169544"/>
            <a:ext cx="14447919"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Caja negra</a:t>
            </a:r>
          </a:p>
        </p:txBody>
      </p:sp>
      <p:grpSp>
        <p:nvGrpSpPr>
          <p:cNvPr id="14" name="Group 14"/>
          <p:cNvGrpSpPr/>
          <p:nvPr/>
        </p:nvGrpSpPr>
        <p:grpSpPr>
          <a:xfrm>
            <a:off x="0" y="1630615"/>
            <a:ext cx="18288000" cy="7627685"/>
            <a:chOff x="0" y="0"/>
            <a:chExt cx="24384000" cy="10170247"/>
          </a:xfrm>
        </p:grpSpPr>
        <p:grpSp>
          <p:nvGrpSpPr>
            <p:cNvPr id="15" name="Group 15"/>
            <p:cNvGrpSpPr/>
            <p:nvPr/>
          </p:nvGrpSpPr>
          <p:grpSpPr>
            <a:xfrm>
              <a:off x="6791420" y="0"/>
              <a:ext cx="6870636" cy="8792140"/>
              <a:chOff x="0" y="0"/>
              <a:chExt cx="11695400" cy="14966240"/>
            </a:xfrm>
          </p:grpSpPr>
          <p:sp>
            <p:nvSpPr>
              <p:cNvPr id="16" name="Freeform 16"/>
              <p:cNvSpPr/>
              <p:nvPr/>
            </p:nvSpPr>
            <p:spPr>
              <a:xfrm>
                <a:off x="0" y="0"/>
                <a:ext cx="11695400" cy="14966240"/>
              </a:xfrm>
              <a:custGeom>
                <a:avLst/>
                <a:gdLst/>
                <a:ahLst/>
                <a:cxnLst/>
                <a:rect l="l" t="t" r="r" b="b"/>
                <a:pathLst>
                  <a:path w="11695400" h="14966240">
                    <a:moveTo>
                      <a:pt x="0" y="0"/>
                    </a:moveTo>
                    <a:lnTo>
                      <a:pt x="11695400" y="0"/>
                    </a:lnTo>
                    <a:lnTo>
                      <a:pt x="11695400" y="14966240"/>
                    </a:lnTo>
                    <a:lnTo>
                      <a:pt x="0" y="14966240"/>
                    </a:lnTo>
                    <a:close/>
                  </a:path>
                </a:pathLst>
              </a:custGeom>
              <a:solidFill>
                <a:srgbClr val="000000"/>
              </a:solidFill>
            </p:spPr>
          </p:sp>
          <p:sp>
            <p:nvSpPr>
              <p:cNvPr id="17" name="TextBox 17"/>
              <p:cNvSpPr txBox="1"/>
              <p:nvPr/>
            </p:nvSpPr>
            <p:spPr>
              <a:xfrm>
                <a:off x="0" y="0"/>
                <a:ext cx="11695400" cy="14966240"/>
              </a:xfrm>
              <a:prstGeom prst="rect">
                <a:avLst/>
              </a:prstGeom>
            </p:spPr>
            <p:txBody>
              <a:bodyPr lIns="50800" tIns="50800" rIns="50800" bIns="50800" rtlCol="0" anchor="ctr"/>
              <a:lstStyle/>
              <a:p>
                <a:pPr algn="ctr">
                  <a:lnSpc>
                    <a:spcPts val="573"/>
                  </a:lnSpc>
                </a:pPr>
                <a:endParaRPr/>
              </a:p>
            </p:txBody>
          </p:sp>
        </p:grpSp>
        <p:sp>
          <p:nvSpPr>
            <p:cNvPr id="18" name="AutoShape 18"/>
            <p:cNvSpPr/>
            <p:nvPr/>
          </p:nvSpPr>
          <p:spPr>
            <a:xfrm>
              <a:off x="6727345" y="9442009"/>
              <a:ext cx="1740666" cy="0"/>
            </a:xfrm>
            <a:prstGeom prst="line">
              <a:avLst/>
            </a:prstGeom>
            <a:ln w="82366" cap="flat">
              <a:solidFill>
                <a:srgbClr val="000000"/>
              </a:solidFill>
              <a:prstDash val="solid"/>
              <a:headEnd type="none" w="sm" len="sm"/>
              <a:tailEnd type="triangle" w="lg" len="med"/>
            </a:ln>
          </p:spPr>
        </p:sp>
        <p:sp>
          <p:nvSpPr>
            <p:cNvPr id="19" name="AutoShape 19"/>
            <p:cNvSpPr/>
            <p:nvPr/>
          </p:nvSpPr>
          <p:spPr>
            <a:xfrm>
              <a:off x="9217060" y="9442009"/>
              <a:ext cx="1790369" cy="0"/>
            </a:xfrm>
            <a:prstGeom prst="line">
              <a:avLst/>
            </a:prstGeom>
            <a:ln w="60691" cap="flat">
              <a:solidFill>
                <a:srgbClr val="000000"/>
              </a:solidFill>
              <a:prstDash val="sysDot"/>
              <a:headEnd type="none" w="sm" len="sm"/>
              <a:tailEnd type="arrow" w="med" len="sm"/>
            </a:ln>
          </p:spPr>
        </p:sp>
        <p:grpSp>
          <p:nvGrpSpPr>
            <p:cNvPr id="20" name="Group 20"/>
            <p:cNvGrpSpPr/>
            <p:nvPr/>
          </p:nvGrpSpPr>
          <p:grpSpPr>
            <a:xfrm>
              <a:off x="11917039" y="9207380"/>
              <a:ext cx="1809092" cy="477491"/>
              <a:chOff x="0" y="0"/>
              <a:chExt cx="3079489" cy="812800"/>
            </a:xfrm>
          </p:grpSpPr>
          <p:sp>
            <p:nvSpPr>
              <p:cNvPr id="21" name="Freeform 21"/>
              <p:cNvSpPr/>
              <p:nvPr/>
            </p:nvSpPr>
            <p:spPr>
              <a:xfrm>
                <a:off x="0" y="0"/>
                <a:ext cx="3079490" cy="812800"/>
              </a:xfrm>
              <a:custGeom>
                <a:avLst/>
                <a:gdLst/>
                <a:ahLst/>
                <a:cxnLst/>
                <a:rect l="l" t="t" r="r" b="b"/>
                <a:pathLst>
                  <a:path w="3079490" h="812800">
                    <a:moveTo>
                      <a:pt x="3079490" y="406400"/>
                    </a:moveTo>
                    <a:lnTo>
                      <a:pt x="2673090" y="0"/>
                    </a:lnTo>
                    <a:lnTo>
                      <a:pt x="2673090" y="203200"/>
                    </a:lnTo>
                    <a:lnTo>
                      <a:pt x="0" y="203200"/>
                    </a:lnTo>
                    <a:lnTo>
                      <a:pt x="0" y="609600"/>
                    </a:lnTo>
                    <a:lnTo>
                      <a:pt x="2673090" y="609600"/>
                    </a:lnTo>
                    <a:lnTo>
                      <a:pt x="2673090" y="812800"/>
                    </a:lnTo>
                    <a:lnTo>
                      <a:pt x="3079490" y="406400"/>
                    </a:lnTo>
                    <a:close/>
                  </a:path>
                </a:pathLst>
              </a:custGeom>
              <a:solidFill>
                <a:srgbClr val="FFFFFF"/>
              </a:solidFill>
              <a:ln w="209550" cap="sq">
                <a:solidFill>
                  <a:srgbClr val="000000"/>
                </a:solidFill>
                <a:prstDash val="solid"/>
                <a:miter/>
              </a:ln>
            </p:spPr>
          </p:sp>
          <p:sp>
            <p:nvSpPr>
              <p:cNvPr id="22" name="TextBox 22"/>
              <p:cNvSpPr txBox="1"/>
              <p:nvPr/>
            </p:nvSpPr>
            <p:spPr>
              <a:xfrm>
                <a:off x="0" y="203200"/>
                <a:ext cx="2977889" cy="406400"/>
              </a:xfrm>
              <a:prstGeom prst="rect">
                <a:avLst/>
              </a:prstGeom>
            </p:spPr>
            <p:txBody>
              <a:bodyPr lIns="50800" tIns="50800" rIns="50800" bIns="50800" rtlCol="0" anchor="ctr"/>
              <a:lstStyle/>
              <a:p>
                <a:pPr algn="ctr">
                  <a:lnSpc>
                    <a:spcPts val="573"/>
                  </a:lnSpc>
                </a:pPr>
                <a:endParaRPr/>
              </a:p>
            </p:txBody>
          </p:sp>
        </p:grpSp>
        <p:sp>
          <p:nvSpPr>
            <p:cNvPr id="23" name="AutoShape 23"/>
            <p:cNvSpPr/>
            <p:nvPr/>
          </p:nvSpPr>
          <p:spPr>
            <a:xfrm>
              <a:off x="5001051" y="3013112"/>
              <a:ext cx="1790369" cy="0"/>
            </a:xfrm>
            <a:prstGeom prst="line">
              <a:avLst/>
            </a:prstGeom>
            <a:ln w="60691" cap="flat">
              <a:solidFill>
                <a:srgbClr val="000000"/>
              </a:solidFill>
              <a:prstDash val="sysDot"/>
              <a:headEnd type="none" w="sm" len="sm"/>
              <a:tailEnd type="arrow" w="med" len="sm"/>
            </a:ln>
          </p:spPr>
        </p:sp>
        <p:sp>
          <p:nvSpPr>
            <p:cNvPr id="24" name="AutoShape 24"/>
            <p:cNvSpPr/>
            <p:nvPr/>
          </p:nvSpPr>
          <p:spPr>
            <a:xfrm flipV="1">
              <a:off x="13662056" y="2432390"/>
              <a:ext cx="1795138" cy="0"/>
            </a:xfrm>
            <a:prstGeom prst="line">
              <a:avLst/>
            </a:prstGeom>
            <a:ln w="60691" cap="flat">
              <a:solidFill>
                <a:srgbClr val="000000"/>
              </a:solidFill>
              <a:prstDash val="sysDot"/>
              <a:headEnd type="none" w="sm" len="sm"/>
              <a:tailEnd type="arrow" w="med" len="sm"/>
            </a:ln>
          </p:spPr>
        </p:sp>
        <p:sp>
          <p:nvSpPr>
            <p:cNvPr id="25" name="AutoShape 25"/>
            <p:cNvSpPr/>
            <p:nvPr/>
          </p:nvSpPr>
          <p:spPr>
            <a:xfrm flipV="1">
              <a:off x="4980863" y="2319487"/>
              <a:ext cx="1790369" cy="0"/>
            </a:xfrm>
            <a:prstGeom prst="line">
              <a:avLst/>
            </a:prstGeom>
            <a:ln w="60691" cap="flat">
              <a:solidFill>
                <a:srgbClr val="000000"/>
              </a:solidFill>
              <a:prstDash val="sysDot"/>
              <a:headEnd type="none" w="sm" len="sm"/>
              <a:tailEnd type="arrow" w="med" len="sm"/>
            </a:ln>
          </p:spPr>
        </p:sp>
        <p:sp>
          <p:nvSpPr>
            <p:cNvPr id="26" name="AutoShape 26"/>
            <p:cNvSpPr/>
            <p:nvPr/>
          </p:nvSpPr>
          <p:spPr>
            <a:xfrm flipV="1">
              <a:off x="5001051" y="2673507"/>
              <a:ext cx="1790369" cy="0"/>
            </a:xfrm>
            <a:prstGeom prst="line">
              <a:avLst/>
            </a:prstGeom>
            <a:ln w="60691" cap="flat">
              <a:solidFill>
                <a:srgbClr val="000000"/>
              </a:solidFill>
              <a:prstDash val="sysDot"/>
              <a:headEnd type="none" w="sm" len="sm"/>
              <a:tailEnd type="arrow" w="med" len="sm"/>
            </a:ln>
          </p:spPr>
        </p:sp>
        <p:sp>
          <p:nvSpPr>
            <p:cNvPr id="27" name="AutoShape 27"/>
            <p:cNvSpPr/>
            <p:nvPr/>
          </p:nvSpPr>
          <p:spPr>
            <a:xfrm>
              <a:off x="5357428" y="5071344"/>
              <a:ext cx="1454075" cy="0"/>
            </a:xfrm>
            <a:prstGeom prst="line">
              <a:avLst/>
            </a:prstGeom>
            <a:ln w="52021" cap="flat">
              <a:solidFill>
                <a:srgbClr val="000000"/>
              </a:solidFill>
              <a:prstDash val="solid"/>
              <a:headEnd type="none" w="sm" len="sm"/>
              <a:tailEnd type="triangle" w="lg" len="med"/>
            </a:ln>
          </p:spPr>
        </p:sp>
        <p:sp>
          <p:nvSpPr>
            <p:cNvPr id="28" name="AutoShape 28"/>
            <p:cNvSpPr/>
            <p:nvPr/>
          </p:nvSpPr>
          <p:spPr>
            <a:xfrm>
              <a:off x="4985198" y="3333585"/>
              <a:ext cx="1790369" cy="0"/>
            </a:xfrm>
            <a:prstGeom prst="line">
              <a:avLst/>
            </a:prstGeom>
            <a:ln w="60691" cap="flat">
              <a:solidFill>
                <a:srgbClr val="000000"/>
              </a:solidFill>
              <a:prstDash val="sysDot"/>
              <a:headEnd type="none" w="sm" len="sm"/>
              <a:tailEnd type="arrow" w="med" len="sm"/>
            </a:ln>
          </p:spPr>
        </p:sp>
        <p:sp>
          <p:nvSpPr>
            <p:cNvPr id="29" name="AutoShape 29"/>
            <p:cNvSpPr/>
            <p:nvPr/>
          </p:nvSpPr>
          <p:spPr>
            <a:xfrm flipV="1">
              <a:off x="5023604" y="3727736"/>
              <a:ext cx="1755425" cy="5104"/>
            </a:xfrm>
            <a:prstGeom prst="line">
              <a:avLst/>
            </a:prstGeom>
            <a:ln w="60691" cap="flat">
              <a:solidFill>
                <a:srgbClr val="000000"/>
              </a:solidFill>
              <a:prstDash val="sysDot"/>
              <a:headEnd type="none" w="sm" len="sm"/>
              <a:tailEnd type="arrow" w="med" len="sm"/>
            </a:ln>
          </p:spPr>
        </p:sp>
        <p:sp>
          <p:nvSpPr>
            <p:cNvPr id="30" name="AutoShape 30"/>
            <p:cNvSpPr/>
            <p:nvPr/>
          </p:nvSpPr>
          <p:spPr>
            <a:xfrm flipV="1">
              <a:off x="5021133" y="5837267"/>
              <a:ext cx="1790369" cy="0"/>
            </a:xfrm>
            <a:prstGeom prst="line">
              <a:avLst/>
            </a:prstGeom>
            <a:ln w="60691" cap="flat">
              <a:solidFill>
                <a:srgbClr val="000000"/>
              </a:solidFill>
              <a:prstDash val="sysDot"/>
              <a:headEnd type="none" w="sm" len="sm"/>
              <a:tailEnd type="arrow" w="med" len="sm"/>
            </a:ln>
          </p:spPr>
        </p:sp>
        <p:sp>
          <p:nvSpPr>
            <p:cNvPr id="31" name="AutoShape 31"/>
            <p:cNvSpPr/>
            <p:nvPr/>
          </p:nvSpPr>
          <p:spPr>
            <a:xfrm>
              <a:off x="4996716" y="609378"/>
              <a:ext cx="1790369" cy="0"/>
            </a:xfrm>
            <a:prstGeom prst="line">
              <a:avLst/>
            </a:prstGeom>
            <a:ln w="60691" cap="flat">
              <a:solidFill>
                <a:srgbClr val="000000"/>
              </a:solidFill>
              <a:prstDash val="sysDot"/>
              <a:headEnd type="none" w="sm" len="sm"/>
              <a:tailEnd type="arrow" w="med" len="sm"/>
            </a:ln>
          </p:spPr>
        </p:sp>
        <p:sp>
          <p:nvSpPr>
            <p:cNvPr id="32" name="AutoShape 32"/>
            <p:cNvSpPr/>
            <p:nvPr/>
          </p:nvSpPr>
          <p:spPr>
            <a:xfrm flipV="1">
              <a:off x="4952071" y="963361"/>
              <a:ext cx="1790369" cy="0"/>
            </a:xfrm>
            <a:prstGeom prst="line">
              <a:avLst/>
            </a:prstGeom>
            <a:ln w="60691" cap="flat">
              <a:solidFill>
                <a:srgbClr val="000000"/>
              </a:solidFill>
              <a:prstDash val="sysDot"/>
              <a:headEnd type="none" w="sm" len="sm"/>
              <a:tailEnd type="arrow" w="med" len="sm"/>
            </a:ln>
          </p:spPr>
        </p:sp>
        <p:sp>
          <p:nvSpPr>
            <p:cNvPr id="33" name="AutoShape 33"/>
            <p:cNvSpPr/>
            <p:nvPr/>
          </p:nvSpPr>
          <p:spPr>
            <a:xfrm flipV="1">
              <a:off x="13662056" y="1856538"/>
              <a:ext cx="1790369" cy="0"/>
            </a:xfrm>
            <a:prstGeom prst="line">
              <a:avLst/>
            </a:prstGeom>
            <a:ln w="60691" cap="flat">
              <a:solidFill>
                <a:srgbClr val="000000"/>
              </a:solidFill>
              <a:prstDash val="sysDot"/>
              <a:headEnd type="none" w="sm" len="sm"/>
              <a:tailEnd type="arrow" w="med" len="sm"/>
            </a:ln>
          </p:spPr>
        </p:sp>
        <p:sp>
          <p:nvSpPr>
            <p:cNvPr id="34" name="AutoShape 34"/>
            <p:cNvSpPr/>
            <p:nvPr/>
          </p:nvSpPr>
          <p:spPr>
            <a:xfrm flipV="1">
              <a:off x="4972259" y="6193816"/>
              <a:ext cx="1790369" cy="0"/>
            </a:xfrm>
            <a:prstGeom prst="line">
              <a:avLst/>
            </a:prstGeom>
            <a:ln w="60691" cap="flat">
              <a:solidFill>
                <a:srgbClr val="000000"/>
              </a:solidFill>
              <a:prstDash val="sysDot"/>
              <a:headEnd type="none" w="sm" len="sm"/>
              <a:tailEnd type="arrow" w="med" len="sm"/>
            </a:ln>
          </p:spPr>
        </p:sp>
        <p:sp>
          <p:nvSpPr>
            <p:cNvPr id="35" name="AutoShape 35"/>
            <p:cNvSpPr/>
            <p:nvPr/>
          </p:nvSpPr>
          <p:spPr>
            <a:xfrm>
              <a:off x="13684959" y="5039380"/>
              <a:ext cx="1790524" cy="2630"/>
            </a:xfrm>
            <a:prstGeom prst="line">
              <a:avLst/>
            </a:prstGeom>
            <a:ln w="60691" cap="flat">
              <a:solidFill>
                <a:srgbClr val="000000"/>
              </a:solidFill>
              <a:prstDash val="sysDot"/>
              <a:headEnd type="none" w="sm" len="sm"/>
              <a:tailEnd type="arrow" w="med" len="sm"/>
            </a:ln>
          </p:spPr>
        </p:sp>
        <p:sp>
          <p:nvSpPr>
            <p:cNvPr id="36" name="AutoShape 36"/>
            <p:cNvSpPr/>
            <p:nvPr/>
          </p:nvSpPr>
          <p:spPr>
            <a:xfrm flipV="1">
              <a:off x="13666825" y="410597"/>
              <a:ext cx="1790369" cy="9128"/>
            </a:xfrm>
            <a:prstGeom prst="line">
              <a:avLst/>
            </a:prstGeom>
            <a:ln w="60691" cap="flat">
              <a:solidFill>
                <a:srgbClr val="000000"/>
              </a:solidFill>
              <a:prstDash val="sysDot"/>
              <a:headEnd type="none" w="sm" len="sm"/>
              <a:tailEnd type="arrow" w="med" len="sm"/>
            </a:ln>
          </p:spPr>
        </p:sp>
        <p:sp>
          <p:nvSpPr>
            <p:cNvPr id="37" name="AutoShape 37"/>
            <p:cNvSpPr/>
            <p:nvPr/>
          </p:nvSpPr>
          <p:spPr>
            <a:xfrm>
              <a:off x="13662056" y="962926"/>
              <a:ext cx="1777372" cy="0"/>
            </a:xfrm>
            <a:prstGeom prst="line">
              <a:avLst/>
            </a:prstGeom>
            <a:ln w="60691" cap="flat">
              <a:solidFill>
                <a:srgbClr val="000000"/>
              </a:solidFill>
              <a:prstDash val="sysDot"/>
              <a:headEnd type="none" w="sm" len="sm"/>
              <a:tailEnd type="arrow" w="med" len="sm"/>
            </a:ln>
          </p:spPr>
        </p:sp>
        <p:sp>
          <p:nvSpPr>
            <p:cNvPr id="38" name="AutoShape 38"/>
            <p:cNvSpPr/>
            <p:nvPr/>
          </p:nvSpPr>
          <p:spPr>
            <a:xfrm>
              <a:off x="13645039" y="5532218"/>
              <a:ext cx="1812522" cy="11764"/>
            </a:xfrm>
            <a:prstGeom prst="line">
              <a:avLst/>
            </a:prstGeom>
            <a:ln w="60691" cap="flat">
              <a:solidFill>
                <a:srgbClr val="000000"/>
              </a:solidFill>
              <a:prstDash val="sysDot"/>
              <a:headEnd type="none" w="sm" len="sm"/>
              <a:tailEnd type="arrow" w="med" len="sm"/>
            </a:ln>
          </p:spPr>
        </p:sp>
        <p:sp>
          <p:nvSpPr>
            <p:cNvPr id="39" name="AutoShape 39"/>
            <p:cNvSpPr/>
            <p:nvPr/>
          </p:nvSpPr>
          <p:spPr>
            <a:xfrm>
              <a:off x="13634294" y="6080685"/>
              <a:ext cx="1823267" cy="0"/>
            </a:xfrm>
            <a:prstGeom prst="line">
              <a:avLst/>
            </a:prstGeom>
            <a:ln w="60691" cap="flat">
              <a:solidFill>
                <a:srgbClr val="000000"/>
              </a:solidFill>
              <a:prstDash val="sysDot"/>
              <a:headEnd type="none" w="sm" len="sm"/>
              <a:tailEnd type="arrow" w="med" len="sm"/>
            </a:ln>
          </p:spPr>
        </p:sp>
        <p:sp>
          <p:nvSpPr>
            <p:cNvPr id="40" name="AutoShape 40"/>
            <p:cNvSpPr/>
            <p:nvPr/>
          </p:nvSpPr>
          <p:spPr>
            <a:xfrm>
              <a:off x="13665230" y="6584522"/>
              <a:ext cx="1810252" cy="0"/>
            </a:xfrm>
            <a:prstGeom prst="line">
              <a:avLst/>
            </a:prstGeom>
            <a:ln w="60691" cap="flat">
              <a:solidFill>
                <a:srgbClr val="000000"/>
              </a:solidFill>
              <a:prstDash val="sysDot"/>
              <a:headEnd type="none" w="sm" len="sm"/>
              <a:tailEnd type="arrow" w="med" len="sm"/>
            </a:ln>
          </p:spPr>
        </p:sp>
        <p:sp>
          <p:nvSpPr>
            <p:cNvPr id="41" name="TextBox 41"/>
            <p:cNvSpPr txBox="1"/>
            <p:nvPr/>
          </p:nvSpPr>
          <p:spPr>
            <a:xfrm>
              <a:off x="0" y="7176510"/>
              <a:ext cx="5039458" cy="379918"/>
            </a:xfrm>
            <a:prstGeom prst="rect">
              <a:avLst/>
            </a:prstGeom>
          </p:spPr>
          <p:txBody>
            <a:bodyPr lIns="0" tIns="0" rIns="0" bIns="0" rtlCol="0" anchor="t">
              <a:spAutoFit/>
            </a:bodyPr>
            <a:lstStyle/>
            <a:p>
              <a:pPr marL="0" lvl="0" indent="0" algn="ctr">
                <a:lnSpc>
                  <a:spcPts val="2356"/>
                </a:lnSpc>
                <a:spcBef>
                  <a:spcPct val="0"/>
                </a:spcBef>
              </a:pPr>
              <a:r>
                <a:rPr lang="en-US" sz="1683" b="1" u="none" strike="noStrike">
                  <a:solidFill>
                    <a:srgbClr val="000000"/>
                  </a:solidFill>
                  <a:latin typeface="Open Sans Bold"/>
                  <a:ea typeface="Open Sans Bold"/>
                  <a:cs typeface="Open Sans Bold"/>
                  <a:sym typeface="Open Sans Bold"/>
                </a:rPr>
                <a:t>Cuerpo del paciente (colocación)</a:t>
              </a:r>
            </a:p>
          </p:txBody>
        </p:sp>
        <p:sp>
          <p:nvSpPr>
            <p:cNvPr id="42" name="TextBox 42"/>
            <p:cNvSpPr txBox="1"/>
            <p:nvPr/>
          </p:nvSpPr>
          <p:spPr>
            <a:xfrm>
              <a:off x="682804" y="7717741"/>
              <a:ext cx="4324529" cy="379918"/>
            </a:xfrm>
            <a:prstGeom prst="rect">
              <a:avLst/>
            </a:prstGeom>
          </p:spPr>
          <p:txBody>
            <a:bodyPr lIns="0" tIns="0" rIns="0" bIns="0" rtlCol="0" anchor="t">
              <a:spAutoFit/>
            </a:bodyPr>
            <a:lstStyle/>
            <a:p>
              <a:pPr marL="0" lvl="0" indent="0" algn="ctr">
                <a:lnSpc>
                  <a:spcPts val="2356"/>
                </a:lnSpc>
                <a:spcBef>
                  <a:spcPct val="0"/>
                </a:spcBef>
              </a:pPr>
              <a:r>
                <a:rPr lang="en-US" sz="1683" b="1">
                  <a:solidFill>
                    <a:srgbClr val="000000"/>
                  </a:solidFill>
                  <a:latin typeface="Open Sans Bold"/>
                  <a:ea typeface="Open Sans Bold"/>
                  <a:cs typeface="Open Sans Bold"/>
                  <a:sym typeface="Open Sans Bold"/>
                </a:rPr>
                <a:t>Cuerpo del paciente (r</a:t>
              </a:r>
              <a:r>
                <a:rPr lang="en-US" sz="1683" b="1" u="none" strike="noStrike">
                  <a:solidFill>
                    <a:srgbClr val="000000"/>
                  </a:solidFill>
                  <a:latin typeface="Open Sans Bold"/>
                  <a:ea typeface="Open Sans Bold"/>
                  <a:cs typeface="Open Sans Bold"/>
                  <a:sym typeface="Open Sans Bold"/>
                </a:rPr>
                <a:t>etiro)</a:t>
              </a:r>
            </a:p>
          </p:txBody>
        </p:sp>
        <p:sp>
          <p:nvSpPr>
            <p:cNvPr id="43" name="TextBox 43"/>
            <p:cNvSpPr txBox="1"/>
            <p:nvPr/>
          </p:nvSpPr>
          <p:spPr>
            <a:xfrm>
              <a:off x="8698607" y="3756857"/>
              <a:ext cx="2885211" cy="618629"/>
            </a:xfrm>
            <a:prstGeom prst="rect">
              <a:avLst/>
            </a:prstGeom>
          </p:spPr>
          <p:txBody>
            <a:bodyPr lIns="0" tIns="0" rIns="0" bIns="0" rtlCol="0" anchor="t">
              <a:spAutoFit/>
            </a:bodyPr>
            <a:lstStyle/>
            <a:p>
              <a:pPr algn="ctr">
                <a:lnSpc>
                  <a:spcPts val="3939"/>
                </a:lnSpc>
              </a:pPr>
              <a:r>
                <a:rPr lang="en-US" sz="2814" b="1">
                  <a:solidFill>
                    <a:srgbClr val="FFFFFF"/>
                  </a:solidFill>
                  <a:latin typeface="Open Sans Bold"/>
                  <a:ea typeface="Open Sans Bold"/>
                  <a:cs typeface="Open Sans Bold"/>
                  <a:sym typeface="Open Sans Bold"/>
                </a:rPr>
                <a:t>CAJA NEGRA</a:t>
              </a:r>
            </a:p>
          </p:txBody>
        </p:sp>
        <p:sp>
          <p:nvSpPr>
            <p:cNvPr id="44" name="TextBox 44"/>
            <p:cNvSpPr txBox="1"/>
            <p:nvPr/>
          </p:nvSpPr>
          <p:spPr>
            <a:xfrm>
              <a:off x="6848579" y="9723057"/>
              <a:ext cx="1304412" cy="447189"/>
            </a:xfrm>
            <a:prstGeom prst="rect">
              <a:avLst/>
            </a:prstGeom>
          </p:spPr>
          <p:txBody>
            <a:bodyPr lIns="0" tIns="0" rIns="0" bIns="0" rtlCol="0" anchor="t">
              <a:spAutoFit/>
            </a:bodyPr>
            <a:lstStyle/>
            <a:p>
              <a:pPr algn="ctr">
                <a:lnSpc>
                  <a:spcPts val="2886"/>
                </a:lnSpc>
              </a:pPr>
              <a:r>
                <a:rPr lang="en-US" sz="2061" b="1">
                  <a:solidFill>
                    <a:srgbClr val="000000"/>
                  </a:solidFill>
                  <a:latin typeface="Open Sans Bold"/>
                  <a:ea typeface="Open Sans Bold"/>
                  <a:cs typeface="Open Sans Bold"/>
                  <a:sym typeface="Open Sans Bold"/>
                </a:rPr>
                <a:t>Energía</a:t>
              </a:r>
            </a:p>
          </p:txBody>
        </p:sp>
        <p:sp>
          <p:nvSpPr>
            <p:cNvPr id="45" name="TextBox 45"/>
            <p:cNvSpPr txBox="1"/>
            <p:nvPr/>
          </p:nvSpPr>
          <p:spPr>
            <a:xfrm>
              <a:off x="9454567" y="9723057"/>
              <a:ext cx="1325241" cy="447189"/>
            </a:xfrm>
            <a:prstGeom prst="rect">
              <a:avLst/>
            </a:prstGeom>
          </p:spPr>
          <p:txBody>
            <a:bodyPr lIns="0" tIns="0" rIns="0" bIns="0" rtlCol="0" anchor="t">
              <a:spAutoFit/>
            </a:bodyPr>
            <a:lstStyle/>
            <a:p>
              <a:pPr algn="ctr">
                <a:lnSpc>
                  <a:spcPts val="2886"/>
                </a:lnSpc>
              </a:pPr>
              <a:r>
                <a:rPr lang="en-US" sz="2061" b="1">
                  <a:solidFill>
                    <a:srgbClr val="000000"/>
                  </a:solidFill>
                  <a:latin typeface="Open Sans Bold"/>
                  <a:ea typeface="Open Sans Bold"/>
                  <a:cs typeface="Open Sans Bold"/>
                  <a:sym typeface="Open Sans Bold"/>
                </a:rPr>
                <a:t>Señales</a:t>
              </a:r>
            </a:p>
          </p:txBody>
        </p:sp>
        <p:sp>
          <p:nvSpPr>
            <p:cNvPr id="46" name="TextBox 46"/>
            <p:cNvSpPr txBox="1"/>
            <p:nvPr/>
          </p:nvSpPr>
          <p:spPr>
            <a:xfrm>
              <a:off x="12117514" y="9723057"/>
              <a:ext cx="1373822" cy="447189"/>
            </a:xfrm>
            <a:prstGeom prst="rect">
              <a:avLst/>
            </a:prstGeom>
          </p:spPr>
          <p:txBody>
            <a:bodyPr lIns="0" tIns="0" rIns="0" bIns="0" rtlCol="0" anchor="t">
              <a:spAutoFit/>
            </a:bodyPr>
            <a:lstStyle/>
            <a:p>
              <a:pPr algn="ctr">
                <a:lnSpc>
                  <a:spcPts val="2886"/>
                </a:lnSpc>
              </a:pPr>
              <a:r>
                <a:rPr lang="en-US" sz="2061" b="1">
                  <a:solidFill>
                    <a:srgbClr val="000000"/>
                  </a:solidFill>
                  <a:latin typeface="Open Sans Bold"/>
                  <a:ea typeface="Open Sans Bold"/>
                  <a:cs typeface="Open Sans Bold"/>
                  <a:sym typeface="Open Sans Bold"/>
                </a:rPr>
                <a:t>Materia</a:t>
              </a:r>
            </a:p>
          </p:txBody>
        </p:sp>
        <p:sp>
          <p:nvSpPr>
            <p:cNvPr id="47" name="TextBox 47"/>
            <p:cNvSpPr txBox="1"/>
            <p:nvPr/>
          </p:nvSpPr>
          <p:spPr>
            <a:xfrm>
              <a:off x="2135076" y="2103090"/>
              <a:ext cx="2829985"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Frecuencia cardíaca</a:t>
              </a:r>
            </a:p>
          </p:txBody>
        </p:sp>
        <p:sp>
          <p:nvSpPr>
            <p:cNvPr id="48" name="TextBox 48"/>
            <p:cNvSpPr txBox="1"/>
            <p:nvPr/>
          </p:nvSpPr>
          <p:spPr>
            <a:xfrm>
              <a:off x="1554758" y="2435251"/>
              <a:ext cx="3379602"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Frecuencia Respiratoria</a:t>
              </a:r>
            </a:p>
          </p:txBody>
        </p:sp>
        <p:sp>
          <p:nvSpPr>
            <p:cNvPr id="49" name="TextBox 49"/>
            <p:cNvSpPr txBox="1"/>
            <p:nvPr/>
          </p:nvSpPr>
          <p:spPr>
            <a:xfrm>
              <a:off x="4149838" y="2765772"/>
              <a:ext cx="726920" cy="379001"/>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SpO2</a:t>
              </a:r>
            </a:p>
          </p:txBody>
        </p:sp>
        <p:sp>
          <p:nvSpPr>
            <p:cNvPr id="50" name="TextBox 50"/>
            <p:cNvSpPr txBox="1"/>
            <p:nvPr/>
          </p:nvSpPr>
          <p:spPr>
            <a:xfrm>
              <a:off x="2864597" y="4819375"/>
              <a:ext cx="2368237"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Energía eléctrica</a:t>
              </a:r>
            </a:p>
          </p:txBody>
        </p:sp>
        <p:sp>
          <p:nvSpPr>
            <p:cNvPr id="51" name="TextBox 51"/>
            <p:cNvSpPr txBox="1"/>
            <p:nvPr/>
          </p:nvSpPr>
          <p:spPr>
            <a:xfrm>
              <a:off x="2330478" y="3111399"/>
              <a:ext cx="2591564"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Presión diastólica </a:t>
              </a:r>
            </a:p>
          </p:txBody>
        </p:sp>
        <p:sp>
          <p:nvSpPr>
            <p:cNvPr id="52" name="TextBox 52"/>
            <p:cNvSpPr txBox="1"/>
            <p:nvPr/>
          </p:nvSpPr>
          <p:spPr>
            <a:xfrm>
              <a:off x="1840303" y="5607462"/>
              <a:ext cx="3026822"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Señal de encendido</a:t>
              </a:r>
            </a:p>
          </p:txBody>
        </p:sp>
        <p:sp>
          <p:nvSpPr>
            <p:cNvPr id="53" name="TextBox 53"/>
            <p:cNvSpPr txBox="1"/>
            <p:nvPr/>
          </p:nvSpPr>
          <p:spPr>
            <a:xfrm>
              <a:off x="2330478" y="744555"/>
              <a:ext cx="2456599"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Señal de parada</a:t>
              </a:r>
            </a:p>
          </p:txBody>
        </p:sp>
        <p:sp>
          <p:nvSpPr>
            <p:cNvPr id="54" name="TextBox 54"/>
            <p:cNvSpPr txBox="1"/>
            <p:nvPr/>
          </p:nvSpPr>
          <p:spPr>
            <a:xfrm>
              <a:off x="2519729" y="400491"/>
              <a:ext cx="2267348"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Señal de inicio</a:t>
              </a:r>
            </a:p>
          </p:txBody>
        </p:sp>
        <p:sp>
          <p:nvSpPr>
            <p:cNvPr id="55" name="TextBox 55"/>
            <p:cNvSpPr txBox="1"/>
            <p:nvPr/>
          </p:nvSpPr>
          <p:spPr>
            <a:xfrm>
              <a:off x="14538980" y="2237091"/>
              <a:ext cx="7287546"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Alerta de Stand-by (variables irreales)</a:t>
              </a:r>
            </a:p>
          </p:txBody>
        </p:sp>
        <p:sp>
          <p:nvSpPr>
            <p:cNvPr id="56" name="TextBox 56"/>
            <p:cNvSpPr txBox="1"/>
            <p:nvPr/>
          </p:nvSpPr>
          <p:spPr>
            <a:xfrm>
              <a:off x="2643756" y="3523823"/>
              <a:ext cx="2379848" cy="379935"/>
            </a:xfrm>
            <a:prstGeom prst="rect">
              <a:avLst/>
            </a:prstGeom>
          </p:spPr>
          <p:txBody>
            <a:bodyPr lIns="0" tIns="0" rIns="0" bIns="0" rtlCol="0" anchor="t">
              <a:spAutoFit/>
            </a:bodyPr>
            <a:lstStyle/>
            <a:p>
              <a:pPr algn="ctr">
                <a:lnSpc>
                  <a:spcPts val="2355"/>
                </a:lnSpc>
                <a:spcBef>
                  <a:spcPct val="0"/>
                </a:spcBef>
              </a:pPr>
              <a:r>
                <a:rPr lang="en-US" sz="1682" b="1">
                  <a:solidFill>
                    <a:srgbClr val="000000"/>
                  </a:solidFill>
                  <a:latin typeface="Open Sans Bold"/>
                  <a:ea typeface="Open Sans Bold"/>
                  <a:cs typeface="Open Sans Bold"/>
                  <a:sym typeface="Open Sans Bold"/>
                </a:rPr>
                <a:t>Presión sistólica </a:t>
              </a:r>
            </a:p>
          </p:txBody>
        </p:sp>
        <p:sp>
          <p:nvSpPr>
            <p:cNvPr id="57" name="TextBox 57"/>
            <p:cNvSpPr txBox="1"/>
            <p:nvPr/>
          </p:nvSpPr>
          <p:spPr>
            <a:xfrm>
              <a:off x="15507136" y="1621103"/>
              <a:ext cx="5503743" cy="379918"/>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Alerta de presunción diagnóstica</a:t>
              </a:r>
            </a:p>
          </p:txBody>
        </p:sp>
        <p:sp>
          <p:nvSpPr>
            <p:cNvPr id="58" name="TextBox 58"/>
            <p:cNvSpPr txBox="1"/>
            <p:nvPr/>
          </p:nvSpPr>
          <p:spPr>
            <a:xfrm>
              <a:off x="2135076" y="5993284"/>
              <a:ext cx="2712525"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Señal de apagado</a:t>
              </a:r>
            </a:p>
          </p:txBody>
        </p:sp>
        <p:sp>
          <p:nvSpPr>
            <p:cNvPr id="59" name="TextBox 59"/>
            <p:cNvSpPr txBox="1"/>
            <p:nvPr/>
          </p:nvSpPr>
          <p:spPr>
            <a:xfrm>
              <a:off x="15579569" y="4800148"/>
              <a:ext cx="2390430"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Nivel de batería </a:t>
              </a:r>
            </a:p>
          </p:txBody>
        </p:sp>
        <p:sp>
          <p:nvSpPr>
            <p:cNvPr id="60" name="TextBox 60"/>
            <p:cNvSpPr txBox="1"/>
            <p:nvPr/>
          </p:nvSpPr>
          <p:spPr>
            <a:xfrm>
              <a:off x="15547657" y="164998"/>
              <a:ext cx="5354153" cy="379000"/>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Reporte de variables fisiológicas</a:t>
              </a:r>
            </a:p>
          </p:txBody>
        </p:sp>
        <p:sp>
          <p:nvSpPr>
            <p:cNvPr id="61" name="TextBox 61"/>
            <p:cNvSpPr txBox="1"/>
            <p:nvPr/>
          </p:nvSpPr>
          <p:spPr>
            <a:xfrm>
              <a:off x="15547657" y="666296"/>
              <a:ext cx="6274972" cy="776910"/>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Índice de riesgo de presunción diagnóstica (2-4h , 6-8h, 24 h, Normal)</a:t>
              </a:r>
            </a:p>
          </p:txBody>
        </p:sp>
        <p:sp>
          <p:nvSpPr>
            <p:cNvPr id="62" name="TextBox 62"/>
            <p:cNvSpPr txBox="1"/>
            <p:nvPr/>
          </p:nvSpPr>
          <p:spPr>
            <a:xfrm>
              <a:off x="15457561" y="5335095"/>
              <a:ext cx="3294547"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Alerta de batería baja</a:t>
              </a:r>
            </a:p>
          </p:txBody>
        </p:sp>
        <p:sp>
          <p:nvSpPr>
            <p:cNvPr id="63" name="TextBox 63"/>
            <p:cNvSpPr txBox="1"/>
            <p:nvPr/>
          </p:nvSpPr>
          <p:spPr>
            <a:xfrm>
              <a:off x="15457561" y="5871798"/>
              <a:ext cx="4714177" cy="379674"/>
            </a:xfrm>
            <a:prstGeom prst="rect">
              <a:avLst/>
            </a:prstGeom>
          </p:spPr>
          <p:txBody>
            <a:bodyPr lIns="0" tIns="0" rIns="0" bIns="0" rtlCol="0" anchor="t">
              <a:spAutoFit/>
            </a:bodyPr>
            <a:lstStyle/>
            <a:p>
              <a:pPr algn="ctr">
                <a:lnSpc>
                  <a:spcPts val="2356"/>
                </a:lnSpc>
              </a:pPr>
              <a:r>
                <a:rPr lang="en-US" sz="1683" b="1">
                  <a:solidFill>
                    <a:srgbClr val="000000"/>
                  </a:solidFill>
                  <a:latin typeface="Open Sans Bold"/>
                  <a:ea typeface="Open Sans Bold"/>
                  <a:cs typeface="Open Sans Bold"/>
                  <a:sym typeface="Open Sans Bold"/>
                </a:rPr>
                <a:t>Alerta de sobrecarga de batería </a:t>
              </a:r>
            </a:p>
          </p:txBody>
        </p:sp>
        <p:sp>
          <p:nvSpPr>
            <p:cNvPr id="64" name="TextBox 64"/>
            <p:cNvSpPr txBox="1"/>
            <p:nvPr/>
          </p:nvSpPr>
          <p:spPr>
            <a:xfrm>
              <a:off x="15475483" y="6375513"/>
              <a:ext cx="8863413" cy="379918"/>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Estado de carga de batería (cargando/no cargando/cargado)</a:t>
              </a:r>
            </a:p>
          </p:txBody>
        </p:sp>
        <p:sp>
          <p:nvSpPr>
            <p:cNvPr id="65" name="AutoShape 65"/>
            <p:cNvSpPr/>
            <p:nvPr/>
          </p:nvSpPr>
          <p:spPr>
            <a:xfrm>
              <a:off x="13679398" y="3721324"/>
              <a:ext cx="1823267" cy="122"/>
            </a:xfrm>
            <a:prstGeom prst="line">
              <a:avLst/>
            </a:prstGeom>
            <a:ln w="60691" cap="flat">
              <a:solidFill>
                <a:srgbClr val="000000"/>
              </a:solidFill>
              <a:prstDash val="sysDot"/>
              <a:headEnd type="none" w="sm" len="sm"/>
              <a:tailEnd type="arrow" w="med" len="sm"/>
            </a:ln>
          </p:spPr>
        </p:sp>
        <p:sp>
          <p:nvSpPr>
            <p:cNvPr id="66" name="AutoShape 66"/>
            <p:cNvSpPr/>
            <p:nvPr/>
          </p:nvSpPr>
          <p:spPr>
            <a:xfrm>
              <a:off x="13679398" y="4225161"/>
              <a:ext cx="1841189" cy="0"/>
            </a:xfrm>
            <a:prstGeom prst="line">
              <a:avLst/>
            </a:prstGeom>
            <a:ln w="60691" cap="flat">
              <a:solidFill>
                <a:srgbClr val="000000"/>
              </a:solidFill>
              <a:prstDash val="sysDot"/>
              <a:headEnd type="none" w="sm" len="sm"/>
              <a:tailEnd type="arrow" w="med" len="sm"/>
            </a:ln>
          </p:spPr>
        </p:sp>
        <p:sp>
          <p:nvSpPr>
            <p:cNvPr id="67" name="TextBox 67"/>
            <p:cNvSpPr txBox="1"/>
            <p:nvPr/>
          </p:nvSpPr>
          <p:spPr>
            <a:xfrm>
              <a:off x="15502666" y="3512437"/>
              <a:ext cx="4714177" cy="379918"/>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Vibraciones</a:t>
              </a:r>
            </a:p>
          </p:txBody>
        </p:sp>
        <p:sp>
          <p:nvSpPr>
            <p:cNvPr id="68" name="TextBox 68"/>
            <p:cNvSpPr txBox="1"/>
            <p:nvPr/>
          </p:nvSpPr>
          <p:spPr>
            <a:xfrm>
              <a:off x="15520587" y="4016152"/>
              <a:ext cx="8863413" cy="379918"/>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Ruido</a:t>
              </a:r>
            </a:p>
          </p:txBody>
        </p:sp>
        <p:sp>
          <p:nvSpPr>
            <p:cNvPr id="69" name="AutoShape 69"/>
            <p:cNvSpPr/>
            <p:nvPr/>
          </p:nvSpPr>
          <p:spPr>
            <a:xfrm>
              <a:off x="13679398" y="3279791"/>
              <a:ext cx="1841189" cy="0"/>
            </a:xfrm>
            <a:prstGeom prst="line">
              <a:avLst/>
            </a:prstGeom>
            <a:ln w="60691" cap="flat">
              <a:solidFill>
                <a:srgbClr val="000000"/>
              </a:solidFill>
              <a:prstDash val="sysDot"/>
              <a:headEnd type="none" w="sm" len="sm"/>
              <a:tailEnd type="arrow" w="med" len="sm"/>
            </a:ln>
          </p:spPr>
        </p:sp>
        <p:sp>
          <p:nvSpPr>
            <p:cNvPr id="70" name="TextBox 70"/>
            <p:cNvSpPr txBox="1"/>
            <p:nvPr/>
          </p:nvSpPr>
          <p:spPr>
            <a:xfrm>
              <a:off x="15520587" y="3070782"/>
              <a:ext cx="8863413" cy="379918"/>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Calor</a:t>
              </a:r>
            </a:p>
          </p:txBody>
        </p:sp>
        <p:grpSp>
          <p:nvGrpSpPr>
            <p:cNvPr id="71" name="Group 71"/>
            <p:cNvGrpSpPr/>
            <p:nvPr/>
          </p:nvGrpSpPr>
          <p:grpSpPr>
            <a:xfrm>
              <a:off x="4977993" y="7117952"/>
              <a:ext cx="1809092" cy="477491"/>
              <a:chOff x="0" y="0"/>
              <a:chExt cx="3079489" cy="812800"/>
            </a:xfrm>
          </p:grpSpPr>
          <p:sp>
            <p:nvSpPr>
              <p:cNvPr id="72" name="Freeform 72"/>
              <p:cNvSpPr/>
              <p:nvPr/>
            </p:nvSpPr>
            <p:spPr>
              <a:xfrm>
                <a:off x="0" y="0"/>
                <a:ext cx="3079490" cy="812800"/>
              </a:xfrm>
              <a:custGeom>
                <a:avLst/>
                <a:gdLst/>
                <a:ahLst/>
                <a:cxnLst/>
                <a:rect l="l" t="t" r="r" b="b"/>
                <a:pathLst>
                  <a:path w="3079490" h="812800">
                    <a:moveTo>
                      <a:pt x="3079490" y="406400"/>
                    </a:moveTo>
                    <a:lnTo>
                      <a:pt x="2673090" y="0"/>
                    </a:lnTo>
                    <a:lnTo>
                      <a:pt x="2673090" y="203200"/>
                    </a:lnTo>
                    <a:lnTo>
                      <a:pt x="0" y="203200"/>
                    </a:lnTo>
                    <a:lnTo>
                      <a:pt x="0" y="609600"/>
                    </a:lnTo>
                    <a:lnTo>
                      <a:pt x="2673090" y="609600"/>
                    </a:lnTo>
                    <a:lnTo>
                      <a:pt x="2673090" y="812800"/>
                    </a:lnTo>
                    <a:lnTo>
                      <a:pt x="3079490" y="406400"/>
                    </a:lnTo>
                    <a:close/>
                  </a:path>
                </a:pathLst>
              </a:custGeom>
              <a:solidFill>
                <a:srgbClr val="FFFFFF"/>
              </a:solidFill>
              <a:ln w="209550" cap="sq">
                <a:solidFill>
                  <a:srgbClr val="000000"/>
                </a:solidFill>
                <a:prstDash val="solid"/>
                <a:miter/>
              </a:ln>
            </p:spPr>
          </p:sp>
          <p:sp>
            <p:nvSpPr>
              <p:cNvPr id="73" name="TextBox 73"/>
              <p:cNvSpPr txBox="1"/>
              <p:nvPr/>
            </p:nvSpPr>
            <p:spPr>
              <a:xfrm>
                <a:off x="0" y="203200"/>
                <a:ext cx="2977889" cy="406400"/>
              </a:xfrm>
              <a:prstGeom prst="rect">
                <a:avLst/>
              </a:prstGeom>
            </p:spPr>
            <p:txBody>
              <a:bodyPr lIns="50800" tIns="50800" rIns="50800" bIns="50800" rtlCol="0" anchor="ctr"/>
              <a:lstStyle/>
              <a:p>
                <a:pPr algn="ctr">
                  <a:lnSpc>
                    <a:spcPts val="573"/>
                  </a:lnSpc>
                </a:pPr>
                <a:endParaRPr/>
              </a:p>
            </p:txBody>
          </p:sp>
        </p:grpSp>
        <p:grpSp>
          <p:nvGrpSpPr>
            <p:cNvPr id="74" name="Group 74"/>
            <p:cNvGrpSpPr/>
            <p:nvPr/>
          </p:nvGrpSpPr>
          <p:grpSpPr>
            <a:xfrm>
              <a:off x="4977993" y="7755841"/>
              <a:ext cx="1809092" cy="477491"/>
              <a:chOff x="0" y="0"/>
              <a:chExt cx="3079489" cy="812800"/>
            </a:xfrm>
          </p:grpSpPr>
          <p:sp>
            <p:nvSpPr>
              <p:cNvPr id="75" name="Freeform 75"/>
              <p:cNvSpPr/>
              <p:nvPr/>
            </p:nvSpPr>
            <p:spPr>
              <a:xfrm>
                <a:off x="0" y="0"/>
                <a:ext cx="3079490" cy="812800"/>
              </a:xfrm>
              <a:custGeom>
                <a:avLst/>
                <a:gdLst/>
                <a:ahLst/>
                <a:cxnLst/>
                <a:rect l="l" t="t" r="r" b="b"/>
                <a:pathLst>
                  <a:path w="3079490" h="812800">
                    <a:moveTo>
                      <a:pt x="3079490" y="406400"/>
                    </a:moveTo>
                    <a:lnTo>
                      <a:pt x="2673090" y="0"/>
                    </a:lnTo>
                    <a:lnTo>
                      <a:pt x="2673090" y="203200"/>
                    </a:lnTo>
                    <a:lnTo>
                      <a:pt x="0" y="203200"/>
                    </a:lnTo>
                    <a:lnTo>
                      <a:pt x="0" y="609600"/>
                    </a:lnTo>
                    <a:lnTo>
                      <a:pt x="2673090" y="609600"/>
                    </a:lnTo>
                    <a:lnTo>
                      <a:pt x="2673090" y="812800"/>
                    </a:lnTo>
                    <a:lnTo>
                      <a:pt x="3079490" y="406400"/>
                    </a:lnTo>
                    <a:close/>
                  </a:path>
                </a:pathLst>
              </a:custGeom>
              <a:solidFill>
                <a:srgbClr val="FFFFFF"/>
              </a:solidFill>
              <a:ln w="209550" cap="sq">
                <a:solidFill>
                  <a:srgbClr val="000000"/>
                </a:solidFill>
                <a:prstDash val="solid"/>
                <a:miter/>
              </a:ln>
            </p:spPr>
          </p:sp>
          <p:sp>
            <p:nvSpPr>
              <p:cNvPr id="76" name="TextBox 76"/>
              <p:cNvSpPr txBox="1"/>
              <p:nvPr/>
            </p:nvSpPr>
            <p:spPr>
              <a:xfrm>
                <a:off x="0" y="203200"/>
                <a:ext cx="2977889" cy="406400"/>
              </a:xfrm>
              <a:prstGeom prst="rect">
                <a:avLst/>
              </a:prstGeom>
            </p:spPr>
            <p:txBody>
              <a:bodyPr lIns="50800" tIns="50800" rIns="50800" bIns="50800" rtlCol="0" anchor="ctr"/>
              <a:lstStyle/>
              <a:p>
                <a:pPr algn="ctr">
                  <a:lnSpc>
                    <a:spcPts val="573"/>
                  </a:lnSpc>
                </a:pPr>
                <a:endParaRPr/>
              </a:p>
            </p:txBody>
          </p:sp>
        </p:grpSp>
        <p:grpSp>
          <p:nvGrpSpPr>
            <p:cNvPr id="77" name="Group 77"/>
            <p:cNvGrpSpPr/>
            <p:nvPr/>
          </p:nvGrpSpPr>
          <p:grpSpPr>
            <a:xfrm>
              <a:off x="13662056" y="7517095"/>
              <a:ext cx="1809092" cy="477491"/>
              <a:chOff x="0" y="0"/>
              <a:chExt cx="3079489" cy="812800"/>
            </a:xfrm>
          </p:grpSpPr>
          <p:sp>
            <p:nvSpPr>
              <p:cNvPr id="78" name="Freeform 78"/>
              <p:cNvSpPr/>
              <p:nvPr/>
            </p:nvSpPr>
            <p:spPr>
              <a:xfrm>
                <a:off x="0" y="0"/>
                <a:ext cx="3079490" cy="812800"/>
              </a:xfrm>
              <a:custGeom>
                <a:avLst/>
                <a:gdLst/>
                <a:ahLst/>
                <a:cxnLst/>
                <a:rect l="l" t="t" r="r" b="b"/>
                <a:pathLst>
                  <a:path w="3079490" h="812800">
                    <a:moveTo>
                      <a:pt x="3079490" y="406400"/>
                    </a:moveTo>
                    <a:lnTo>
                      <a:pt x="2673090" y="0"/>
                    </a:lnTo>
                    <a:lnTo>
                      <a:pt x="2673090" y="203200"/>
                    </a:lnTo>
                    <a:lnTo>
                      <a:pt x="0" y="203200"/>
                    </a:lnTo>
                    <a:lnTo>
                      <a:pt x="0" y="609600"/>
                    </a:lnTo>
                    <a:lnTo>
                      <a:pt x="2673090" y="609600"/>
                    </a:lnTo>
                    <a:lnTo>
                      <a:pt x="2673090" y="812800"/>
                    </a:lnTo>
                    <a:lnTo>
                      <a:pt x="3079490" y="406400"/>
                    </a:lnTo>
                    <a:close/>
                  </a:path>
                </a:pathLst>
              </a:custGeom>
              <a:solidFill>
                <a:srgbClr val="FFFFFF"/>
              </a:solidFill>
              <a:ln w="209550" cap="sq">
                <a:solidFill>
                  <a:srgbClr val="000000"/>
                </a:solidFill>
                <a:prstDash val="solid"/>
                <a:miter/>
              </a:ln>
            </p:spPr>
          </p:sp>
          <p:sp>
            <p:nvSpPr>
              <p:cNvPr id="79" name="TextBox 79"/>
              <p:cNvSpPr txBox="1"/>
              <p:nvPr/>
            </p:nvSpPr>
            <p:spPr>
              <a:xfrm>
                <a:off x="0" y="203200"/>
                <a:ext cx="2977889" cy="406400"/>
              </a:xfrm>
              <a:prstGeom prst="rect">
                <a:avLst/>
              </a:prstGeom>
            </p:spPr>
            <p:txBody>
              <a:bodyPr lIns="50800" tIns="50800" rIns="50800" bIns="50800" rtlCol="0" anchor="ctr"/>
              <a:lstStyle/>
              <a:p>
                <a:pPr algn="ctr">
                  <a:lnSpc>
                    <a:spcPts val="573"/>
                  </a:lnSpc>
                </a:pPr>
                <a:endParaRPr/>
              </a:p>
            </p:txBody>
          </p:sp>
        </p:grpSp>
        <p:sp>
          <p:nvSpPr>
            <p:cNvPr id="80" name="TextBox 80"/>
            <p:cNvSpPr txBox="1"/>
            <p:nvPr/>
          </p:nvSpPr>
          <p:spPr>
            <a:xfrm>
              <a:off x="15475483" y="7557343"/>
              <a:ext cx="8863413" cy="379918"/>
            </a:xfrm>
            <a:prstGeom prst="rect">
              <a:avLst/>
            </a:prstGeom>
          </p:spPr>
          <p:txBody>
            <a:bodyPr lIns="0" tIns="0" rIns="0" bIns="0" rtlCol="0" anchor="t">
              <a:spAutoFit/>
            </a:bodyPr>
            <a:lstStyle/>
            <a:p>
              <a:pPr algn="l">
                <a:lnSpc>
                  <a:spcPts val="2356"/>
                </a:lnSpc>
              </a:pPr>
              <a:r>
                <a:rPr lang="en-US" sz="1683" b="1">
                  <a:solidFill>
                    <a:srgbClr val="000000"/>
                  </a:solidFill>
                  <a:latin typeface="Open Sans Bold"/>
                  <a:ea typeface="Open Sans Bold"/>
                  <a:cs typeface="Open Sans Bold"/>
                  <a:sym typeface="Open Sans Bold"/>
                </a:rPr>
                <a:t>Cuerpo de paciente liberado</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4111" b="-14111"/>
            </a:stretch>
          </a:blipFill>
        </p:spPr>
      </p:sp>
      <p:sp>
        <p:nvSpPr>
          <p:cNvPr id="3" name="Freeform 3"/>
          <p:cNvSpPr/>
          <p:nvPr/>
        </p:nvSpPr>
        <p:spPr>
          <a:xfrm>
            <a:off x="2219698" y="2380086"/>
            <a:ext cx="13848604" cy="6878214"/>
          </a:xfrm>
          <a:custGeom>
            <a:avLst/>
            <a:gdLst/>
            <a:ahLst/>
            <a:cxnLst/>
            <a:rect l="l" t="t" r="r" b="b"/>
            <a:pathLst>
              <a:path w="13848604" h="6878214">
                <a:moveTo>
                  <a:pt x="0" y="0"/>
                </a:moveTo>
                <a:lnTo>
                  <a:pt x="13848604" y="0"/>
                </a:lnTo>
                <a:lnTo>
                  <a:pt x="13848604" y="6878214"/>
                </a:lnTo>
                <a:lnTo>
                  <a:pt x="0" y="6878214"/>
                </a:lnTo>
                <a:lnTo>
                  <a:pt x="0" y="0"/>
                </a:lnTo>
                <a:close/>
              </a:path>
            </a:pathLst>
          </a:custGeom>
          <a:blipFill>
            <a:blip r:embed="rId3"/>
            <a:stretch>
              <a:fillRect t="-11387"/>
            </a:stretch>
          </a:blipFill>
        </p:spPr>
      </p:sp>
      <p:sp>
        <p:nvSpPr>
          <p:cNvPr id="4" name="TextBox 4"/>
          <p:cNvSpPr txBox="1"/>
          <p:nvPr/>
        </p:nvSpPr>
        <p:spPr>
          <a:xfrm>
            <a:off x="4697902" y="402907"/>
            <a:ext cx="8892196"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Secuencia de operaciones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4111" b="-14111"/>
            </a:stretch>
          </a:blipFill>
        </p:spPr>
      </p:sp>
      <p:sp>
        <p:nvSpPr>
          <p:cNvPr id="3" name="Freeform 3"/>
          <p:cNvSpPr/>
          <p:nvPr/>
        </p:nvSpPr>
        <p:spPr>
          <a:xfrm>
            <a:off x="2584108" y="1992067"/>
            <a:ext cx="13119784" cy="7266233"/>
          </a:xfrm>
          <a:custGeom>
            <a:avLst/>
            <a:gdLst/>
            <a:ahLst/>
            <a:cxnLst/>
            <a:rect l="l" t="t" r="r" b="b"/>
            <a:pathLst>
              <a:path w="13119784" h="7266233">
                <a:moveTo>
                  <a:pt x="0" y="0"/>
                </a:moveTo>
                <a:lnTo>
                  <a:pt x="13119784" y="0"/>
                </a:lnTo>
                <a:lnTo>
                  <a:pt x="13119784" y="7266233"/>
                </a:lnTo>
                <a:lnTo>
                  <a:pt x="0" y="7266233"/>
                </a:lnTo>
                <a:lnTo>
                  <a:pt x="0" y="0"/>
                </a:lnTo>
                <a:close/>
              </a:path>
            </a:pathLst>
          </a:custGeom>
          <a:blipFill>
            <a:blip r:embed="rId3"/>
            <a:stretch>
              <a:fillRect t="-2024"/>
            </a:stretch>
          </a:blipFill>
        </p:spPr>
      </p:sp>
      <p:sp>
        <p:nvSpPr>
          <p:cNvPr id="4" name="TextBox 4"/>
          <p:cNvSpPr txBox="1"/>
          <p:nvPr/>
        </p:nvSpPr>
        <p:spPr>
          <a:xfrm>
            <a:off x="4697902" y="402907"/>
            <a:ext cx="8892196"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Secuencia de operaciones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4111" b="-14111"/>
            </a:stretch>
          </a:blipFill>
        </p:spPr>
      </p:sp>
      <p:sp>
        <p:nvSpPr>
          <p:cNvPr id="3" name="Freeform 3"/>
          <p:cNvSpPr/>
          <p:nvPr/>
        </p:nvSpPr>
        <p:spPr>
          <a:xfrm>
            <a:off x="2775648" y="2508413"/>
            <a:ext cx="12710672" cy="6749887"/>
          </a:xfrm>
          <a:custGeom>
            <a:avLst/>
            <a:gdLst/>
            <a:ahLst/>
            <a:cxnLst/>
            <a:rect l="l" t="t" r="r" b="b"/>
            <a:pathLst>
              <a:path w="12710672" h="6749887">
                <a:moveTo>
                  <a:pt x="0" y="0"/>
                </a:moveTo>
                <a:lnTo>
                  <a:pt x="12710672" y="0"/>
                </a:lnTo>
                <a:lnTo>
                  <a:pt x="12710672" y="6749887"/>
                </a:lnTo>
                <a:lnTo>
                  <a:pt x="0" y="6749887"/>
                </a:lnTo>
                <a:lnTo>
                  <a:pt x="0" y="0"/>
                </a:lnTo>
                <a:close/>
              </a:path>
            </a:pathLst>
          </a:custGeom>
          <a:blipFill>
            <a:blip r:embed="rId3"/>
            <a:stretch>
              <a:fillRect t="-1383" r="-204"/>
            </a:stretch>
          </a:blipFill>
        </p:spPr>
      </p:sp>
      <p:sp>
        <p:nvSpPr>
          <p:cNvPr id="4" name="TextBox 4"/>
          <p:cNvSpPr txBox="1"/>
          <p:nvPr/>
        </p:nvSpPr>
        <p:spPr>
          <a:xfrm>
            <a:off x="4697902" y="402907"/>
            <a:ext cx="8892196"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Secuencia de operaciones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14111" b="-14111"/>
            </a:stretch>
          </a:blipFill>
        </p:spPr>
      </p:sp>
      <p:grpSp>
        <p:nvGrpSpPr>
          <p:cNvPr id="3" name="Group 3"/>
          <p:cNvGrpSpPr/>
          <p:nvPr/>
        </p:nvGrpSpPr>
        <p:grpSpPr>
          <a:xfrm>
            <a:off x="576159" y="0"/>
            <a:ext cx="17650032" cy="10287000"/>
            <a:chOff x="0" y="0"/>
            <a:chExt cx="23533376" cy="13716000"/>
          </a:xfrm>
        </p:grpSpPr>
        <p:grpSp>
          <p:nvGrpSpPr>
            <p:cNvPr id="4" name="Group 4"/>
            <p:cNvGrpSpPr/>
            <p:nvPr/>
          </p:nvGrpSpPr>
          <p:grpSpPr>
            <a:xfrm>
              <a:off x="4815274" y="0"/>
              <a:ext cx="11879634" cy="4476306"/>
              <a:chOff x="0" y="0"/>
              <a:chExt cx="14404190" cy="5427739"/>
            </a:xfrm>
          </p:grpSpPr>
          <p:sp>
            <p:nvSpPr>
              <p:cNvPr id="5" name="Freeform 5"/>
              <p:cNvSpPr/>
              <p:nvPr/>
            </p:nvSpPr>
            <p:spPr>
              <a:xfrm>
                <a:off x="0" y="0"/>
                <a:ext cx="14404191" cy="5427738"/>
              </a:xfrm>
              <a:custGeom>
                <a:avLst/>
                <a:gdLst/>
                <a:ahLst/>
                <a:cxnLst/>
                <a:rect l="l" t="t" r="r" b="b"/>
                <a:pathLst>
                  <a:path w="14404191" h="5427738">
                    <a:moveTo>
                      <a:pt x="14404191" y="8139"/>
                    </a:moveTo>
                    <a:lnTo>
                      <a:pt x="14404191" y="5419600"/>
                    </a:lnTo>
                    <a:cubicBezTo>
                      <a:pt x="14404191" y="5421758"/>
                      <a:pt x="14403333" y="5423828"/>
                      <a:pt x="14401806" y="5425355"/>
                    </a:cubicBezTo>
                    <a:cubicBezTo>
                      <a:pt x="14400281" y="5426881"/>
                      <a:pt x="14398211" y="5427738"/>
                      <a:pt x="14396052" y="5427738"/>
                    </a:cubicBezTo>
                    <a:lnTo>
                      <a:pt x="8139" y="5427738"/>
                    </a:lnTo>
                    <a:cubicBezTo>
                      <a:pt x="5980" y="5427738"/>
                      <a:pt x="3910" y="5426881"/>
                      <a:pt x="2384" y="5425355"/>
                    </a:cubicBezTo>
                    <a:cubicBezTo>
                      <a:pt x="857" y="5423828"/>
                      <a:pt x="0" y="5421758"/>
                      <a:pt x="0" y="5419600"/>
                    </a:cubicBezTo>
                    <a:lnTo>
                      <a:pt x="0" y="8139"/>
                    </a:lnTo>
                    <a:cubicBezTo>
                      <a:pt x="0" y="5980"/>
                      <a:pt x="857" y="3910"/>
                      <a:pt x="2384" y="2384"/>
                    </a:cubicBezTo>
                    <a:cubicBezTo>
                      <a:pt x="3910" y="857"/>
                      <a:pt x="5980" y="0"/>
                      <a:pt x="8139" y="0"/>
                    </a:cubicBezTo>
                    <a:lnTo>
                      <a:pt x="14396052" y="0"/>
                    </a:lnTo>
                    <a:cubicBezTo>
                      <a:pt x="14398211" y="0"/>
                      <a:pt x="14400281" y="857"/>
                      <a:pt x="14401806" y="2384"/>
                    </a:cubicBezTo>
                    <a:cubicBezTo>
                      <a:pt x="14403333" y="3910"/>
                      <a:pt x="14404191" y="5980"/>
                      <a:pt x="14404191" y="8139"/>
                    </a:cubicBezTo>
                    <a:close/>
                  </a:path>
                </a:pathLst>
              </a:custGeom>
              <a:solidFill>
                <a:srgbClr val="D0F8FF"/>
              </a:solidFill>
              <a:ln w="47625" cap="rnd">
                <a:solidFill>
                  <a:srgbClr val="0097B2"/>
                </a:solidFill>
                <a:prstDash val="solid"/>
                <a:round/>
              </a:ln>
            </p:spPr>
          </p:sp>
          <p:sp>
            <p:nvSpPr>
              <p:cNvPr id="6" name="TextBox 6"/>
              <p:cNvSpPr txBox="1"/>
              <p:nvPr/>
            </p:nvSpPr>
            <p:spPr>
              <a:xfrm>
                <a:off x="0" y="-9525"/>
                <a:ext cx="14404190" cy="5437264"/>
              </a:xfrm>
              <a:prstGeom prst="rect">
                <a:avLst/>
              </a:prstGeom>
            </p:spPr>
            <p:txBody>
              <a:bodyPr lIns="50800" tIns="50800" rIns="50800" bIns="50800" rtlCol="0" anchor="ctr"/>
              <a:lstStyle/>
              <a:p>
                <a:pPr marL="0" lvl="0" indent="0" algn="ctr">
                  <a:lnSpc>
                    <a:spcPts val="605"/>
                  </a:lnSpc>
                  <a:spcBef>
                    <a:spcPct val="0"/>
                  </a:spcBef>
                </a:pPr>
                <a:endParaRPr/>
              </a:p>
            </p:txBody>
          </p:sp>
        </p:grpSp>
        <p:grpSp>
          <p:nvGrpSpPr>
            <p:cNvPr id="7" name="Group 7"/>
            <p:cNvGrpSpPr/>
            <p:nvPr/>
          </p:nvGrpSpPr>
          <p:grpSpPr>
            <a:xfrm>
              <a:off x="4926269" y="11565209"/>
              <a:ext cx="11921289" cy="2150791"/>
              <a:chOff x="0" y="0"/>
              <a:chExt cx="17423812" cy="3143631"/>
            </a:xfrm>
          </p:grpSpPr>
          <p:sp>
            <p:nvSpPr>
              <p:cNvPr id="8" name="Freeform 8"/>
              <p:cNvSpPr/>
              <p:nvPr/>
            </p:nvSpPr>
            <p:spPr>
              <a:xfrm>
                <a:off x="0" y="0"/>
                <a:ext cx="17423812" cy="3143631"/>
              </a:xfrm>
              <a:custGeom>
                <a:avLst/>
                <a:gdLst/>
                <a:ahLst/>
                <a:cxnLst/>
                <a:rect l="l" t="t" r="r" b="b"/>
                <a:pathLst>
                  <a:path w="17423812" h="3143631">
                    <a:moveTo>
                      <a:pt x="17423812" y="8110"/>
                    </a:moveTo>
                    <a:lnTo>
                      <a:pt x="17423812" y="3135520"/>
                    </a:lnTo>
                    <a:cubicBezTo>
                      <a:pt x="17423812" y="3139999"/>
                      <a:pt x="17420182" y="3143631"/>
                      <a:pt x="17415703" y="3143631"/>
                    </a:cubicBezTo>
                    <a:lnTo>
                      <a:pt x="8110" y="3143631"/>
                    </a:lnTo>
                    <a:cubicBezTo>
                      <a:pt x="3631" y="3143631"/>
                      <a:pt x="0" y="3139999"/>
                      <a:pt x="0" y="3135520"/>
                    </a:cubicBezTo>
                    <a:lnTo>
                      <a:pt x="0" y="8110"/>
                    </a:lnTo>
                    <a:cubicBezTo>
                      <a:pt x="0" y="3631"/>
                      <a:pt x="3631" y="0"/>
                      <a:pt x="8110" y="0"/>
                    </a:cubicBezTo>
                    <a:lnTo>
                      <a:pt x="17415703" y="0"/>
                    </a:lnTo>
                    <a:cubicBezTo>
                      <a:pt x="17420182" y="0"/>
                      <a:pt x="17423812" y="3631"/>
                      <a:pt x="17423812" y="8110"/>
                    </a:cubicBezTo>
                    <a:close/>
                  </a:path>
                </a:pathLst>
              </a:custGeom>
              <a:solidFill>
                <a:srgbClr val="FFE7EE"/>
              </a:solidFill>
              <a:ln w="47625" cap="rnd">
                <a:solidFill>
                  <a:srgbClr val="FF2768"/>
                </a:solidFill>
                <a:prstDash val="solid"/>
                <a:round/>
              </a:ln>
            </p:spPr>
          </p:sp>
          <p:sp>
            <p:nvSpPr>
              <p:cNvPr id="9" name="TextBox 9"/>
              <p:cNvSpPr txBox="1"/>
              <p:nvPr/>
            </p:nvSpPr>
            <p:spPr>
              <a:xfrm>
                <a:off x="0" y="-9525"/>
                <a:ext cx="17423812" cy="3153156"/>
              </a:xfrm>
              <a:prstGeom prst="rect">
                <a:avLst/>
              </a:prstGeom>
            </p:spPr>
            <p:txBody>
              <a:bodyPr lIns="50800" tIns="50800" rIns="50800" bIns="50800" rtlCol="0" anchor="ctr"/>
              <a:lstStyle/>
              <a:p>
                <a:pPr marL="0" lvl="0" indent="0" algn="ctr">
                  <a:lnSpc>
                    <a:spcPts val="605"/>
                  </a:lnSpc>
                  <a:spcBef>
                    <a:spcPct val="0"/>
                  </a:spcBef>
                </a:pPr>
                <a:endParaRPr/>
              </a:p>
            </p:txBody>
          </p:sp>
        </p:grpSp>
        <p:grpSp>
          <p:nvGrpSpPr>
            <p:cNvPr id="10" name="Group 10"/>
            <p:cNvGrpSpPr/>
            <p:nvPr/>
          </p:nvGrpSpPr>
          <p:grpSpPr>
            <a:xfrm>
              <a:off x="4845758" y="4654736"/>
              <a:ext cx="6837520" cy="2635465"/>
              <a:chOff x="0" y="0"/>
              <a:chExt cx="6326708" cy="2438577"/>
            </a:xfrm>
          </p:grpSpPr>
          <p:sp>
            <p:nvSpPr>
              <p:cNvPr id="11" name="Freeform 11"/>
              <p:cNvSpPr/>
              <p:nvPr/>
            </p:nvSpPr>
            <p:spPr>
              <a:xfrm>
                <a:off x="0" y="0"/>
                <a:ext cx="6326708" cy="2438577"/>
              </a:xfrm>
              <a:custGeom>
                <a:avLst/>
                <a:gdLst/>
                <a:ahLst/>
                <a:cxnLst/>
                <a:rect l="l" t="t" r="r" b="b"/>
                <a:pathLst>
                  <a:path w="6326708" h="2438577">
                    <a:moveTo>
                      <a:pt x="14140" y="0"/>
                    </a:moveTo>
                    <a:lnTo>
                      <a:pt x="6312567" y="0"/>
                    </a:lnTo>
                    <a:cubicBezTo>
                      <a:pt x="6316318" y="0"/>
                      <a:pt x="6319914" y="1490"/>
                      <a:pt x="6322566" y="4142"/>
                    </a:cubicBezTo>
                    <a:cubicBezTo>
                      <a:pt x="6325218" y="6793"/>
                      <a:pt x="6326708" y="10390"/>
                      <a:pt x="6326708" y="14140"/>
                    </a:cubicBezTo>
                    <a:lnTo>
                      <a:pt x="6326708" y="2424437"/>
                    </a:lnTo>
                    <a:cubicBezTo>
                      <a:pt x="6326708" y="2432246"/>
                      <a:pt x="6320377" y="2438577"/>
                      <a:pt x="6312567" y="2438577"/>
                    </a:cubicBezTo>
                    <a:lnTo>
                      <a:pt x="14140" y="2438577"/>
                    </a:lnTo>
                    <a:cubicBezTo>
                      <a:pt x="10390" y="2438577"/>
                      <a:pt x="6793" y="2437087"/>
                      <a:pt x="4142" y="2434435"/>
                    </a:cubicBezTo>
                    <a:cubicBezTo>
                      <a:pt x="1490" y="2431784"/>
                      <a:pt x="0" y="2428187"/>
                      <a:pt x="0" y="2424437"/>
                    </a:cubicBezTo>
                    <a:lnTo>
                      <a:pt x="0" y="14140"/>
                    </a:lnTo>
                    <a:cubicBezTo>
                      <a:pt x="0" y="10390"/>
                      <a:pt x="1490" y="6793"/>
                      <a:pt x="4142" y="4142"/>
                    </a:cubicBezTo>
                    <a:cubicBezTo>
                      <a:pt x="6793" y="1490"/>
                      <a:pt x="10390" y="0"/>
                      <a:pt x="14140" y="0"/>
                    </a:cubicBezTo>
                    <a:close/>
                  </a:path>
                </a:pathLst>
              </a:custGeom>
              <a:solidFill>
                <a:srgbClr val="FFF2CF"/>
              </a:solidFill>
              <a:ln w="47625" cap="rnd">
                <a:solidFill>
                  <a:srgbClr val="D7A92E"/>
                </a:solidFill>
                <a:prstDash val="solid"/>
                <a:round/>
              </a:ln>
            </p:spPr>
          </p:sp>
          <p:sp>
            <p:nvSpPr>
              <p:cNvPr id="12" name="TextBox 12"/>
              <p:cNvSpPr txBox="1"/>
              <p:nvPr/>
            </p:nvSpPr>
            <p:spPr>
              <a:xfrm>
                <a:off x="0" y="-9525"/>
                <a:ext cx="6326708" cy="2448102"/>
              </a:xfrm>
              <a:prstGeom prst="rect">
                <a:avLst/>
              </a:prstGeom>
            </p:spPr>
            <p:txBody>
              <a:bodyPr lIns="50800" tIns="50800" rIns="50800" bIns="50800" rtlCol="0" anchor="ctr"/>
              <a:lstStyle/>
              <a:p>
                <a:pPr marL="0" lvl="0" indent="0" algn="ctr">
                  <a:lnSpc>
                    <a:spcPts val="605"/>
                  </a:lnSpc>
                  <a:spcBef>
                    <a:spcPct val="0"/>
                  </a:spcBef>
                </a:pPr>
                <a:endParaRPr/>
              </a:p>
            </p:txBody>
          </p:sp>
        </p:grpSp>
        <p:grpSp>
          <p:nvGrpSpPr>
            <p:cNvPr id="13" name="Group 13"/>
            <p:cNvGrpSpPr/>
            <p:nvPr/>
          </p:nvGrpSpPr>
          <p:grpSpPr>
            <a:xfrm>
              <a:off x="5432593" y="5719504"/>
              <a:ext cx="1771903" cy="829144"/>
              <a:chOff x="0" y="0"/>
              <a:chExt cx="1478153" cy="691708"/>
            </a:xfrm>
          </p:grpSpPr>
          <p:sp>
            <p:nvSpPr>
              <p:cNvPr id="14" name="Freeform 14"/>
              <p:cNvSpPr/>
              <p:nvPr/>
            </p:nvSpPr>
            <p:spPr>
              <a:xfrm>
                <a:off x="0" y="0"/>
                <a:ext cx="1478153" cy="691708"/>
              </a:xfrm>
              <a:custGeom>
                <a:avLst/>
                <a:gdLst/>
                <a:ahLst/>
                <a:cxnLst/>
                <a:rect l="l" t="t" r="r" b="b"/>
                <a:pathLst>
                  <a:path w="1478153" h="691708">
                    <a:moveTo>
                      <a:pt x="1478153" y="0"/>
                    </a:moveTo>
                    <a:lnTo>
                      <a:pt x="1478153" y="691708"/>
                    </a:lnTo>
                    <a:lnTo>
                      <a:pt x="0" y="691708"/>
                    </a:lnTo>
                    <a:lnTo>
                      <a:pt x="0" y="0"/>
                    </a:lnTo>
                    <a:close/>
                  </a:path>
                </a:pathLst>
              </a:custGeom>
              <a:solidFill>
                <a:srgbClr val="FFFFFF"/>
              </a:solidFill>
              <a:ln w="47625" cap="sq">
                <a:solidFill>
                  <a:srgbClr val="D7A92E"/>
                </a:solidFill>
                <a:prstDash val="solid"/>
                <a:miter/>
              </a:ln>
            </p:spPr>
          </p:sp>
          <p:sp>
            <p:nvSpPr>
              <p:cNvPr id="15" name="TextBox 15"/>
              <p:cNvSpPr txBox="1"/>
              <p:nvPr/>
            </p:nvSpPr>
            <p:spPr>
              <a:xfrm>
                <a:off x="0" y="-9525"/>
                <a:ext cx="1478153" cy="701233"/>
              </a:xfrm>
              <a:prstGeom prst="rect">
                <a:avLst/>
              </a:prstGeom>
            </p:spPr>
            <p:txBody>
              <a:bodyPr lIns="48758" tIns="48758" rIns="48758" bIns="48758" rtlCol="0" anchor="ctr"/>
              <a:lstStyle/>
              <a:p>
                <a:pPr marL="0" lvl="0" indent="0" algn="ctr">
                  <a:lnSpc>
                    <a:spcPts val="605"/>
                  </a:lnSpc>
                  <a:spcBef>
                    <a:spcPct val="0"/>
                  </a:spcBef>
                </a:pPr>
                <a:endParaRPr/>
              </a:p>
            </p:txBody>
          </p:sp>
        </p:grpSp>
        <p:sp>
          <p:nvSpPr>
            <p:cNvPr id="16" name="TextBox 16"/>
            <p:cNvSpPr txBox="1"/>
            <p:nvPr/>
          </p:nvSpPr>
          <p:spPr>
            <a:xfrm>
              <a:off x="5432593" y="5846104"/>
              <a:ext cx="1673813" cy="528318"/>
            </a:xfrm>
            <a:prstGeom prst="rect">
              <a:avLst/>
            </a:prstGeom>
          </p:spPr>
          <p:txBody>
            <a:bodyPr lIns="0" tIns="0" rIns="0" bIns="0" rtlCol="0" anchor="t">
              <a:spAutoFit/>
            </a:bodyPr>
            <a:lstStyle/>
            <a:p>
              <a:pPr algn="ctr">
                <a:lnSpc>
                  <a:spcPts val="1549"/>
                </a:lnSpc>
              </a:pPr>
              <a:r>
                <a:rPr lang="en-US" sz="1106">
                  <a:solidFill>
                    <a:srgbClr val="000000"/>
                  </a:solidFill>
                  <a:latin typeface="Times New Roman MT"/>
                  <a:ea typeface="Times New Roman MT"/>
                  <a:cs typeface="Times New Roman MT"/>
                  <a:sym typeface="Times New Roman MT"/>
                </a:rPr>
                <a:t>Medir señal Cardiorepiratoria</a:t>
              </a:r>
            </a:p>
          </p:txBody>
        </p:sp>
        <p:grpSp>
          <p:nvGrpSpPr>
            <p:cNvPr id="17" name="Group 17"/>
            <p:cNvGrpSpPr/>
            <p:nvPr/>
          </p:nvGrpSpPr>
          <p:grpSpPr>
            <a:xfrm>
              <a:off x="7929708" y="5706168"/>
              <a:ext cx="1394494" cy="829144"/>
              <a:chOff x="0" y="0"/>
              <a:chExt cx="1163311" cy="691708"/>
            </a:xfrm>
          </p:grpSpPr>
          <p:sp>
            <p:nvSpPr>
              <p:cNvPr id="18" name="Freeform 18"/>
              <p:cNvSpPr/>
              <p:nvPr/>
            </p:nvSpPr>
            <p:spPr>
              <a:xfrm>
                <a:off x="0" y="0"/>
                <a:ext cx="1163311" cy="691708"/>
              </a:xfrm>
              <a:custGeom>
                <a:avLst/>
                <a:gdLst/>
                <a:ahLst/>
                <a:cxnLst/>
                <a:rect l="l" t="t" r="r" b="b"/>
                <a:pathLst>
                  <a:path w="1163311" h="691708">
                    <a:moveTo>
                      <a:pt x="1163311" y="0"/>
                    </a:moveTo>
                    <a:lnTo>
                      <a:pt x="1163311" y="691708"/>
                    </a:lnTo>
                    <a:lnTo>
                      <a:pt x="0" y="691708"/>
                    </a:lnTo>
                    <a:lnTo>
                      <a:pt x="0" y="0"/>
                    </a:lnTo>
                    <a:close/>
                  </a:path>
                </a:pathLst>
              </a:custGeom>
              <a:solidFill>
                <a:srgbClr val="FFFFFF"/>
              </a:solidFill>
              <a:ln w="47625" cap="sq">
                <a:solidFill>
                  <a:srgbClr val="D7A92E"/>
                </a:solidFill>
                <a:prstDash val="solid"/>
                <a:miter/>
              </a:ln>
            </p:spPr>
          </p:sp>
          <p:sp>
            <p:nvSpPr>
              <p:cNvPr id="19" name="TextBox 19"/>
              <p:cNvSpPr txBox="1"/>
              <p:nvPr/>
            </p:nvSpPr>
            <p:spPr>
              <a:xfrm>
                <a:off x="0" y="-9525"/>
                <a:ext cx="1163311" cy="701233"/>
              </a:xfrm>
              <a:prstGeom prst="rect">
                <a:avLst/>
              </a:prstGeom>
            </p:spPr>
            <p:txBody>
              <a:bodyPr lIns="48758" tIns="48758" rIns="48758" bIns="48758" rtlCol="0" anchor="ctr"/>
              <a:lstStyle/>
              <a:p>
                <a:pPr marL="0" lvl="0" indent="0" algn="ctr">
                  <a:lnSpc>
                    <a:spcPts val="605"/>
                  </a:lnSpc>
                  <a:spcBef>
                    <a:spcPct val="0"/>
                  </a:spcBef>
                </a:pPr>
                <a:endParaRPr/>
              </a:p>
            </p:txBody>
          </p:sp>
        </p:grpSp>
        <p:sp>
          <p:nvSpPr>
            <p:cNvPr id="20" name="TextBox 20"/>
            <p:cNvSpPr txBox="1"/>
            <p:nvPr/>
          </p:nvSpPr>
          <p:spPr>
            <a:xfrm>
              <a:off x="7929708" y="5832768"/>
              <a:ext cx="1317296" cy="528318"/>
            </a:xfrm>
            <a:prstGeom prst="rect">
              <a:avLst/>
            </a:prstGeom>
          </p:spPr>
          <p:txBody>
            <a:bodyPr lIns="0" tIns="0" rIns="0" bIns="0" rtlCol="0" anchor="t">
              <a:spAutoFit/>
            </a:bodyPr>
            <a:lstStyle/>
            <a:p>
              <a:pPr algn="ctr">
                <a:lnSpc>
                  <a:spcPts val="1549"/>
                </a:lnSpc>
              </a:pPr>
              <a:r>
                <a:rPr lang="en-US" sz="1106">
                  <a:solidFill>
                    <a:srgbClr val="000000"/>
                  </a:solidFill>
                  <a:latin typeface="Times New Roman MT"/>
                  <a:ea typeface="Times New Roman MT"/>
                  <a:cs typeface="Times New Roman MT"/>
                  <a:sym typeface="Times New Roman MT"/>
                </a:rPr>
                <a:t>Medir oxigenación</a:t>
              </a:r>
            </a:p>
          </p:txBody>
        </p:sp>
        <p:grpSp>
          <p:nvGrpSpPr>
            <p:cNvPr id="21" name="Group 21"/>
            <p:cNvGrpSpPr/>
            <p:nvPr/>
          </p:nvGrpSpPr>
          <p:grpSpPr>
            <a:xfrm>
              <a:off x="10050227" y="5719504"/>
              <a:ext cx="1054079" cy="829144"/>
              <a:chOff x="0" y="0"/>
              <a:chExt cx="879331" cy="691708"/>
            </a:xfrm>
          </p:grpSpPr>
          <p:sp>
            <p:nvSpPr>
              <p:cNvPr id="22" name="Freeform 22"/>
              <p:cNvSpPr/>
              <p:nvPr/>
            </p:nvSpPr>
            <p:spPr>
              <a:xfrm>
                <a:off x="0" y="0"/>
                <a:ext cx="879331" cy="691708"/>
              </a:xfrm>
              <a:custGeom>
                <a:avLst/>
                <a:gdLst/>
                <a:ahLst/>
                <a:cxnLst/>
                <a:rect l="l" t="t" r="r" b="b"/>
                <a:pathLst>
                  <a:path w="879331" h="691708">
                    <a:moveTo>
                      <a:pt x="879331" y="0"/>
                    </a:moveTo>
                    <a:lnTo>
                      <a:pt x="879331" y="691708"/>
                    </a:lnTo>
                    <a:lnTo>
                      <a:pt x="0" y="691708"/>
                    </a:lnTo>
                    <a:lnTo>
                      <a:pt x="0" y="0"/>
                    </a:lnTo>
                    <a:close/>
                  </a:path>
                </a:pathLst>
              </a:custGeom>
              <a:solidFill>
                <a:srgbClr val="FFFFFF"/>
              </a:solidFill>
              <a:ln w="47625" cap="sq">
                <a:solidFill>
                  <a:srgbClr val="D7A92E"/>
                </a:solidFill>
                <a:prstDash val="solid"/>
                <a:miter/>
              </a:ln>
            </p:spPr>
          </p:sp>
          <p:sp>
            <p:nvSpPr>
              <p:cNvPr id="23" name="TextBox 23"/>
              <p:cNvSpPr txBox="1"/>
              <p:nvPr/>
            </p:nvSpPr>
            <p:spPr>
              <a:xfrm>
                <a:off x="0" y="-9525"/>
                <a:ext cx="879331" cy="701233"/>
              </a:xfrm>
              <a:prstGeom prst="rect">
                <a:avLst/>
              </a:prstGeom>
            </p:spPr>
            <p:txBody>
              <a:bodyPr lIns="48758" tIns="48758" rIns="48758" bIns="48758" rtlCol="0" anchor="ctr"/>
              <a:lstStyle/>
              <a:p>
                <a:pPr marL="0" lvl="0" indent="0" algn="ctr">
                  <a:lnSpc>
                    <a:spcPts val="605"/>
                  </a:lnSpc>
                  <a:spcBef>
                    <a:spcPct val="0"/>
                  </a:spcBef>
                </a:pPr>
                <a:endParaRPr/>
              </a:p>
            </p:txBody>
          </p:sp>
        </p:grpSp>
        <p:sp>
          <p:nvSpPr>
            <p:cNvPr id="24" name="TextBox 24"/>
            <p:cNvSpPr txBox="1"/>
            <p:nvPr/>
          </p:nvSpPr>
          <p:spPr>
            <a:xfrm>
              <a:off x="10050227" y="5846104"/>
              <a:ext cx="995726" cy="528318"/>
            </a:xfrm>
            <a:prstGeom prst="rect">
              <a:avLst/>
            </a:prstGeom>
          </p:spPr>
          <p:txBody>
            <a:bodyPr lIns="0" tIns="0" rIns="0" bIns="0" rtlCol="0" anchor="t">
              <a:spAutoFit/>
            </a:bodyPr>
            <a:lstStyle/>
            <a:p>
              <a:pPr algn="ctr">
                <a:lnSpc>
                  <a:spcPts val="1549"/>
                </a:lnSpc>
              </a:pPr>
              <a:r>
                <a:rPr lang="en-US" sz="1106">
                  <a:solidFill>
                    <a:srgbClr val="000000"/>
                  </a:solidFill>
                  <a:latin typeface="Times New Roman MT"/>
                  <a:ea typeface="Times New Roman MT"/>
                  <a:cs typeface="Times New Roman MT"/>
                  <a:sym typeface="Times New Roman MT"/>
                </a:rPr>
                <a:t>Medir presión</a:t>
              </a:r>
            </a:p>
          </p:txBody>
        </p:sp>
        <p:sp>
          <p:nvSpPr>
            <p:cNvPr id="25" name="TextBox 25"/>
            <p:cNvSpPr txBox="1"/>
            <p:nvPr/>
          </p:nvSpPr>
          <p:spPr>
            <a:xfrm>
              <a:off x="0" y="6868817"/>
              <a:ext cx="2306797"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Presión arterial sistólica</a:t>
              </a:r>
            </a:p>
          </p:txBody>
        </p:sp>
        <p:sp>
          <p:nvSpPr>
            <p:cNvPr id="26" name="TextBox 26"/>
            <p:cNvSpPr txBox="1"/>
            <p:nvPr/>
          </p:nvSpPr>
          <p:spPr>
            <a:xfrm>
              <a:off x="42130" y="7206172"/>
              <a:ext cx="2306797"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Presión arterial diastólica</a:t>
              </a:r>
            </a:p>
          </p:txBody>
        </p:sp>
        <p:sp>
          <p:nvSpPr>
            <p:cNvPr id="27" name="TextBox 27"/>
            <p:cNvSpPr txBox="1"/>
            <p:nvPr/>
          </p:nvSpPr>
          <p:spPr>
            <a:xfrm>
              <a:off x="102206" y="6198896"/>
              <a:ext cx="1781146"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Frecuencia repiratoria</a:t>
              </a:r>
            </a:p>
          </p:txBody>
        </p:sp>
        <p:sp>
          <p:nvSpPr>
            <p:cNvPr id="28" name="Freeform 28"/>
            <p:cNvSpPr/>
            <p:nvPr/>
          </p:nvSpPr>
          <p:spPr>
            <a:xfrm>
              <a:off x="2348927" y="6548648"/>
              <a:ext cx="8320781" cy="834744"/>
            </a:xfrm>
            <a:custGeom>
              <a:avLst/>
              <a:gdLst/>
              <a:ahLst/>
              <a:cxnLst/>
              <a:rect l="l" t="t" r="r" b="b"/>
              <a:pathLst>
                <a:path w="8320781" h="834744">
                  <a:moveTo>
                    <a:pt x="0" y="834744"/>
                  </a:moveTo>
                  <a:lnTo>
                    <a:pt x="8320781" y="834744"/>
                  </a:lnTo>
                  <a:lnTo>
                    <a:pt x="8320781" y="0"/>
                  </a:lnTo>
                </a:path>
              </a:pathLst>
            </a:custGeom>
            <a:ln w="32026" cap="flat">
              <a:solidFill>
                <a:srgbClr val="D7A92E"/>
              </a:solidFill>
              <a:prstDash val="lgDash"/>
              <a:headEnd type="none" w="sm" len="sm"/>
              <a:tailEnd type="triangle" w="lg" len="med"/>
            </a:ln>
          </p:spPr>
        </p:sp>
        <p:sp>
          <p:nvSpPr>
            <p:cNvPr id="29" name="Freeform 29"/>
            <p:cNvSpPr/>
            <p:nvPr/>
          </p:nvSpPr>
          <p:spPr>
            <a:xfrm>
              <a:off x="2348927" y="6548648"/>
              <a:ext cx="8092038" cy="460717"/>
            </a:xfrm>
            <a:custGeom>
              <a:avLst/>
              <a:gdLst/>
              <a:ahLst/>
              <a:cxnLst/>
              <a:rect l="l" t="t" r="r" b="b"/>
              <a:pathLst>
                <a:path w="8092038" h="460717">
                  <a:moveTo>
                    <a:pt x="0" y="460717"/>
                  </a:moveTo>
                  <a:lnTo>
                    <a:pt x="8092039" y="460717"/>
                  </a:lnTo>
                  <a:lnTo>
                    <a:pt x="8092039" y="0"/>
                  </a:lnTo>
                </a:path>
              </a:pathLst>
            </a:custGeom>
            <a:ln w="32026" cap="flat">
              <a:solidFill>
                <a:srgbClr val="D7A92E"/>
              </a:solidFill>
              <a:prstDash val="lgDash"/>
              <a:headEnd type="none" w="sm" len="sm"/>
              <a:tailEnd type="triangle" w="lg" len="med"/>
            </a:ln>
          </p:spPr>
        </p:sp>
        <p:sp>
          <p:nvSpPr>
            <p:cNvPr id="30" name="Freeform 30"/>
            <p:cNvSpPr/>
            <p:nvPr/>
          </p:nvSpPr>
          <p:spPr>
            <a:xfrm>
              <a:off x="2348927" y="6520600"/>
              <a:ext cx="6093906" cy="218418"/>
            </a:xfrm>
            <a:custGeom>
              <a:avLst/>
              <a:gdLst/>
              <a:ahLst/>
              <a:cxnLst/>
              <a:rect l="l" t="t" r="r" b="b"/>
              <a:pathLst>
                <a:path w="6093906" h="218418">
                  <a:moveTo>
                    <a:pt x="0" y="218418"/>
                  </a:moveTo>
                  <a:lnTo>
                    <a:pt x="6093906" y="218418"/>
                  </a:lnTo>
                  <a:lnTo>
                    <a:pt x="6093906" y="0"/>
                  </a:lnTo>
                </a:path>
              </a:pathLst>
            </a:custGeom>
            <a:ln w="32026" cap="flat">
              <a:solidFill>
                <a:srgbClr val="D7A92E"/>
              </a:solidFill>
              <a:prstDash val="lgDash"/>
              <a:headEnd type="none" w="sm" len="sm"/>
              <a:tailEnd type="triangle" w="lg" len="med"/>
            </a:ln>
          </p:spPr>
        </p:sp>
        <p:sp>
          <p:nvSpPr>
            <p:cNvPr id="31" name="Freeform 31"/>
            <p:cNvSpPr/>
            <p:nvPr/>
          </p:nvSpPr>
          <p:spPr>
            <a:xfrm>
              <a:off x="1749818" y="6120740"/>
              <a:ext cx="3657664" cy="13337"/>
            </a:xfrm>
            <a:custGeom>
              <a:avLst/>
              <a:gdLst/>
              <a:ahLst/>
              <a:cxnLst/>
              <a:rect l="l" t="t" r="r" b="b"/>
              <a:pathLst>
                <a:path w="3657664" h="13337">
                  <a:moveTo>
                    <a:pt x="0" y="0"/>
                  </a:moveTo>
                  <a:lnTo>
                    <a:pt x="102143" y="0"/>
                  </a:lnTo>
                  <a:cubicBezTo>
                    <a:pt x="102847" y="0"/>
                    <a:pt x="103419" y="571"/>
                    <a:pt x="103419" y="1275"/>
                  </a:cubicBezTo>
                  <a:lnTo>
                    <a:pt x="103419" y="1275"/>
                  </a:lnTo>
                  <a:cubicBezTo>
                    <a:pt x="103419" y="1980"/>
                    <a:pt x="103990" y="2551"/>
                    <a:pt x="104695" y="2551"/>
                  </a:cubicBezTo>
                  <a:lnTo>
                    <a:pt x="1418250" y="2551"/>
                  </a:lnTo>
                  <a:cubicBezTo>
                    <a:pt x="1419680" y="2551"/>
                    <a:pt x="1421052" y="3120"/>
                    <a:pt x="1422063" y="4131"/>
                  </a:cubicBezTo>
                  <a:cubicBezTo>
                    <a:pt x="1423074" y="5142"/>
                    <a:pt x="1423643" y="6514"/>
                    <a:pt x="1423643" y="7944"/>
                  </a:cubicBezTo>
                  <a:lnTo>
                    <a:pt x="1423643" y="7944"/>
                  </a:lnTo>
                  <a:cubicBezTo>
                    <a:pt x="1423643" y="9374"/>
                    <a:pt x="1424211" y="10746"/>
                    <a:pt x="1425222" y="11757"/>
                  </a:cubicBezTo>
                  <a:cubicBezTo>
                    <a:pt x="1426233" y="12768"/>
                    <a:pt x="1427605" y="13336"/>
                    <a:pt x="1429035" y="13336"/>
                  </a:cubicBezTo>
                  <a:lnTo>
                    <a:pt x="3657664" y="13336"/>
                  </a:lnTo>
                </a:path>
              </a:pathLst>
            </a:custGeom>
            <a:ln w="32026" cap="flat">
              <a:solidFill>
                <a:srgbClr val="D7A92E"/>
              </a:solidFill>
              <a:prstDash val="lgDash"/>
              <a:headEnd type="none" w="sm" len="sm"/>
              <a:tailEnd type="triangle" w="lg" len="med"/>
            </a:ln>
          </p:spPr>
        </p:sp>
        <p:sp>
          <p:nvSpPr>
            <p:cNvPr id="32" name="Freeform 32"/>
            <p:cNvSpPr/>
            <p:nvPr/>
          </p:nvSpPr>
          <p:spPr>
            <a:xfrm>
              <a:off x="1883352" y="6358010"/>
              <a:ext cx="3524129" cy="2555"/>
            </a:xfrm>
            <a:custGeom>
              <a:avLst/>
              <a:gdLst/>
              <a:ahLst/>
              <a:cxnLst/>
              <a:rect l="l" t="t" r="r" b="b"/>
              <a:pathLst>
                <a:path w="3524129" h="2555">
                  <a:moveTo>
                    <a:pt x="0" y="0"/>
                  </a:moveTo>
                  <a:lnTo>
                    <a:pt x="1174273" y="0"/>
                  </a:lnTo>
                  <a:cubicBezTo>
                    <a:pt x="1174979" y="0"/>
                    <a:pt x="1175551" y="572"/>
                    <a:pt x="1175551" y="1277"/>
                  </a:cubicBezTo>
                  <a:lnTo>
                    <a:pt x="1175551" y="1277"/>
                  </a:lnTo>
                  <a:cubicBezTo>
                    <a:pt x="1175551" y="1982"/>
                    <a:pt x="1176123" y="2554"/>
                    <a:pt x="1176828" y="2554"/>
                  </a:cubicBezTo>
                  <a:lnTo>
                    <a:pt x="3524130" y="2554"/>
                  </a:lnTo>
                </a:path>
              </a:pathLst>
            </a:custGeom>
            <a:ln w="32026" cap="flat">
              <a:solidFill>
                <a:srgbClr val="D7A92E"/>
              </a:solidFill>
              <a:prstDash val="lgDash"/>
              <a:headEnd type="none" w="sm" len="sm"/>
              <a:tailEnd type="triangle" w="lg" len="med"/>
            </a:ln>
          </p:spPr>
        </p:sp>
        <p:grpSp>
          <p:nvGrpSpPr>
            <p:cNvPr id="33" name="Group 33"/>
            <p:cNvGrpSpPr/>
            <p:nvPr/>
          </p:nvGrpSpPr>
          <p:grpSpPr>
            <a:xfrm>
              <a:off x="5868090" y="1560284"/>
              <a:ext cx="1606503" cy="402018"/>
              <a:chOff x="0" y="0"/>
              <a:chExt cx="1286305" cy="321900"/>
            </a:xfrm>
          </p:grpSpPr>
          <p:sp>
            <p:nvSpPr>
              <p:cNvPr id="34" name="Freeform 34"/>
              <p:cNvSpPr/>
              <p:nvPr/>
            </p:nvSpPr>
            <p:spPr>
              <a:xfrm>
                <a:off x="0" y="0"/>
                <a:ext cx="1286305" cy="321900"/>
              </a:xfrm>
              <a:custGeom>
                <a:avLst/>
                <a:gdLst/>
                <a:ahLst/>
                <a:cxnLst/>
                <a:rect l="l" t="t" r="r" b="b"/>
                <a:pathLst>
                  <a:path w="1286305" h="321900">
                    <a:moveTo>
                      <a:pt x="1286305" y="0"/>
                    </a:moveTo>
                    <a:lnTo>
                      <a:pt x="1286305" y="321900"/>
                    </a:lnTo>
                    <a:lnTo>
                      <a:pt x="0" y="321900"/>
                    </a:lnTo>
                    <a:lnTo>
                      <a:pt x="0" y="0"/>
                    </a:lnTo>
                    <a:close/>
                  </a:path>
                </a:pathLst>
              </a:custGeom>
              <a:solidFill>
                <a:srgbClr val="FFFFFF"/>
              </a:solidFill>
              <a:ln w="47625" cap="sq">
                <a:solidFill>
                  <a:srgbClr val="0097B2"/>
                </a:solidFill>
                <a:prstDash val="solid"/>
                <a:miter/>
              </a:ln>
            </p:spPr>
          </p:sp>
          <p:sp>
            <p:nvSpPr>
              <p:cNvPr id="35" name="TextBox 35"/>
              <p:cNvSpPr txBox="1"/>
              <p:nvPr/>
            </p:nvSpPr>
            <p:spPr>
              <a:xfrm>
                <a:off x="0" y="-9525"/>
                <a:ext cx="1286305" cy="331425"/>
              </a:xfrm>
              <a:prstGeom prst="rect">
                <a:avLst/>
              </a:prstGeom>
            </p:spPr>
            <p:txBody>
              <a:bodyPr lIns="50800" tIns="50800" rIns="50800" bIns="50800" rtlCol="0" anchor="ctr"/>
              <a:lstStyle/>
              <a:p>
                <a:pPr marL="0" lvl="0" indent="0" algn="ctr">
                  <a:lnSpc>
                    <a:spcPts val="605"/>
                  </a:lnSpc>
                  <a:spcBef>
                    <a:spcPct val="0"/>
                  </a:spcBef>
                </a:pPr>
                <a:endParaRPr/>
              </a:p>
            </p:txBody>
          </p:sp>
        </p:grpSp>
        <p:sp>
          <p:nvSpPr>
            <p:cNvPr id="36" name="TextBox 36"/>
            <p:cNvSpPr txBox="1"/>
            <p:nvPr/>
          </p:nvSpPr>
          <p:spPr>
            <a:xfrm>
              <a:off x="5868090" y="1621414"/>
              <a:ext cx="1606503" cy="278516"/>
            </a:xfrm>
            <a:prstGeom prst="rect">
              <a:avLst/>
            </a:prstGeom>
          </p:spPr>
          <p:txBody>
            <a:bodyPr lIns="0" tIns="0" rIns="0" bIns="0" rtlCol="0" anchor="t">
              <a:spAutoFit/>
            </a:bodyPr>
            <a:lstStyle/>
            <a:p>
              <a:pPr algn="ctr">
                <a:lnSpc>
                  <a:spcPts val="1613"/>
                </a:lnSpc>
              </a:pPr>
              <a:r>
                <a:rPr lang="en-US" sz="1152">
                  <a:solidFill>
                    <a:srgbClr val="000000"/>
                  </a:solidFill>
                  <a:latin typeface="Times New Roman MT"/>
                  <a:ea typeface="Times New Roman MT"/>
                  <a:cs typeface="Times New Roman MT"/>
                  <a:sym typeface="Times New Roman MT"/>
                </a:rPr>
                <a:t>Iniciar proceso</a:t>
              </a:r>
            </a:p>
          </p:txBody>
        </p:sp>
        <p:sp>
          <p:nvSpPr>
            <p:cNvPr id="37" name="TextBox 37"/>
            <p:cNvSpPr txBox="1"/>
            <p:nvPr/>
          </p:nvSpPr>
          <p:spPr>
            <a:xfrm>
              <a:off x="2904800" y="1602179"/>
              <a:ext cx="1378381" cy="270602"/>
            </a:xfrm>
            <a:prstGeom prst="rect">
              <a:avLst/>
            </a:prstGeom>
          </p:spPr>
          <p:txBody>
            <a:bodyPr lIns="0" tIns="0" rIns="0" bIns="0" rtlCol="0" anchor="t">
              <a:spAutoFit/>
            </a:bodyPr>
            <a:lstStyle/>
            <a:p>
              <a:pPr algn="ctr">
                <a:lnSpc>
                  <a:spcPts val="1562"/>
                </a:lnSpc>
              </a:pPr>
              <a:endParaRPr/>
            </a:p>
          </p:txBody>
        </p:sp>
        <p:grpSp>
          <p:nvGrpSpPr>
            <p:cNvPr id="38" name="Group 38"/>
            <p:cNvGrpSpPr/>
            <p:nvPr/>
          </p:nvGrpSpPr>
          <p:grpSpPr>
            <a:xfrm>
              <a:off x="5868090" y="773874"/>
              <a:ext cx="1606503" cy="402018"/>
              <a:chOff x="0" y="0"/>
              <a:chExt cx="1286305" cy="321900"/>
            </a:xfrm>
          </p:grpSpPr>
          <p:sp>
            <p:nvSpPr>
              <p:cNvPr id="39" name="Freeform 39"/>
              <p:cNvSpPr/>
              <p:nvPr/>
            </p:nvSpPr>
            <p:spPr>
              <a:xfrm>
                <a:off x="0" y="0"/>
                <a:ext cx="1286305" cy="321900"/>
              </a:xfrm>
              <a:custGeom>
                <a:avLst/>
                <a:gdLst/>
                <a:ahLst/>
                <a:cxnLst/>
                <a:rect l="l" t="t" r="r" b="b"/>
                <a:pathLst>
                  <a:path w="1286305" h="321900">
                    <a:moveTo>
                      <a:pt x="1286305" y="0"/>
                    </a:moveTo>
                    <a:lnTo>
                      <a:pt x="1286305" y="321900"/>
                    </a:lnTo>
                    <a:lnTo>
                      <a:pt x="0" y="321900"/>
                    </a:lnTo>
                    <a:lnTo>
                      <a:pt x="0" y="0"/>
                    </a:lnTo>
                    <a:close/>
                  </a:path>
                </a:pathLst>
              </a:custGeom>
              <a:solidFill>
                <a:srgbClr val="FFFFFF"/>
              </a:solidFill>
              <a:ln w="47625" cap="sq">
                <a:solidFill>
                  <a:srgbClr val="0097B2"/>
                </a:solidFill>
                <a:prstDash val="solid"/>
                <a:miter/>
              </a:ln>
            </p:spPr>
          </p:sp>
          <p:sp>
            <p:nvSpPr>
              <p:cNvPr id="40" name="TextBox 40"/>
              <p:cNvSpPr txBox="1"/>
              <p:nvPr/>
            </p:nvSpPr>
            <p:spPr>
              <a:xfrm>
                <a:off x="0" y="-9525"/>
                <a:ext cx="1286305" cy="331425"/>
              </a:xfrm>
              <a:prstGeom prst="rect">
                <a:avLst/>
              </a:prstGeom>
            </p:spPr>
            <p:txBody>
              <a:bodyPr lIns="50800" tIns="50800" rIns="50800" bIns="50800" rtlCol="0" anchor="ctr"/>
              <a:lstStyle/>
              <a:p>
                <a:pPr marL="0" lvl="0" indent="0" algn="ctr">
                  <a:lnSpc>
                    <a:spcPts val="605"/>
                  </a:lnSpc>
                  <a:spcBef>
                    <a:spcPct val="0"/>
                  </a:spcBef>
                </a:pPr>
                <a:endParaRPr/>
              </a:p>
            </p:txBody>
          </p:sp>
        </p:grpSp>
        <p:sp>
          <p:nvSpPr>
            <p:cNvPr id="41" name="TextBox 41"/>
            <p:cNvSpPr txBox="1"/>
            <p:nvPr/>
          </p:nvSpPr>
          <p:spPr>
            <a:xfrm>
              <a:off x="5868090" y="835004"/>
              <a:ext cx="1606503" cy="278516"/>
            </a:xfrm>
            <a:prstGeom prst="rect">
              <a:avLst/>
            </a:prstGeom>
          </p:spPr>
          <p:txBody>
            <a:bodyPr lIns="0" tIns="0" rIns="0" bIns="0" rtlCol="0" anchor="t">
              <a:spAutoFit/>
            </a:bodyPr>
            <a:lstStyle/>
            <a:p>
              <a:pPr algn="ctr">
                <a:lnSpc>
                  <a:spcPts val="1613"/>
                </a:lnSpc>
              </a:pPr>
              <a:r>
                <a:rPr lang="en-US" sz="1152">
                  <a:solidFill>
                    <a:srgbClr val="000000"/>
                  </a:solidFill>
                  <a:latin typeface="Times New Roman MT"/>
                  <a:ea typeface="Times New Roman MT"/>
                  <a:cs typeface="Times New Roman MT"/>
                  <a:sym typeface="Times New Roman MT"/>
                </a:rPr>
                <a:t>Detener proceso</a:t>
              </a:r>
            </a:p>
          </p:txBody>
        </p:sp>
        <p:grpSp>
          <p:nvGrpSpPr>
            <p:cNvPr id="42" name="Group 42"/>
            <p:cNvGrpSpPr/>
            <p:nvPr/>
          </p:nvGrpSpPr>
          <p:grpSpPr>
            <a:xfrm>
              <a:off x="11898309" y="4639672"/>
              <a:ext cx="4796598" cy="2683884"/>
              <a:chOff x="0" y="0"/>
              <a:chExt cx="4438258" cy="2483379"/>
            </a:xfrm>
          </p:grpSpPr>
          <p:sp>
            <p:nvSpPr>
              <p:cNvPr id="43" name="Freeform 43"/>
              <p:cNvSpPr/>
              <p:nvPr/>
            </p:nvSpPr>
            <p:spPr>
              <a:xfrm>
                <a:off x="0" y="0"/>
                <a:ext cx="4438258" cy="2483379"/>
              </a:xfrm>
              <a:custGeom>
                <a:avLst/>
                <a:gdLst/>
                <a:ahLst/>
                <a:cxnLst/>
                <a:rect l="l" t="t" r="r" b="b"/>
                <a:pathLst>
                  <a:path w="4438258" h="2483379">
                    <a:moveTo>
                      <a:pt x="20157" y="0"/>
                    </a:moveTo>
                    <a:lnTo>
                      <a:pt x="4418101" y="0"/>
                    </a:lnTo>
                    <a:cubicBezTo>
                      <a:pt x="4423447" y="0"/>
                      <a:pt x="4428574" y="2124"/>
                      <a:pt x="4432354" y="5904"/>
                    </a:cubicBezTo>
                    <a:cubicBezTo>
                      <a:pt x="4436135" y="9684"/>
                      <a:pt x="4438258" y="14811"/>
                      <a:pt x="4438258" y="20157"/>
                    </a:cubicBezTo>
                    <a:lnTo>
                      <a:pt x="4438258" y="2463222"/>
                    </a:lnTo>
                    <a:cubicBezTo>
                      <a:pt x="4438258" y="2468568"/>
                      <a:pt x="4436135" y="2473695"/>
                      <a:pt x="4432354" y="2477475"/>
                    </a:cubicBezTo>
                    <a:cubicBezTo>
                      <a:pt x="4428574" y="2481255"/>
                      <a:pt x="4423447" y="2483379"/>
                      <a:pt x="4418101" y="2483379"/>
                    </a:cubicBezTo>
                    <a:lnTo>
                      <a:pt x="20157" y="2483379"/>
                    </a:lnTo>
                    <a:cubicBezTo>
                      <a:pt x="14811" y="2483379"/>
                      <a:pt x="9684" y="2481255"/>
                      <a:pt x="5904" y="2477475"/>
                    </a:cubicBezTo>
                    <a:cubicBezTo>
                      <a:pt x="2124" y="2473695"/>
                      <a:pt x="0" y="2468568"/>
                      <a:pt x="0" y="2463222"/>
                    </a:cubicBezTo>
                    <a:lnTo>
                      <a:pt x="0" y="20157"/>
                    </a:lnTo>
                    <a:cubicBezTo>
                      <a:pt x="0" y="14811"/>
                      <a:pt x="2124" y="9684"/>
                      <a:pt x="5904" y="5904"/>
                    </a:cubicBezTo>
                    <a:cubicBezTo>
                      <a:pt x="9684" y="2124"/>
                      <a:pt x="14811" y="0"/>
                      <a:pt x="20157" y="0"/>
                    </a:cubicBezTo>
                    <a:close/>
                  </a:path>
                </a:pathLst>
              </a:custGeom>
              <a:solidFill>
                <a:srgbClr val="D1FFE9"/>
              </a:solidFill>
              <a:ln w="47625" cap="rnd">
                <a:solidFill>
                  <a:srgbClr val="008801"/>
                </a:solidFill>
                <a:prstDash val="solid"/>
                <a:round/>
              </a:ln>
            </p:spPr>
          </p:sp>
          <p:sp>
            <p:nvSpPr>
              <p:cNvPr id="44" name="TextBox 44"/>
              <p:cNvSpPr txBox="1"/>
              <p:nvPr/>
            </p:nvSpPr>
            <p:spPr>
              <a:xfrm>
                <a:off x="0" y="-9525"/>
                <a:ext cx="4438258" cy="2492904"/>
              </a:xfrm>
              <a:prstGeom prst="rect">
                <a:avLst/>
              </a:prstGeom>
            </p:spPr>
            <p:txBody>
              <a:bodyPr lIns="50800" tIns="50800" rIns="50800" bIns="50800" rtlCol="0" anchor="ctr"/>
              <a:lstStyle/>
              <a:p>
                <a:pPr marL="0" lvl="0" indent="0" algn="ctr">
                  <a:lnSpc>
                    <a:spcPts val="605"/>
                  </a:lnSpc>
                  <a:spcBef>
                    <a:spcPct val="0"/>
                  </a:spcBef>
                </a:pPr>
                <a:endParaRPr/>
              </a:p>
            </p:txBody>
          </p:sp>
        </p:grpSp>
        <p:grpSp>
          <p:nvGrpSpPr>
            <p:cNvPr id="45" name="Group 45"/>
            <p:cNvGrpSpPr/>
            <p:nvPr/>
          </p:nvGrpSpPr>
          <p:grpSpPr>
            <a:xfrm>
              <a:off x="15423208" y="5712677"/>
              <a:ext cx="1197842" cy="853922"/>
              <a:chOff x="0" y="0"/>
              <a:chExt cx="999261" cy="712379"/>
            </a:xfrm>
          </p:grpSpPr>
          <p:sp>
            <p:nvSpPr>
              <p:cNvPr id="46" name="Freeform 46"/>
              <p:cNvSpPr/>
              <p:nvPr/>
            </p:nvSpPr>
            <p:spPr>
              <a:xfrm>
                <a:off x="0" y="0"/>
                <a:ext cx="999261" cy="712379"/>
              </a:xfrm>
              <a:custGeom>
                <a:avLst/>
                <a:gdLst/>
                <a:ahLst/>
                <a:cxnLst/>
                <a:rect l="l" t="t" r="r" b="b"/>
                <a:pathLst>
                  <a:path w="999261" h="712379">
                    <a:moveTo>
                      <a:pt x="999261" y="0"/>
                    </a:moveTo>
                    <a:lnTo>
                      <a:pt x="999261" y="712379"/>
                    </a:lnTo>
                    <a:lnTo>
                      <a:pt x="0" y="712379"/>
                    </a:lnTo>
                    <a:lnTo>
                      <a:pt x="0" y="0"/>
                    </a:lnTo>
                    <a:close/>
                  </a:path>
                </a:pathLst>
              </a:custGeom>
              <a:solidFill>
                <a:srgbClr val="FFFFFF"/>
              </a:solidFill>
              <a:ln w="47625" cap="sq">
                <a:solidFill>
                  <a:srgbClr val="008801"/>
                </a:solidFill>
                <a:prstDash val="solid"/>
                <a:miter/>
              </a:ln>
            </p:spPr>
          </p:sp>
          <p:sp>
            <p:nvSpPr>
              <p:cNvPr id="47" name="TextBox 47"/>
              <p:cNvSpPr txBox="1"/>
              <p:nvPr/>
            </p:nvSpPr>
            <p:spPr>
              <a:xfrm>
                <a:off x="0" y="-19050"/>
                <a:ext cx="999261" cy="731429"/>
              </a:xfrm>
              <a:prstGeom prst="rect">
                <a:avLst/>
              </a:prstGeom>
            </p:spPr>
            <p:txBody>
              <a:bodyPr lIns="48758" tIns="48758" rIns="48758" bIns="48758" rtlCol="0" anchor="ctr"/>
              <a:lstStyle/>
              <a:p>
                <a:pPr marL="0" lvl="0" indent="0" algn="ctr">
                  <a:lnSpc>
                    <a:spcPts val="1549"/>
                  </a:lnSpc>
                  <a:spcBef>
                    <a:spcPct val="0"/>
                  </a:spcBef>
                </a:pPr>
                <a:endParaRPr/>
              </a:p>
            </p:txBody>
          </p:sp>
        </p:grpSp>
        <p:sp>
          <p:nvSpPr>
            <p:cNvPr id="48" name="TextBox 48"/>
            <p:cNvSpPr txBox="1"/>
            <p:nvPr/>
          </p:nvSpPr>
          <p:spPr>
            <a:xfrm>
              <a:off x="15423208" y="5839278"/>
              <a:ext cx="1131531"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Emitir señal de alertas</a:t>
              </a:r>
            </a:p>
          </p:txBody>
        </p:sp>
        <p:sp>
          <p:nvSpPr>
            <p:cNvPr id="49" name="Freeform 49"/>
            <p:cNvSpPr/>
            <p:nvPr/>
          </p:nvSpPr>
          <p:spPr>
            <a:xfrm>
              <a:off x="1217190" y="988041"/>
              <a:ext cx="13115946" cy="4566888"/>
            </a:xfrm>
            <a:custGeom>
              <a:avLst/>
              <a:gdLst/>
              <a:ahLst/>
              <a:cxnLst/>
              <a:rect l="l" t="t" r="r" b="b"/>
              <a:pathLst>
                <a:path w="13115946" h="4566888">
                  <a:moveTo>
                    <a:pt x="561085" y="0"/>
                  </a:moveTo>
                  <a:lnTo>
                    <a:pt x="109803" y="0"/>
                  </a:lnTo>
                  <a:cubicBezTo>
                    <a:pt x="80681" y="0"/>
                    <a:pt x="52753" y="11569"/>
                    <a:pt x="32160" y="32161"/>
                  </a:cubicBezTo>
                  <a:cubicBezTo>
                    <a:pt x="11568" y="52753"/>
                    <a:pt x="0" y="80682"/>
                    <a:pt x="0" y="109803"/>
                  </a:cubicBezTo>
                  <a:lnTo>
                    <a:pt x="0" y="3224258"/>
                  </a:lnTo>
                  <a:cubicBezTo>
                    <a:pt x="0" y="3284901"/>
                    <a:pt x="49160" y="3334061"/>
                    <a:pt x="109803" y="3334061"/>
                  </a:cubicBezTo>
                  <a:lnTo>
                    <a:pt x="13006143" y="3334061"/>
                  </a:lnTo>
                  <a:cubicBezTo>
                    <a:pt x="13035264" y="3334061"/>
                    <a:pt x="13063194" y="3345630"/>
                    <a:pt x="13083785" y="3366222"/>
                  </a:cubicBezTo>
                  <a:cubicBezTo>
                    <a:pt x="13104378" y="3386814"/>
                    <a:pt x="13115946" y="3414743"/>
                    <a:pt x="13115946" y="3443864"/>
                  </a:cubicBezTo>
                  <a:lnTo>
                    <a:pt x="13115946" y="4566888"/>
                  </a:lnTo>
                </a:path>
              </a:pathLst>
            </a:custGeom>
            <a:ln w="32026" cap="flat">
              <a:solidFill>
                <a:srgbClr val="0097B2"/>
              </a:solidFill>
              <a:prstDash val="lgDash"/>
              <a:headEnd type="arrow" w="med" len="sm"/>
              <a:tailEnd type="none" w="sm" len="sm"/>
            </a:ln>
          </p:spPr>
        </p:sp>
        <p:sp>
          <p:nvSpPr>
            <p:cNvPr id="50" name="Freeform 50"/>
            <p:cNvSpPr/>
            <p:nvPr/>
          </p:nvSpPr>
          <p:spPr>
            <a:xfrm>
              <a:off x="1497917" y="1750160"/>
              <a:ext cx="13073570" cy="3804769"/>
            </a:xfrm>
            <a:custGeom>
              <a:avLst/>
              <a:gdLst/>
              <a:ahLst/>
              <a:cxnLst/>
              <a:rect l="l" t="t" r="r" b="b"/>
              <a:pathLst>
                <a:path w="13073570" h="3804769">
                  <a:moveTo>
                    <a:pt x="219606" y="0"/>
                  </a:moveTo>
                  <a:lnTo>
                    <a:pt x="109803" y="0"/>
                  </a:lnTo>
                  <a:cubicBezTo>
                    <a:pt x="49161" y="0"/>
                    <a:pt x="0" y="49161"/>
                    <a:pt x="0" y="109803"/>
                  </a:cubicBezTo>
                  <a:lnTo>
                    <a:pt x="0" y="2311389"/>
                  </a:lnTo>
                  <a:cubicBezTo>
                    <a:pt x="0" y="2340510"/>
                    <a:pt x="11569" y="2368439"/>
                    <a:pt x="32161" y="2389032"/>
                  </a:cubicBezTo>
                  <a:cubicBezTo>
                    <a:pt x="52753" y="2409623"/>
                    <a:pt x="80682" y="2421192"/>
                    <a:pt x="109803" y="2421192"/>
                  </a:cubicBezTo>
                  <a:lnTo>
                    <a:pt x="12963768" y="2421192"/>
                  </a:lnTo>
                  <a:cubicBezTo>
                    <a:pt x="12992888" y="2421192"/>
                    <a:pt x="13020818" y="2432761"/>
                    <a:pt x="13041409" y="2453352"/>
                  </a:cubicBezTo>
                  <a:cubicBezTo>
                    <a:pt x="13062002" y="2473945"/>
                    <a:pt x="13073570" y="2501873"/>
                    <a:pt x="13073570" y="2530995"/>
                  </a:cubicBezTo>
                  <a:lnTo>
                    <a:pt x="13073570" y="3804769"/>
                  </a:lnTo>
                </a:path>
              </a:pathLst>
            </a:custGeom>
            <a:ln w="32026" cap="flat">
              <a:solidFill>
                <a:srgbClr val="0097B2"/>
              </a:solidFill>
              <a:prstDash val="lgDash"/>
              <a:headEnd type="arrow" w="med" len="sm"/>
              <a:tailEnd type="none" w="sm" len="sm"/>
            </a:ln>
          </p:spPr>
        </p:sp>
        <p:sp>
          <p:nvSpPr>
            <p:cNvPr id="51" name="TextBox 51"/>
            <p:cNvSpPr txBox="1"/>
            <p:nvPr/>
          </p:nvSpPr>
          <p:spPr>
            <a:xfrm>
              <a:off x="12012115" y="4899327"/>
              <a:ext cx="1578584" cy="302307"/>
            </a:xfrm>
            <a:prstGeom prst="rect">
              <a:avLst/>
            </a:prstGeom>
          </p:spPr>
          <p:txBody>
            <a:bodyPr lIns="0" tIns="0" rIns="0" bIns="0" rtlCol="0" anchor="t">
              <a:spAutoFit/>
            </a:bodyPr>
            <a:lstStyle/>
            <a:p>
              <a:pPr marL="0" lvl="0" indent="0" algn="l">
                <a:lnSpc>
                  <a:spcPts val="1765"/>
                </a:lnSpc>
                <a:spcBef>
                  <a:spcPct val="0"/>
                </a:spcBef>
              </a:pPr>
              <a:r>
                <a:rPr lang="en-US" sz="1260" b="1" u="none" strike="noStrike">
                  <a:solidFill>
                    <a:srgbClr val="008801"/>
                  </a:solidFill>
                  <a:latin typeface="Times New Roman MT Bold"/>
                  <a:ea typeface="Times New Roman MT Bold"/>
                  <a:cs typeface="Times New Roman MT Bold"/>
                  <a:sym typeface="Times New Roman MT Bold"/>
                </a:rPr>
                <a:t>ACTUADORES</a:t>
              </a:r>
            </a:p>
          </p:txBody>
        </p:sp>
        <p:grpSp>
          <p:nvGrpSpPr>
            <p:cNvPr id="52" name="Group 52"/>
            <p:cNvGrpSpPr/>
            <p:nvPr/>
          </p:nvGrpSpPr>
          <p:grpSpPr>
            <a:xfrm>
              <a:off x="4814374" y="7509107"/>
              <a:ext cx="11953373" cy="3950874"/>
              <a:chOff x="0" y="0"/>
              <a:chExt cx="19968777" cy="6600358"/>
            </a:xfrm>
          </p:grpSpPr>
          <p:sp>
            <p:nvSpPr>
              <p:cNvPr id="53" name="Freeform 53"/>
              <p:cNvSpPr/>
              <p:nvPr/>
            </p:nvSpPr>
            <p:spPr>
              <a:xfrm>
                <a:off x="0" y="0"/>
                <a:ext cx="19968776" cy="6600358"/>
              </a:xfrm>
              <a:custGeom>
                <a:avLst/>
                <a:gdLst/>
                <a:ahLst/>
                <a:cxnLst/>
                <a:rect l="l" t="t" r="r" b="b"/>
                <a:pathLst>
                  <a:path w="19968776" h="6600358">
                    <a:moveTo>
                      <a:pt x="19968776" y="8089"/>
                    </a:moveTo>
                    <a:lnTo>
                      <a:pt x="19968776" y="6592269"/>
                    </a:lnTo>
                    <a:cubicBezTo>
                      <a:pt x="19968776" y="6596736"/>
                      <a:pt x="19965155" y="6600358"/>
                      <a:pt x="19960689" y="6600358"/>
                    </a:cubicBezTo>
                    <a:lnTo>
                      <a:pt x="8089" y="6600358"/>
                    </a:lnTo>
                    <a:cubicBezTo>
                      <a:pt x="3621" y="6600358"/>
                      <a:pt x="0" y="6596736"/>
                      <a:pt x="0" y="6592269"/>
                    </a:cubicBezTo>
                    <a:lnTo>
                      <a:pt x="0" y="8089"/>
                    </a:lnTo>
                    <a:cubicBezTo>
                      <a:pt x="0" y="3621"/>
                      <a:pt x="3621" y="0"/>
                      <a:pt x="8089" y="0"/>
                    </a:cubicBezTo>
                    <a:lnTo>
                      <a:pt x="19960689" y="0"/>
                    </a:lnTo>
                    <a:cubicBezTo>
                      <a:pt x="19965155" y="0"/>
                      <a:pt x="19968776" y="3621"/>
                      <a:pt x="19968776" y="8089"/>
                    </a:cubicBezTo>
                    <a:close/>
                  </a:path>
                </a:pathLst>
              </a:custGeom>
              <a:solidFill>
                <a:srgbClr val="EFE6FF"/>
              </a:solidFill>
              <a:ln w="47625" cap="rnd">
                <a:solidFill>
                  <a:srgbClr val="5E17EB"/>
                </a:solidFill>
                <a:prstDash val="solid"/>
                <a:round/>
              </a:ln>
            </p:spPr>
          </p:sp>
          <p:sp>
            <p:nvSpPr>
              <p:cNvPr id="54" name="TextBox 54"/>
              <p:cNvSpPr txBox="1"/>
              <p:nvPr/>
            </p:nvSpPr>
            <p:spPr>
              <a:xfrm>
                <a:off x="0" y="-9525"/>
                <a:ext cx="19968777" cy="6609883"/>
              </a:xfrm>
              <a:prstGeom prst="rect">
                <a:avLst/>
              </a:prstGeom>
            </p:spPr>
            <p:txBody>
              <a:bodyPr lIns="50735" tIns="50735" rIns="50735" bIns="50735" rtlCol="0" anchor="ctr"/>
              <a:lstStyle/>
              <a:p>
                <a:pPr marL="0" lvl="0" indent="0" algn="ctr">
                  <a:lnSpc>
                    <a:spcPts val="605"/>
                  </a:lnSpc>
                  <a:spcBef>
                    <a:spcPct val="0"/>
                  </a:spcBef>
                </a:pPr>
                <a:endParaRPr/>
              </a:p>
            </p:txBody>
          </p:sp>
        </p:grpSp>
        <p:grpSp>
          <p:nvGrpSpPr>
            <p:cNvPr id="55" name="Group 55"/>
            <p:cNvGrpSpPr/>
            <p:nvPr/>
          </p:nvGrpSpPr>
          <p:grpSpPr>
            <a:xfrm>
              <a:off x="9201791" y="7901456"/>
              <a:ext cx="1264048" cy="1082212"/>
              <a:chOff x="0" y="0"/>
              <a:chExt cx="1055844" cy="903986"/>
            </a:xfrm>
          </p:grpSpPr>
          <p:sp>
            <p:nvSpPr>
              <p:cNvPr id="56" name="Freeform 56"/>
              <p:cNvSpPr/>
              <p:nvPr/>
            </p:nvSpPr>
            <p:spPr>
              <a:xfrm>
                <a:off x="0" y="0"/>
                <a:ext cx="1055844" cy="903986"/>
              </a:xfrm>
              <a:custGeom>
                <a:avLst/>
                <a:gdLst/>
                <a:ahLst/>
                <a:cxnLst/>
                <a:rect l="l" t="t" r="r" b="b"/>
                <a:pathLst>
                  <a:path w="1055844" h="903986">
                    <a:moveTo>
                      <a:pt x="1055844" y="0"/>
                    </a:moveTo>
                    <a:lnTo>
                      <a:pt x="1055844" y="903986"/>
                    </a:lnTo>
                    <a:lnTo>
                      <a:pt x="0" y="903986"/>
                    </a:lnTo>
                    <a:lnTo>
                      <a:pt x="0" y="0"/>
                    </a:lnTo>
                    <a:close/>
                  </a:path>
                </a:pathLst>
              </a:custGeom>
              <a:solidFill>
                <a:srgbClr val="FFFFFF"/>
              </a:solidFill>
              <a:ln w="47625" cap="sq">
                <a:solidFill>
                  <a:srgbClr val="5E17EB"/>
                </a:solidFill>
                <a:prstDash val="solid"/>
                <a:miter/>
              </a:ln>
            </p:spPr>
          </p:sp>
          <p:sp>
            <p:nvSpPr>
              <p:cNvPr id="57" name="TextBox 57"/>
              <p:cNvSpPr txBox="1"/>
              <p:nvPr/>
            </p:nvSpPr>
            <p:spPr>
              <a:xfrm>
                <a:off x="0" y="0"/>
                <a:ext cx="1055844" cy="903986"/>
              </a:xfrm>
              <a:prstGeom prst="rect">
                <a:avLst/>
              </a:prstGeom>
            </p:spPr>
            <p:txBody>
              <a:bodyPr lIns="48696" tIns="48696" rIns="48696" bIns="48696" rtlCol="0" anchor="ctr"/>
              <a:lstStyle/>
              <a:p>
                <a:pPr marL="0" lvl="0" indent="0" algn="ctr">
                  <a:lnSpc>
                    <a:spcPts val="580"/>
                  </a:lnSpc>
                  <a:spcBef>
                    <a:spcPct val="0"/>
                  </a:spcBef>
                </a:pPr>
                <a:endParaRPr/>
              </a:p>
            </p:txBody>
          </p:sp>
        </p:grpSp>
        <p:sp>
          <p:nvSpPr>
            <p:cNvPr id="58" name="TextBox 58"/>
            <p:cNvSpPr txBox="1"/>
            <p:nvPr/>
          </p:nvSpPr>
          <p:spPr>
            <a:xfrm>
              <a:off x="9260157" y="8044072"/>
              <a:ext cx="1127975" cy="824357"/>
            </a:xfrm>
            <a:prstGeom prst="rect">
              <a:avLst/>
            </a:prstGeom>
          </p:spPr>
          <p:txBody>
            <a:bodyPr lIns="0" tIns="0" rIns="0" bIns="0" rtlCol="0" anchor="t">
              <a:spAutoFit/>
            </a:bodyPr>
            <a:lstStyle/>
            <a:p>
              <a:pPr marL="0" lvl="0" indent="0" algn="ctr">
                <a:lnSpc>
                  <a:spcPts val="1611"/>
                </a:lnSpc>
                <a:spcBef>
                  <a:spcPct val="0"/>
                </a:spcBef>
              </a:pPr>
              <a:r>
                <a:rPr lang="en-US" sz="1151" u="none" strike="noStrike">
                  <a:solidFill>
                    <a:srgbClr val="000000"/>
                  </a:solidFill>
                  <a:latin typeface="Times New Roman MT"/>
                  <a:ea typeface="Times New Roman MT"/>
                  <a:cs typeface="Times New Roman MT"/>
                  <a:sym typeface="Times New Roman MT"/>
                </a:rPr>
                <a:t>Energizar o Desenergizar sensores</a:t>
              </a:r>
            </a:p>
          </p:txBody>
        </p:sp>
        <p:sp>
          <p:nvSpPr>
            <p:cNvPr id="59" name="TextBox 59"/>
            <p:cNvSpPr txBox="1"/>
            <p:nvPr/>
          </p:nvSpPr>
          <p:spPr>
            <a:xfrm>
              <a:off x="4606918" y="7599838"/>
              <a:ext cx="3403460" cy="301981"/>
            </a:xfrm>
            <a:prstGeom prst="rect">
              <a:avLst/>
            </a:prstGeom>
          </p:spPr>
          <p:txBody>
            <a:bodyPr lIns="0" tIns="0" rIns="0" bIns="0" rtlCol="0" anchor="t">
              <a:spAutoFit/>
            </a:bodyPr>
            <a:lstStyle/>
            <a:p>
              <a:pPr marL="0" lvl="0" indent="0" algn="ctr">
                <a:lnSpc>
                  <a:spcPts val="1762"/>
                </a:lnSpc>
                <a:spcBef>
                  <a:spcPct val="0"/>
                </a:spcBef>
              </a:pPr>
              <a:r>
                <a:rPr lang="en-US" sz="1259" b="1" u="none" strike="noStrike">
                  <a:solidFill>
                    <a:srgbClr val="5E17EB"/>
                  </a:solidFill>
                  <a:latin typeface="Times New Roman MT Bold"/>
                  <a:ea typeface="Times New Roman MT Bold"/>
                  <a:cs typeface="Times New Roman MT Bold"/>
                  <a:sym typeface="Times New Roman MT Bold"/>
                </a:rPr>
                <a:t>DOMINIO ELECTRÓNICO</a:t>
              </a:r>
            </a:p>
          </p:txBody>
        </p:sp>
        <p:grpSp>
          <p:nvGrpSpPr>
            <p:cNvPr id="60" name="Group 60"/>
            <p:cNvGrpSpPr/>
            <p:nvPr/>
          </p:nvGrpSpPr>
          <p:grpSpPr>
            <a:xfrm>
              <a:off x="6675800" y="8610083"/>
              <a:ext cx="1127975" cy="852829"/>
              <a:chOff x="0" y="0"/>
              <a:chExt cx="942183" cy="712379"/>
            </a:xfrm>
          </p:grpSpPr>
          <p:sp>
            <p:nvSpPr>
              <p:cNvPr id="61" name="Freeform 61"/>
              <p:cNvSpPr/>
              <p:nvPr/>
            </p:nvSpPr>
            <p:spPr>
              <a:xfrm>
                <a:off x="0" y="0"/>
                <a:ext cx="942183" cy="712379"/>
              </a:xfrm>
              <a:custGeom>
                <a:avLst/>
                <a:gdLst/>
                <a:ahLst/>
                <a:cxnLst/>
                <a:rect l="l" t="t" r="r" b="b"/>
                <a:pathLst>
                  <a:path w="942183" h="712379">
                    <a:moveTo>
                      <a:pt x="942183" y="0"/>
                    </a:moveTo>
                    <a:lnTo>
                      <a:pt x="942183" y="712379"/>
                    </a:lnTo>
                    <a:lnTo>
                      <a:pt x="0" y="712379"/>
                    </a:lnTo>
                    <a:lnTo>
                      <a:pt x="0" y="0"/>
                    </a:lnTo>
                    <a:close/>
                  </a:path>
                </a:pathLst>
              </a:custGeom>
              <a:solidFill>
                <a:srgbClr val="FFFFFF"/>
              </a:solidFill>
              <a:ln w="47625" cap="sq">
                <a:solidFill>
                  <a:srgbClr val="5E17EB"/>
                </a:solidFill>
                <a:prstDash val="solid"/>
                <a:miter/>
              </a:ln>
            </p:spPr>
          </p:sp>
          <p:sp>
            <p:nvSpPr>
              <p:cNvPr id="62" name="TextBox 62"/>
              <p:cNvSpPr txBox="1"/>
              <p:nvPr/>
            </p:nvSpPr>
            <p:spPr>
              <a:xfrm>
                <a:off x="0" y="0"/>
                <a:ext cx="942183" cy="712379"/>
              </a:xfrm>
              <a:prstGeom prst="rect">
                <a:avLst/>
              </a:prstGeom>
            </p:spPr>
            <p:txBody>
              <a:bodyPr lIns="48696" tIns="48696" rIns="48696" bIns="48696" rtlCol="0" anchor="ctr"/>
              <a:lstStyle/>
              <a:p>
                <a:pPr marL="0" lvl="0" indent="0" algn="ctr">
                  <a:lnSpc>
                    <a:spcPts val="580"/>
                  </a:lnSpc>
                  <a:spcBef>
                    <a:spcPct val="0"/>
                  </a:spcBef>
                </a:pPr>
                <a:endParaRPr/>
              </a:p>
            </p:txBody>
          </p:sp>
        </p:grpSp>
        <p:sp>
          <p:nvSpPr>
            <p:cNvPr id="63" name="TextBox 63"/>
            <p:cNvSpPr txBox="1"/>
            <p:nvPr/>
          </p:nvSpPr>
          <p:spPr>
            <a:xfrm>
              <a:off x="10062003" y="8458613"/>
              <a:ext cx="1127975" cy="280542"/>
            </a:xfrm>
            <a:prstGeom prst="rect">
              <a:avLst/>
            </a:prstGeom>
          </p:spPr>
          <p:txBody>
            <a:bodyPr lIns="0" tIns="0" rIns="0" bIns="0" rtlCol="0" anchor="t">
              <a:spAutoFit/>
            </a:bodyPr>
            <a:lstStyle/>
            <a:p>
              <a:pPr marL="0" lvl="0" indent="0" algn="ctr">
                <a:lnSpc>
                  <a:spcPts val="1611"/>
                </a:lnSpc>
                <a:spcBef>
                  <a:spcPct val="0"/>
                </a:spcBef>
              </a:pPr>
              <a:endParaRPr/>
            </a:p>
          </p:txBody>
        </p:sp>
        <p:grpSp>
          <p:nvGrpSpPr>
            <p:cNvPr id="64" name="Group 64"/>
            <p:cNvGrpSpPr/>
            <p:nvPr/>
          </p:nvGrpSpPr>
          <p:grpSpPr>
            <a:xfrm>
              <a:off x="11112692" y="8506238"/>
              <a:ext cx="1141171" cy="853922"/>
              <a:chOff x="0" y="0"/>
              <a:chExt cx="951985" cy="712379"/>
            </a:xfrm>
          </p:grpSpPr>
          <p:sp>
            <p:nvSpPr>
              <p:cNvPr id="65" name="Freeform 65"/>
              <p:cNvSpPr/>
              <p:nvPr/>
            </p:nvSpPr>
            <p:spPr>
              <a:xfrm>
                <a:off x="0" y="0"/>
                <a:ext cx="951985" cy="712379"/>
              </a:xfrm>
              <a:custGeom>
                <a:avLst/>
                <a:gdLst/>
                <a:ahLst/>
                <a:cxnLst/>
                <a:rect l="l" t="t" r="r" b="b"/>
                <a:pathLst>
                  <a:path w="951985" h="712379">
                    <a:moveTo>
                      <a:pt x="951985" y="0"/>
                    </a:moveTo>
                    <a:lnTo>
                      <a:pt x="951985" y="712379"/>
                    </a:lnTo>
                    <a:lnTo>
                      <a:pt x="0" y="712379"/>
                    </a:lnTo>
                    <a:lnTo>
                      <a:pt x="0" y="0"/>
                    </a:lnTo>
                    <a:close/>
                  </a:path>
                </a:pathLst>
              </a:custGeom>
              <a:solidFill>
                <a:srgbClr val="FFFFFF"/>
              </a:solidFill>
              <a:ln w="47625" cap="sq">
                <a:solidFill>
                  <a:srgbClr val="5E17EB"/>
                </a:solidFill>
                <a:prstDash val="solid"/>
                <a:miter/>
              </a:ln>
            </p:spPr>
          </p:sp>
          <p:sp>
            <p:nvSpPr>
              <p:cNvPr id="66" name="TextBox 66"/>
              <p:cNvSpPr txBox="1"/>
              <p:nvPr/>
            </p:nvSpPr>
            <p:spPr>
              <a:xfrm>
                <a:off x="0" y="0"/>
                <a:ext cx="951985" cy="712379"/>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67" name="Freeform 67"/>
            <p:cNvSpPr/>
            <p:nvPr/>
          </p:nvSpPr>
          <p:spPr>
            <a:xfrm>
              <a:off x="6487248" y="3716835"/>
              <a:ext cx="2139707" cy="1989333"/>
            </a:xfrm>
            <a:custGeom>
              <a:avLst/>
              <a:gdLst/>
              <a:ahLst/>
              <a:cxnLst/>
              <a:rect l="l" t="t" r="r" b="b"/>
              <a:pathLst>
                <a:path w="2139707" h="1989333">
                  <a:moveTo>
                    <a:pt x="2139707" y="1989333"/>
                  </a:moveTo>
                  <a:lnTo>
                    <a:pt x="2139707" y="1430157"/>
                  </a:lnTo>
                  <a:cubicBezTo>
                    <a:pt x="2139707" y="1401036"/>
                    <a:pt x="2128139" y="1373107"/>
                    <a:pt x="2107546" y="1352514"/>
                  </a:cubicBezTo>
                  <a:cubicBezTo>
                    <a:pt x="2086954" y="1331923"/>
                    <a:pt x="2059026" y="1320354"/>
                    <a:pt x="2029903" y="1320354"/>
                  </a:cubicBezTo>
                  <a:lnTo>
                    <a:pt x="109804" y="1320354"/>
                  </a:lnTo>
                  <a:cubicBezTo>
                    <a:pt x="80681" y="1320354"/>
                    <a:pt x="52753" y="1308785"/>
                    <a:pt x="32161" y="1288194"/>
                  </a:cubicBezTo>
                  <a:cubicBezTo>
                    <a:pt x="11569" y="1267601"/>
                    <a:pt x="0" y="1239673"/>
                    <a:pt x="0" y="1210551"/>
                  </a:cubicBezTo>
                  <a:lnTo>
                    <a:pt x="0" y="0"/>
                  </a:lnTo>
                </a:path>
              </a:pathLst>
            </a:custGeom>
            <a:ln w="32026" cap="flat">
              <a:solidFill>
                <a:srgbClr val="D7A92E"/>
              </a:solidFill>
              <a:prstDash val="lgDash"/>
              <a:headEnd type="none" w="sm" len="sm"/>
              <a:tailEnd type="triangle" w="lg" len="med"/>
            </a:ln>
          </p:spPr>
        </p:sp>
        <p:grpSp>
          <p:nvGrpSpPr>
            <p:cNvPr id="68" name="Group 68"/>
            <p:cNvGrpSpPr/>
            <p:nvPr/>
          </p:nvGrpSpPr>
          <p:grpSpPr>
            <a:xfrm>
              <a:off x="5868090" y="2862913"/>
              <a:ext cx="1238316" cy="853922"/>
              <a:chOff x="0" y="0"/>
              <a:chExt cx="1033025" cy="712379"/>
            </a:xfrm>
          </p:grpSpPr>
          <p:sp>
            <p:nvSpPr>
              <p:cNvPr id="69" name="Freeform 69"/>
              <p:cNvSpPr/>
              <p:nvPr/>
            </p:nvSpPr>
            <p:spPr>
              <a:xfrm>
                <a:off x="0" y="0"/>
                <a:ext cx="1033025" cy="712379"/>
              </a:xfrm>
              <a:custGeom>
                <a:avLst/>
                <a:gdLst/>
                <a:ahLst/>
                <a:cxnLst/>
                <a:rect l="l" t="t" r="r" b="b"/>
                <a:pathLst>
                  <a:path w="1033025" h="712379">
                    <a:moveTo>
                      <a:pt x="1033025" y="0"/>
                    </a:moveTo>
                    <a:lnTo>
                      <a:pt x="1033025" y="712379"/>
                    </a:lnTo>
                    <a:lnTo>
                      <a:pt x="0" y="712379"/>
                    </a:lnTo>
                    <a:lnTo>
                      <a:pt x="0" y="0"/>
                    </a:lnTo>
                    <a:close/>
                  </a:path>
                </a:pathLst>
              </a:custGeom>
              <a:solidFill>
                <a:srgbClr val="FFFFFF"/>
              </a:solidFill>
              <a:ln w="47625" cap="sq">
                <a:solidFill>
                  <a:srgbClr val="0097B2"/>
                </a:solidFill>
                <a:prstDash val="solid"/>
                <a:miter/>
              </a:ln>
            </p:spPr>
          </p:sp>
          <p:sp>
            <p:nvSpPr>
              <p:cNvPr id="70" name="TextBox 70"/>
              <p:cNvSpPr txBox="1"/>
              <p:nvPr/>
            </p:nvSpPr>
            <p:spPr>
              <a:xfrm>
                <a:off x="0" y="0"/>
                <a:ext cx="1033025" cy="712379"/>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71" name="TextBox 71"/>
            <p:cNvSpPr txBox="1"/>
            <p:nvPr/>
          </p:nvSpPr>
          <p:spPr>
            <a:xfrm>
              <a:off x="5868090" y="2989513"/>
              <a:ext cx="1141171" cy="553097"/>
            </a:xfrm>
            <a:prstGeom prst="rect">
              <a:avLst/>
            </a:prstGeom>
          </p:spPr>
          <p:txBody>
            <a:bodyPr lIns="0" tIns="0" rIns="0" bIns="0" rtlCol="0" anchor="t">
              <a:spAutoFit/>
            </a:bodyPr>
            <a:lstStyle/>
            <a:p>
              <a:pPr algn="ctr">
                <a:lnSpc>
                  <a:spcPts val="1613"/>
                </a:lnSpc>
              </a:pPr>
              <a:r>
                <a:rPr lang="en-US" sz="1152">
                  <a:solidFill>
                    <a:srgbClr val="000000"/>
                  </a:solidFill>
                  <a:latin typeface="Times New Roman MT"/>
                  <a:ea typeface="Times New Roman MT"/>
                  <a:cs typeface="Times New Roman MT"/>
                  <a:sym typeface="Times New Roman MT"/>
                </a:rPr>
                <a:t>Convertir</a:t>
              </a:r>
            </a:p>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AC/DC</a:t>
              </a:r>
            </a:p>
          </p:txBody>
        </p:sp>
        <p:sp>
          <p:nvSpPr>
            <p:cNvPr id="72" name="AutoShape 72"/>
            <p:cNvSpPr/>
            <p:nvPr/>
          </p:nvSpPr>
          <p:spPr>
            <a:xfrm flipV="1">
              <a:off x="7106387" y="3289874"/>
              <a:ext cx="657849" cy="0"/>
            </a:xfrm>
            <a:prstGeom prst="line">
              <a:avLst/>
            </a:prstGeom>
            <a:ln w="32026" cap="flat">
              <a:solidFill>
                <a:srgbClr val="0097B2"/>
              </a:solidFill>
              <a:prstDash val="lgDash"/>
              <a:headEnd type="none" w="sm" len="sm"/>
              <a:tailEnd type="arrow" w="med" len="sm"/>
            </a:ln>
          </p:spPr>
        </p:sp>
        <p:grpSp>
          <p:nvGrpSpPr>
            <p:cNvPr id="73" name="Group 73"/>
            <p:cNvGrpSpPr/>
            <p:nvPr/>
          </p:nvGrpSpPr>
          <p:grpSpPr>
            <a:xfrm>
              <a:off x="7764236" y="2862913"/>
              <a:ext cx="1334832" cy="853922"/>
              <a:chOff x="0" y="0"/>
              <a:chExt cx="1113540" cy="712379"/>
            </a:xfrm>
          </p:grpSpPr>
          <p:sp>
            <p:nvSpPr>
              <p:cNvPr id="74" name="Freeform 74"/>
              <p:cNvSpPr/>
              <p:nvPr/>
            </p:nvSpPr>
            <p:spPr>
              <a:xfrm>
                <a:off x="0" y="0"/>
                <a:ext cx="1113540" cy="712379"/>
              </a:xfrm>
              <a:custGeom>
                <a:avLst/>
                <a:gdLst/>
                <a:ahLst/>
                <a:cxnLst/>
                <a:rect l="l" t="t" r="r" b="b"/>
                <a:pathLst>
                  <a:path w="1113540" h="712379">
                    <a:moveTo>
                      <a:pt x="1113540" y="0"/>
                    </a:moveTo>
                    <a:lnTo>
                      <a:pt x="1113540" y="712379"/>
                    </a:lnTo>
                    <a:lnTo>
                      <a:pt x="0" y="712379"/>
                    </a:lnTo>
                    <a:lnTo>
                      <a:pt x="0" y="0"/>
                    </a:lnTo>
                    <a:close/>
                  </a:path>
                </a:pathLst>
              </a:custGeom>
              <a:solidFill>
                <a:srgbClr val="FFFFFF"/>
              </a:solidFill>
              <a:ln w="47625" cap="sq">
                <a:solidFill>
                  <a:srgbClr val="0097B2"/>
                </a:solidFill>
                <a:prstDash val="solid"/>
                <a:miter/>
              </a:ln>
            </p:spPr>
          </p:sp>
          <p:sp>
            <p:nvSpPr>
              <p:cNvPr id="75" name="TextBox 75"/>
              <p:cNvSpPr txBox="1"/>
              <p:nvPr/>
            </p:nvSpPr>
            <p:spPr>
              <a:xfrm>
                <a:off x="0" y="0"/>
                <a:ext cx="1113540" cy="712379"/>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76" name="TextBox 76"/>
            <p:cNvSpPr txBox="1"/>
            <p:nvPr/>
          </p:nvSpPr>
          <p:spPr>
            <a:xfrm>
              <a:off x="7764236" y="2989513"/>
              <a:ext cx="1334832"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Almacenar datos</a:t>
              </a:r>
            </a:p>
          </p:txBody>
        </p:sp>
        <p:grpSp>
          <p:nvGrpSpPr>
            <p:cNvPr id="77" name="Group 77"/>
            <p:cNvGrpSpPr/>
            <p:nvPr/>
          </p:nvGrpSpPr>
          <p:grpSpPr>
            <a:xfrm>
              <a:off x="9373225" y="2035060"/>
              <a:ext cx="1334832" cy="853922"/>
              <a:chOff x="0" y="0"/>
              <a:chExt cx="1113540" cy="712379"/>
            </a:xfrm>
          </p:grpSpPr>
          <p:sp>
            <p:nvSpPr>
              <p:cNvPr id="78" name="Freeform 78"/>
              <p:cNvSpPr/>
              <p:nvPr/>
            </p:nvSpPr>
            <p:spPr>
              <a:xfrm>
                <a:off x="0" y="0"/>
                <a:ext cx="1113540" cy="712379"/>
              </a:xfrm>
              <a:custGeom>
                <a:avLst/>
                <a:gdLst/>
                <a:ahLst/>
                <a:cxnLst/>
                <a:rect l="l" t="t" r="r" b="b"/>
                <a:pathLst>
                  <a:path w="1113540" h="712379">
                    <a:moveTo>
                      <a:pt x="1113540" y="0"/>
                    </a:moveTo>
                    <a:lnTo>
                      <a:pt x="1113540" y="712379"/>
                    </a:lnTo>
                    <a:lnTo>
                      <a:pt x="0" y="712379"/>
                    </a:lnTo>
                    <a:lnTo>
                      <a:pt x="0" y="0"/>
                    </a:lnTo>
                    <a:close/>
                  </a:path>
                </a:pathLst>
              </a:custGeom>
              <a:solidFill>
                <a:srgbClr val="FFFFFF"/>
              </a:solidFill>
              <a:ln w="47625" cap="sq">
                <a:solidFill>
                  <a:srgbClr val="0097B2"/>
                </a:solidFill>
                <a:prstDash val="solid"/>
                <a:miter/>
              </a:ln>
            </p:spPr>
          </p:sp>
          <p:sp>
            <p:nvSpPr>
              <p:cNvPr id="79" name="TextBox 79"/>
              <p:cNvSpPr txBox="1"/>
              <p:nvPr/>
            </p:nvSpPr>
            <p:spPr>
              <a:xfrm>
                <a:off x="0" y="0"/>
                <a:ext cx="1113540" cy="712379"/>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80" name="TextBox 80"/>
            <p:cNvSpPr txBox="1"/>
            <p:nvPr/>
          </p:nvSpPr>
          <p:spPr>
            <a:xfrm>
              <a:off x="9373225" y="2161660"/>
              <a:ext cx="1334832"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Comparar datos</a:t>
              </a:r>
            </a:p>
          </p:txBody>
        </p:sp>
        <p:sp>
          <p:nvSpPr>
            <p:cNvPr id="81" name="Freeform 81"/>
            <p:cNvSpPr/>
            <p:nvPr/>
          </p:nvSpPr>
          <p:spPr>
            <a:xfrm>
              <a:off x="6652302" y="3716835"/>
              <a:ext cx="3924964" cy="2002669"/>
            </a:xfrm>
            <a:custGeom>
              <a:avLst/>
              <a:gdLst/>
              <a:ahLst/>
              <a:cxnLst/>
              <a:rect l="l" t="t" r="r" b="b"/>
              <a:pathLst>
                <a:path w="3924964" h="2002669">
                  <a:moveTo>
                    <a:pt x="3924964" y="2002669"/>
                  </a:moveTo>
                  <a:lnTo>
                    <a:pt x="3924964" y="1296695"/>
                  </a:lnTo>
                  <a:cubicBezTo>
                    <a:pt x="3924964" y="1236053"/>
                    <a:pt x="3875803" y="1186892"/>
                    <a:pt x="3815161" y="1186892"/>
                  </a:cubicBezTo>
                  <a:lnTo>
                    <a:pt x="109803" y="1186892"/>
                  </a:lnTo>
                  <a:cubicBezTo>
                    <a:pt x="80681" y="1186892"/>
                    <a:pt x="52752" y="1175324"/>
                    <a:pt x="32161" y="1154732"/>
                  </a:cubicBezTo>
                  <a:cubicBezTo>
                    <a:pt x="11568" y="1134140"/>
                    <a:pt x="0" y="1106211"/>
                    <a:pt x="0" y="1077089"/>
                  </a:cubicBezTo>
                  <a:lnTo>
                    <a:pt x="0" y="0"/>
                  </a:lnTo>
                </a:path>
              </a:pathLst>
            </a:custGeom>
            <a:ln w="32026" cap="flat">
              <a:solidFill>
                <a:srgbClr val="D7A92E"/>
              </a:solidFill>
              <a:prstDash val="lgDash"/>
              <a:headEnd type="none" w="sm" len="sm"/>
              <a:tailEnd type="triangle" w="lg" len="med"/>
            </a:ln>
          </p:spPr>
        </p:sp>
        <p:sp>
          <p:nvSpPr>
            <p:cNvPr id="82" name="Freeform 82"/>
            <p:cNvSpPr/>
            <p:nvPr/>
          </p:nvSpPr>
          <p:spPr>
            <a:xfrm>
              <a:off x="6318545" y="3716835"/>
              <a:ext cx="0" cy="1001335"/>
            </a:xfrm>
            <a:custGeom>
              <a:avLst/>
              <a:gdLst/>
              <a:ahLst/>
              <a:cxnLst/>
              <a:rect l="l" t="t" r="r" b="b"/>
              <a:pathLst>
                <a:path h="1001335">
                  <a:moveTo>
                    <a:pt x="0" y="1001334"/>
                  </a:moveTo>
                  <a:lnTo>
                    <a:pt x="0" y="0"/>
                  </a:lnTo>
                </a:path>
              </a:pathLst>
            </a:custGeom>
            <a:ln w="32026" cap="flat">
              <a:solidFill>
                <a:srgbClr val="D7A92E"/>
              </a:solidFill>
              <a:prstDash val="lgDash"/>
              <a:headEnd type="none" w="sm" len="sm"/>
              <a:tailEnd type="triangle" w="lg" len="med"/>
            </a:ln>
          </p:spPr>
        </p:sp>
        <p:sp>
          <p:nvSpPr>
            <p:cNvPr id="83" name="Freeform 83"/>
            <p:cNvSpPr/>
            <p:nvPr/>
          </p:nvSpPr>
          <p:spPr>
            <a:xfrm>
              <a:off x="9099068" y="2888982"/>
              <a:ext cx="941573" cy="400891"/>
            </a:xfrm>
            <a:custGeom>
              <a:avLst/>
              <a:gdLst/>
              <a:ahLst/>
              <a:cxnLst/>
              <a:rect l="l" t="t" r="r" b="b"/>
              <a:pathLst>
                <a:path w="941573" h="400891">
                  <a:moveTo>
                    <a:pt x="0" y="400892"/>
                  </a:moveTo>
                  <a:lnTo>
                    <a:pt x="360982" y="400892"/>
                  </a:lnTo>
                  <a:cubicBezTo>
                    <a:pt x="390105" y="400892"/>
                    <a:pt x="418033" y="389323"/>
                    <a:pt x="438625" y="368731"/>
                  </a:cubicBezTo>
                  <a:cubicBezTo>
                    <a:pt x="459218" y="348139"/>
                    <a:pt x="470786" y="320210"/>
                    <a:pt x="470786" y="291089"/>
                  </a:cubicBezTo>
                  <a:lnTo>
                    <a:pt x="470786" y="109804"/>
                  </a:lnTo>
                  <a:cubicBezTo>
                    <a:pt x="470786" y="80682"/>
                    <a:pt x="482354" y="52753"/>
                    <a:pt x="502947" y="32161"/>
                  </a:cubicBezTo>
                  <a:cubicBezTo>
                    <a:pt x="523538" y="11569"/>
                    <a:pt x="551467" y="0"/>
                    <a:pt x="580589" y="0"/>
                  </a:cubicBezTo>
                  <a:lnTo>
                    <a:pt x="941573" y="0"/>
                  </a:lnTo>
                </a:path>
              </a:pathLst>
            </a:custGeom>
            <a:ln w="32026" cap="flat">
              <a:solidFill>
                <a:srgbClr val="0097B2"/>
              </a:solidFill>
              <a:prstDash val="lgDash"/>
              <a:headEnd type="none" w="sm" len="sm"/>
              <a:tailEnd type="arrow" w="med" len="sm"/>
            </a:ln>
          </p:spPr>
        </p:sp>
        <p:sp>
          <p:nvSpPr>
            <p:cNvPr id="84" name="Freeform 84"/>
            <p:cNvSpPr/>
            <p:nvPr/>
          </p:nvSpPr>
          <p:spPr>
            <a:xfrm>
              <a:off x="10040641" y="544103"/>
              <a:ext cx="3082681" cy="1490957"/>
            </a:xfrm>
            <a:custGeom>
              <a:avLst/>
              <a:gdLst/>
              <a:ahLst/>
              <a:cxnLst/>
              <a:rect l="l" t="t" r="r" b="b"/>
              <a:pathLst>
                <a:path w="3082681" h="1490957">
                  <a:moveTo>
                    <a:pt x="0" y="1490957"/>
                  </a:moveTo>
                  <a:lnTo>
                    <a:pt x="1431536" y="1490957"/>
                  </a:lnTo>
                  <a:cubicBezTo>
                    <a:pt x="1460659" y="1490957"/>
                    <a:pt x="1488587" y="1479388"/>
                    <a:pt x="1509179" y="1458796"/>
                  </a:cubicBezTo>
                  <a:cubicBezTo>
                    <a:pt x="1529771" y="1438204"/>
                    <a:pt x="1541340" y="1410275"/>
                    <a:pt x="1541340" y="1381154"/>
                  </a:cubicBezTo>
                  <a:lnTo>
                    <a:pt x="1541340" y="109803"/>
                  </a:lnTo>
                  <a:cubicBezTo>
                    <a:pt x="1541340" y="80681"/>
                    <a:pt x="1552908" y="52752"/>
                    <a:pt x="1573500" y="32160"/>
                  </a:cubicBezTo>
                  <a:cubicBezTo>
                    <a:pt x="1594092" y="11568"/>
                    <a:pt x="1622021" y="0"/>
                    <a:pt x="1651143" y="0"/>
                  </a:cubicBezTo>
                  <a:lnTo>
                    <a:pt x="3082680" y="0"/>
                  </a:lnTo>
                </a:path>
              </a:pathLst>
            </a:custGeom>
            <a:ln w="32026" cap="flat">
              <a:solidFill>
                <a:srgbClr val="0097B2"/>
              </a:solidFill>
              <a:prstDash val="lgDash"/>
              <a:headEnd type="none" w="sm" len="sm"/>
              <a:tailEnd type="arrow" w="med" len="sm"/>
            </a:ln>
          </p:spPr>
        </p:sp>
        <p:grpSp>
          <p:nvGrpSpPr>
            <p:cNvPr id="85" name="Group 85"/>
            <p:cNvGrpSpPr/>
            <p:nvPr/>
          </p:nvGrpSpPr>
          <p:grpSpPr>
            <a:xfrm>
              <a:off x="13093424" y="984406"/>
              <a:ext cx="1633289" cy="426698"/>
              <a:chOff x="0" y="0"/>
              <a:chExt cx="1362518" cy="355970"/>
            </a:xfrm>
          </p:grpSpPr>
          <p:sp>
            <p:nvSpPr>
              <p:cNvPr id="86" name="Freeform 86"/>
              <p:cNvSpPr/>
              <p:nvPr/>
            </p:nvSpPr>
            <p:spPr>
              <a:xfrm>
                <a:off x="0" y="0"/>
                <a:ext cx="1362518" cy="355970"/>
              </a:xfrm>
              <a:custGeom>
                <a:avLst/>
                <a:gdLst/>
                <a:ahLst/>
                <a:cxnLst/>
                <a:rect l="l" t="t" r="r" b="b"/>
                <a:pathLst>
                  <a:path w="1362518" h="355970">
                    <a:moveTo>
                      <a:pt x="1362518" y="0"/>
                    </a:moveTo>
                    <a:lnTo>
                      <a:pt x="1362518" y="355970"/>
                    </a:lnTo>
                    <a:lnTo>
                      <a:pt x="0" y="355970"/>
                    </a:lnTo>
                    <a:lnTo>
                      <a:pt x="0" y="0"/>
                    </a:lnTo>
                    <a:close/>
                  </a:path>
                </a:pathLst>
              </a:custGeom>
              <a:solidFill>
                <a:srgbClr val="FFFFFF"/>
              </a:solidFill>
              <a:ln w="47625" cap="sq">
                <a:solidFill>
                  <a:srgbClr val="0097B2"/>
                </a:solidFill>
                <a:prstDash val="solid"/>
                <a:miter/>
              </a:ln>
            </p:spPr>
          </p:sp>
          <p:sp>
            <p:nvSpPr>
              <p:cNvPr id="87" name="TextBox 87"/>
              <p:cNvSpPr txBox="1"/>
              <p:nvPr/>
            </p:nvSpPr>
            <p:spPr>
              <a:xfrm>
                <a:off x="0" y="0"/>
                <a:ext cx="1362518" cy="355970"/>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88" name="TextBox 88"/>
            <p:cNvSpPr txBox="1"/>
            <p:nvPr/>
          </p:nvSpPr>
          <p:spPr>
            <a:xfrm>
              <a:off x="12916318" y="1044592"/>
              <a:ext cx="1943225" cy="280840"/>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Generar alertas</a:t>
              </a:r>
            </a:p>
          </p:txBody>
        </p:sp>
        <p:grpSp>
          <p:nvGrpSpPr>
            <p:cNvPr id="89" name="Group 89"/>
            <p:cNvGrpSpPr/>
            <p:nvPr/>
          </p:nvGrpSpPr>
          <p:grpSpPr>
            <a:xfrm>
              <a:off x="13093424" y="352889"/>
              <a:ext cx="1633289" cy="534295"/>
              <a:chOff x="0" y="0"/>
              <a:chExt cx="1362518" cy="445732"/>
            </a:xfrm>
          </p:grpSpPr>
          <p:sp>
            <p:nvSpPr>
              <p:cNvPr id="90" name="Freeform 90"/>
              <p:cNvSpPr/>
              <p:nvPr/>
            </p:nvSpPr>
            <p:spPr>
              <a:xfrm>
                <a:off x="0" y="0"/>
                <a:ext cx="1362518" cy="445732"/>
              </a:xfrm>
              <a:custGeom>
                <a:avLst/>
                <a:gdLst/>
                <a:ahLst/>
                <a:cxnLst/>
                <a:rect l="l" t="t" r="r" b="b"/>
                <a:pathLst>
                  <a:path w="1362518" h="445732">
                    <a:moveTo>
                      <a:pt x="1362518" y="0"/>
                    </a:moveTo>
                    <a:lnTo>
                      <a:pt x="1362518" y="445732"/>
                    </a:lnTo>
                    <a:lnTo>
                      <a:pt x="0" y="445732"/>
                    </a:lnTo>
                    <a:lnTo>
                      <a:pt x="0" y="0"/>
                    </a:lnTo>
                    <a:close/>
                  </a:path>
                </a:pathLst>
              </a:custGeom>
              <a:solidFill>
                <a:srgbClr val="FFFFFF"/>
              </a:solidFill>
              <a:ln w="47625" cap="sq">
                <a:solidFill>
                  <a:srgbClr val="0097B2"/>
                </a:solidFill>
                <a:prstDash val="solid"/>
                <a:miter/>
              </a:ln>
            </p:spPr>
          </p:sp>
          <p:sp>
            <p:nvSpPr>
              <p:cNvPr id="91" name="TextBox 91"/>
              <p:cNvSpPr txBox="1"/>
              <p:nvPr/>
            </p:nvSpPr>
            <p:spPr>
              <a:xfrm>
                <a:off x="0" y="0"/>
                <a:ext cx="1362518" cy="445732"/>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92" name="TextBox 92"/>
            <p:cNvSpPr txBox="1"/>
            <p:nvPr/>
          </p:nvSpPr>
          <p:spPr>
            <a:xfrm>
              <a:off x="12938456" y="455804"/>
              <a:ext cx="1943225" cy="280840"/>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Reportar datos</a:t>
              </a:r>
            </a:p>
          </p:txBody>
        </p:sp>
        <p:sp>
          <p:nvSpPr>
            <p:cNvPr id="93" name="Freeform 93"/>
            <p:cNvSpPr/>
            <p:nvPr/>
          </p:nvSpPr>
          <p:spPr>
            <a:xfrm>
              <a:off x="10314770" y="1197755"/>
              <a:ext cx="2808552" cy="837305"/>
            </a:xfrm>
            <a:custGeom>
              <a:avLst/>
              <a:gdLst/>
              <a:ahLst/>
              <a:cxnLst/>
              <a:rect l="l" t="t" r="r" b="b"/>
              <a:pathLst>
                <a:path w="2808552" h="837305">
                  <a:moveTo>
                    <a:pt x="0" y="837305"/>
                  </a:moveTo>
                  <a:lnTo>
                    <a:pt x="0" y="109803"/>
                  </a:lnTo>
                  <a:cubicBezTo>
                    <a:pt x="0" y="80682"/>
                    <a:pt x="11568" y="52753"/>
                    <a:pt x="32160" y="32161"/>
                  </a:cubicBezTo>
                  <a:cubicBezTo>
                    <a:pt x="52752" y="11569"/>
                    <a:pt x="80681" y="0"/>
                    <a:pt x="109803" y="0"/>
                  </a:cubicBezTo>
                  <a:lnTo>
                    <a:pt x="2808551" y="0"/>
                  </a:lnTo>
                </a:path>
              </a:pathLst>
            </a:custGeom>
            <a:ln w="32026" cap="flat">
              <a:solidFill>
                <a:srgbClr val="0097B2"/>
              </a:solidFill>
              <a:prstDash val="lgDash"/>
              <a:headEnd type="none" w="sm" len="sm"/>
              <a:tailEnd type="arrow" w="med" len="sm"/>
            </a:ln>
          </p:spPr>
        </p:sp>
        <p:sp>
          <p:nvSpPr>
            <p:cNvPr id="94" name="Freeform 94"/>
            <p:cNvSpPr/>
            <p:nvPr/>
          </p:nvSpPr>
          <p:spPr>
            <a:xfrm>
              <a:off x="14758947" y="1197755"/>
              <a:ext cx="3196670" cy="4657276"/>
            </a:xfrm>
            <a:custGeom>
              <a:avLst/>
              <a:gdLst/>
              <a:ahLst/>
              <a:cxnLst/>
              <a:rect l="l" t="t" r="r" b="b"/>
              <a:pathLst>
                <a:path w="3196670" h="4657276">
                  <a:moveTo>
                    <a:pt x="0" y="0"/>
                  </a:moveTo>
                  <a:lnTo>
                    <a:pt x="3086868" y="0"/>
                  </a:lnTo>
                  <a:cubicBezTo>
                    <a:pt x="3115988" y="0"/>
                    <a:pt x="3143918" y="11569"/>
                    <a:pt x="3164509" y="32161"/>
                  </a:cubicBezTo>
                  <a:cubicBezTo>
                    <a:pt x="3185102" y="52753"/>
                    <a:pt x="3196670" y="80682"/>
                    <a:pt x="3196670" y="109803"/>
                  </a:cubicBezTo>
                  <a:lnTo>
                    <a:pt x="3196670" y="4547473"/>
                  </a:lnTo>
                  <a:cubicBezTo>
                    <a:pt x="3196670" y="4576594"/>
                    <a:pt x="3185102" y="4604523"/>
                    <a:pt x="3164509" y="4625116"/>
                  </a:cubicBezTo>
                  <a:cubicBezTo>
                    <a:pt x="3143918" y="4645707"/>
                    <a:pt x="3115988" y="4657276"/>
                    <a:pt x="3086868" y="4657276"/>
                  </a:cubicBezTo>
                  <a:lnTo>
                    <a:pt x="1860178" y="4657276"/>
                  </a:lnTo>
                </a:path>
              </a:pathLst>
            </a:custGeom>
            <a:ln w="32026" cap="flat">
              <a:solidFill>
                <a:srgbClr val="0097B2"/>
              </a:solidFill>
              <a:prstDash val="lgDash"/>
              <a:headEnd type="none" w="sm" len="sm"/>
              <a:tailEnd type="arrow" w="med" len="sm"/>
            </a:ln>
          </p:spPr>
        </p:sp>
        <p:sp>
          <p:nvSpPr>
            <p:cNvPr id="95" name="Freeform 95"/>
            <p:cNvSpPr/>
            <p:nvPr/>
          </p:nvSpPr>
          <p:spPr>
            <a:xfrm>
              <a:off x="16619125" y="5975897"/>
              <a:ext cx="2871448" cy="12192"/>
            </a:xfrm>
            <a:custGeom>
              <a:avLst/>
              <a:gdLst/>
              <a:ahLst/>
              <a:cxnLst/>
              <a:rect l="l" t="t" r="r" b="b"/>
              <a:pathLst>
                <a:path w="2871448" h="12192">
                  <a:moveTo>
                    <a:pt x="0" y="12192"/>
                  </a:moveTo>
                  <a:lnTo>
                    <a:pt x="1429629" y="12192"/>
                  </a:lnTo>
                  <a:cubicBezTo>
                    <a:pt x="1432996" y="12192"/>
                    <a:pt x="1435725" y="9462"/>
                    <a:pt x="1435725" y="6096"/>
                  </a:cubicBezTo>
                  <a:lnTo>
                    <a:pt x="1435725" y="6096"/>
                  </a:lnTo>
                  <a:cubicBezTo>
                    <a:pt x="1435725" y="2729"/>
                    <a:pt x="1438455" y="0"/>
                    <a:pt x="1441821" y="0"/>
                  </a:cubicBezTo>
                  <a:lnTo>
                    <a:pt x="2871448" y="0"/>
                  </a:lnTo>
                </a:path>
              </a:pathLst>
            </a:custGeom>
            <a:ln w="32026" cap="flat">
              <a:solidFill>
                <a:srgbClr val="008801"/>
              </a:solidFill>
              <a:prstDash val="lgDash"/>
              <a:headEnd type="none" w="sm" len="sm"/>
              <a:tailEnd type="arrow" w="med" len="sm"/>
            </a:ln>
          </p:spPr>
        </p:sp>
        <p:grpSp>
          <p:nvGrpSpPr>
            <p:cNvPr id="96" name="Group 96"/>
            <p:cNvGrpSpPr/>
            <p:nvPr/>
          </p:nvGrpSpPr>
          <p:grpSpPr>
            <a:xfrm>
              <a:off x="5079073" y="9727157"/>
              <a:ext cx="1818714" cy="853922"/>
              <a:chOff x="0" y="0"/>
              <a:chExt cx="1517203" cy="712379"/>
            </a:xfrm>
          </p:grpSpPr>
          <p:sp>
            <p:nvSpPr>
              <p:cNvPr id="97" name="Freeform 97"/>
              <p:cNvSpPr/>
              <p:nvPr/>
            </p:nvSpPr>
            <p:spPr>
              <a:xfrm>
                <a:off x="0" y="0"/>
                <a:ext cx="1517203" cy="712379"/>
              </a:xfrm>
              <a:custGeom>
                <a:avLst/>
                <a:gdLst/>
                <a:ahLst/>
                <a:cxnLst/>
                <a:rect l="l" t="t" r="r" b="b"/>
                <a:pathLst>
                  <a:path w="1517203" h="712379">
                    <a:moveTo>
                      <a:pt x="1517203" y="0"/>
                    </a:moveTo>
                    <a:lnTo>
                      <a:pt x="1517203" y="712379"/>
                    </a:lnTo>
                    <a:lnTo>
                      <a:pt x="0" y="712379"/>
                    </a:lnTo>
                    <a:lnTo>
                      <a:pt x="0" y="0"/>
                    </a:lnTo>
                    <a:close/>
                  </a:path>
                </a:pathLst>
              </a:custGeom>
              <a:solidFill>
                <a:srgbClr val="FFFFFF"/>
              </a:solidFill>
              <a:ln w="47625" cap="sq">
                <a:solidFill>
                  <a:srgbClr val="5E17EB"/>
                </a:solidFill>
                <a:prstDash val="solid"/>
                <a:miter/>
              </a:ln>
            </p:spPr>
          </p:sp>
          <p:sp>
            <p:nvSpPr>
              <p:cNvPr id="98" name="TextBox 98"/>
              <p:cNvSpPr txBox="1"/>
              <p:nvPr/>
            </p:nvSpPr>
            <p:spPr>
              <a:xfrm>
                <a:off x="0" y="0"/>
                <a:ext cx="1517203" cy="712379"/>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99" name="TextBox 99"/>
            <p:cNvSpPr txBox="1"/>
            <p:nvPr/>
          </p:nvSpPr>
          <p:spPr>
            <a:xfrm>
              <a:off x="5088223" y="9862908"/>
              <a:ext cx="1809564"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Acondicionar voltaje de alimentación</a:t>
              </a:r>
            </a:p>
          </p:txBody>
        </p:sp>
        <p:sp>
          <p:nvSpPr>
            <p:cNvPr id="100" name="Freeform 100"/>
            <p:cNvSpPr/>
            <p:nvPr/>
          </p:nvSpPr>
          <p:spPr>
            <a:xfrm>
              <a:off x="16619125" y="6123291"/>
              <a:ext cx="2871448" cy="22677"/>
            </a:xfrm>
            <a:custGeom>
              <a:avLst/>
              <a:gdLst/>
              <a:ahLst/>
              <a:cxnLst/>
              <a:rect l="l" t="t" r="r" b="b"/>
              <a:pathLst>
                <a:path w="2871448" h="22677">
                  <a:moveTo>
                    <a:pt x="0" y="22678"/>
                  </a:moveTo>
                  <a:lnTo>
                    <a:pt x="0" y="16732"/>
                  </a:lnTo>
                  <a:cubicBezTo>
                    <a:pt x="0" y="15154"/>
                    <a:pt x="626" y="13642"/>
                    <a:pt x="1741" y="12527"/>
                  </a:cubicBezTo>
                  <a:cubicBezTo>
                    <a:pt x="2857" y="11412"/>
                    <a:pt x="4369" y="10785"/>
                    <a:pt x="5947" y="10785"/>
                  </a:cubicBezTo>
                  <a:lnTo>
                    <a:pt x="2823040" y="10785"/>
                  </a:lnTo>
                  <a:cubicBezTo>
                    <a:pt x="2824470" y="10785"/>
                    <a:pt x="2825842" y="10217"/>
                    <a:pt x="2826852" y="9206"/>
                  </a:cubicBezTo>
                  <a:cubicBezTo>
                    <a:pt x="2827865" y="8195"/>
                    <a:pt x="2828432" y="6823"/>
                    <a:pt x="2828432" y="5393"/>
                  </a:cubicBezTo>
                  <a:lnTo>
                    <a:pt x="2828432" y="5393"/>
                  </a:lnTo>
                  <a:cubicBezTo>
                    <a:pt x="2828432" y="3963"/>
                    <a:pt x="2829001" y="2591"/>
                    <a:pt x="2830012" y="1580"/>
                  </a:cubicBezTo>
                  <a:cubicBezTo>
                    <a:pt x="2831023" y="569"/>
                    <a:pt x="2832395" y="0"/>
                    <a:pt x="2833824" y="0"/>
                  </a:cubicBezTo>
                  <a:lnTo>
                    <a:pt x="2871448" y="0"/>
                  </a:lnTo>
                </a:path>
              </a:pathLst>
            </a:custGeom>
            <a:ln w="32026" cap="flat">
              <a:solidFill>
                <a:srgbClr val="008801"/>
              </a:solidFill>
              <a:prstDash val="lgDash"/>
              <a:headEnd type="none" w="sm" len="sm"/>
              <a:tailEnd type="arrow" w="med" len="sm"/>
            </a:ln>
          </p:spPr>
        </p:sp>
        <p:sp>
          <p:nvSpPr>
            <p:cNvPr id="101" name="Freeform 101"/>
            <p:cNvSpPr/>
            <p:nvPr/>
          </p:nvSpPr>
          <p:spPr>
            <a:xfrm>
              <a:off x="16619125" y="6287244"/>
              <a:ext cx="2871448" cy="10118"/>
            </a:xfrm>
            <a:custGeom>
              <a:avLst/>
              <a:gdLst/>
              <a:ahLst/>
              <a:cxnLst/>
              <a:rect l="l" t="t" r="r" b="b"/>
              <a:pathLst>
                <a:path w="2871448" h="10118">
                  <a:moveTo>
                    <a:pt x="0" y="0"/>
                  </a:moveTo>
                  <a:lnTo>
                    <a:pt x="0" y="2996"/>
                  </a:lnTo>
                  <a:cubicBezTo>
                    <a:pt x="0" y="3791"/>
                    <a:pt x="316" y="4553"/>
                    <a:pt x="878" y="5115"/>
                  </a:cubicBezTo>
                  <a:cubicBezTo>
                    <a:pt x="1439" y="5677"/>
                    <a:pt x="2202" y="5992"/>
                    <a:pt x="2997" y="5992"/>
                  </a:cubicBezTo>
                  <a:lnTo>
                    <a:pt x="1993505" y="5992"/>
                  </a:lnTo>
                  <a:cubicBezTo>
                    <a:pt x="1995159" y="5992"/>
                    <a:pt x="1996500" y="4651"/>
                    <a:pt x="1996500" y="2996"/>
                  </a:cubicBezTo>
                  <a:lnTo>
                    <a:pt x="1996500" y="2996"/>
                  </a:lnTo>
                  <a:cubicBezTo>
                    <a:pt x="1996500" y="1342"/>
                    <a:pt x="1997841" y="0"/>
                    <a:pt x="1999497" y="0"/>
                  </a:cubicBezTo>
                  <a:lnTo>
                    <a:pt x="2418606" y="0"/>
                  </a:lnTo>
                  <a:cubicBezTo>
                    <a:pt x="2419947" y="0"/>
                    <a:pt x="2421234" y="533"/>
                    <a:pt x="2422183" y="1482"/>
                  </a:cubicBezTo>
                  <a:cubicBezTo>
                    <a:pt x="2423131" y="2431"/>
                    <a:pt x="2423665" y="3717"/>
                    <a:pt x="2423665" y="5059"/>
                  </a:cubicBezTo>
                  <a:lnTo>
                    <a:pt x="2423665" y="5059"/>
                  </a:lnTo>
                  <a:cubicBezTo>
                    <a:pt x="2423665" y="6401"/>
                    <a:pt x="2424198" y="7687"/>
                    <a:pt x="2425147" y="8636"/>
                  </a:cubicBezTo>
                  <a:cubicBezTo>
                    <a:pt x="2426095" y="9585"/>
                    <a:pt x="2427382" y="10118"/>
                    <a:pt x="2428723" y="10118"/>
                  </a:cubicBezTo>
                  <a:lnTo>
                    <a:pt x="2871448" y="10118"/>
                  </a:lnTo>
                </a:path>
              </a:pathLst>
            </a:custGeom>
            <a:ln w="32026" cap="flat">
              <a:solidFill>
                <a:srgbClr val="008801"/>
              </a:solidFill>
              <a:prstDash val="lgDash"/>
              <a:headEnd type="none" w="sm" len="sm"/>
              <a:tailEnd type="arrow" w="med" len="sm"/>
            </a:ln>
          </p:spPr>
        </p:sp>
        <p:sp>
          <p:nvSpPr>
            <p:cNvPr id="102" name="Freeform 102"/>
            <p:cNvSpPr/>
            <p:nvPr/>
          </p:nvSpPr>
          <p:spPr>
            <a:xfrm>
              <a:off x="16619125" y="6461342"/>
              <a:ext cx="2871448" cy="8155"/>
            </a:xfrm>
            <a:custGeom>
              <a:avLst/>
              <a:gdLst/>
              <a:ahLst/>
              <a:cxnLst/>
              <a:rect l="l" t="t" r="r" b="b"/>
              <a:pathLst>
                <a:path w="2871448" h="8155">
                  <a:moveTo>
                    <a:pt x="0" y="8156"/>
                  </a:moveTo>
                  <a:lnTo>
                    <a:pt x="0" y="4078"/>
                  </a:lnTo>
                  <a:cubicBezTo>
                    <a:pt x="0" y="2997"/>
                    <a:pt x="430" y="1960"/>
                    <a:pt x="1194" y="1195"/>
                  </a:cubicBezTo>
                  <a:cubicBezTo>
                    <a:pt x="1960" y="430"/>
                    <a:pt x="2997" y="0"/>
                    <a:pt x="4077" y="0"/>
                  </a:cubicBezTo>
                  <a:lnTo>
                    <a:pt x="2405863" y="0"/>
                  </a:lnTo>
                  <a:cubicBezTo>
                    <a:pt x="2408114" y="0"/>
                    <a:pt x="2409940" y="1826"/>
                    <a:pt x="2409940" y="4078"/>
                  </a:cubicBezTo>
                  <a:lnTo>
                    <a:pt x="2409940" y="4078"/>
                  </a:lnTo>
                  <a:cubicBezTo>
                    <a:pt x="2409940" y="6330"/>
                    <a:pt x="2411766" y="8156"/>
                    <a:pt x="2414017" y="8156"/>
                  </a:cubicBezTo>
                  <a:lnTo>
                    <a:pt x="2871448" y="8156"/>
                  </a:lnTo>
                </a:path>
              </a:pathLst>
            </a:custGeom>
            <a:ln w="32026" cap="flat">
              <a:solidFill>
                <a:srgbClr val="008801"/>
              </a:solidFill>
              <a:prstDash val="lgDash"/>
              <a:headEnd type="none" w="sm" len="sm"/>
              <a:tailEnd type="arrow" w="med" len="sm"/>
            </a:ln>
          </p:spPr>
        </p:sp>
        <p:sp>
          <p:nvSpPr>
            <p:cNvPr id="103" name="TextBox 103"/>
            <p:cNvSpPr txBox="1"/>
            <p:nvPr/>
          </p:nvSpPr>
          <p:spPr>
            <a:xfrm>
              <a:off x="398403" y="9987021"/>
              <a:ext cx="1659842"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Energía Eléctrica</a:t>
              </a:r>
            </a:p>
          </p:txBody>
        </p:sp>
        <p:sp>
          <p:nvSpPr>
            <p:cNvPr id="104" name="Freeform 104"/>
            <p:cNvSpPr/>
            <p:nvPr/>
          </p:nvSpPr>
          <p:spPr>
            <a:xfrm>
              <a:off x="14758930" y="408946"/>
              <a:ext cx="2468631" cy="0"/>
            </a:xfrm>
            <a:custGeom>
              <a:avLst/>
              <a:gdLst/>
              <a:ahLst/>
              <a:cxnLst/>
              <a:rect l="l" t="t" r="r" b="b"/>
              <a:pathLst>
                <a:path w="2468631">
                  <a:moveTo>
                    <a:pt x="0" y="0"/>
                  </a:moveTo>
                  <a:lnTo>
                    <a:pt x="2468631" y="0"/>
                  </a:lnTo>
                </a:path>
              </a:pathLst>
            </a:custGeom>
            <a:ln w="32026" cap="flat">
              <a:solidFill>
                <a:srgbClr val="0097B2"/>
              </a:solidFill>
              <a:prstDash val="lgDash"/>
              <a:headEnd type="none" w="sm" len="sm"/>
              <a:tailEnd type="arrow" w="med" len="sm"/>
            </a:ln>
          </p:spPr>
        </p:sp>
        <p:sp>
          <p:nvSpPr>
            <p:cNvPr id="105" name="Freeform 105"/>
            <p:cNvSpPr/>
            <p:nvPr/>
          </p:nvSpPr>
          <p:spPr>
            <a:xfrm>
              <a:off x="14758930" y="578764"/>
              <a:ext cx="2468631" cy="0"/>
            </a:xfrm>
            <a:custGeom>
              <a:avLst/>
              <a:gdLst/>
              <a:ahLst/>
              <a:cxnLst/>
              <a:rect l="l" t="t" r="r" b="b"/>
              <a:pathLst>
                <a:path w="2468631">
                  <a:moveTo>
                    <a:pt x="0" y="0"/>
                  </a:moveTo>
                  <a:lnTo>
                    <a:pt x="2468631" y="0"/>
                  </a:lnTo>
                </a:path>
              </a:pathLst>
            </a:custGeom>
            <a:ln w="32026" cap="flat">
              <a:solidFill>
                <a:srgbClr val="0097B2"/>
              </a:solidFill>
              <a:prstDash val="lgDash"/>
              <a:headEnd type="none" w="sm" len="sm"/>
              <a:tailEnd type="arrow" w="med" len="sm"/>
            </a:ln>
          </p:spPr>
        </p:sp>
        <p:sp>
          <p:nvSpPr>
            <p:cNvPr id="106" name="Freeform 106"/>
            <p:cNvSpPr/>
            <p:nvPr/>
          </p:nvSpPr>
          <p:spPr>
            <a:xfrm>
              <a:off x="14758930" y="734049"/>
              <a:ext cx="2468631" cy="0"/>
            </a:xfrm>
            <a:custGeom>
              <a:avLst/>
              <a:gdLst/>
              <a:ahLst/>
              <a:cxnLst/>
              <a:rect l="l" t="t" r="r" b="b"/>
              <a:pathLst>
                <a:path w="2468631">
                  <a:moveTo>
                    <a:pt x="0" y="0"/>
                  </a:moveTo>
                  <a:lnTo>
                    <a:pt x="2468631" y="0"/>
                  </a:lnTo>
                </a:path>
              </a:pathLst>
            </a:custGeom>
            <a:ln w="32026" cap="flat">
              <a:solidFill>
                <a:srgbClr val="0097B2"/>
              </a:solidFill>
              <a:prstDash val="lgDash"/>
              <a:headEnd type="none" w="sm" len="sm"/>
              <a:tailEnd type="arrow" w="med" len="sm"/>
            </a:ln>
          </p:spPr>
        </p:sp>
        <p:sp>
          <p:nvSpPr>
            <p:cNvPr id="107" name="TextBox 107"/>
            <p:cNvSpPr txBox="1"/>
            <p:nvPr/>
          </p:nvSpPr>
          <p:spPr>
            <a:xfrm>
              <a:off x="6678858" y="8778953"/>
              <a:ext cx="1141171"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Energizar Controlador</a:t>
              </a:r>
            </a:p>
          </p:txBody>
        </p:sp>
        <p:grpSp>
          <p:nvGrpSpPr>
            <p:cNvPr id="108" name="Group 108"/>
            <p:cNvGrpSpPr/>
            <p:nvPr/>
          </p:nvGrpSpPr>
          <p:grpSpPr>
            <a:xfrm>
              <a:off x="9192641" y="9781947"/>
              <a:ext cx="1141171" cy="1054816"/>
              <a:chOff x="0" y="0"/>
              <a:chExt cx="951985" cy="879973"/>
            </a:xfrm>
          </p:grpSpPr>
          <p:sp>
            <p:nvSpPr>
              <p:cNvPr id="109" name="Freeform 109"/>
              <p:cNvSpPr/>
              <p:nvPr/>
            </p:nvSpPr>
            <p:spPr>
              <a:xfrm>
                <a:off x="0" y="0"/>
                <a:ext cx="951985" cy="879973"/>
              </a:xfrm>
              <a:custGeom>
                <a:avLst/>
                <a:gdLst/>
                <a:ahLst/>
                <a:cxnLst/>
                <a:rect l="l" t="t" r="r" b="b"/>
                <a:pathLst>
                  <a:path w="951985" h="879973">
                    <a:moveTo>
                      <a:pt x="951985" y="0"/>
                    </a:moveTo>
                    <a:lnTo>
                      <a:pt x="951985" y="879973"/>
                    </a:lnTo>
                    <a:lnTo>
                      <a:pt x="0" y="879973"/>
                    </a:lnTo>
                    <a:lnTo>
                      <a:pt x="0" y="0"/>
                    </a:lnTo>
                    <a:close/>
                  </a:path>
                </a:pathLst>
              </a:custGeom>
              <a:solidFill>
                <a:srgbClr val="FFFFFF"/>
              </a:solidFill>
              <a:ln w="47625" cap="sq">
                <a:solidFill>
                  <a:srgbClr val="5E17EB"/>
                </a:solidFill>
                <a:prstDash val="solid"/>
                <a:miter/>
              </a:ln>
            </p:spPr>
          </p:sp>
          <p:sp>
            <p:nvSpPr>
              <p:cNvPr id="110" name="TextBox 110"/>
              <p:cNvSpPr txBox="1"/>
              <p:nvPr/>
            </p:nvSpPr>
            <p:spPr>
              <a:xfrm>
                <a:off x="0" y="0"/>
                <a:ext cx="951985" cy="879973"/>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111" name="TextBox 111"/>
            <p:cNvSpPr txBox="1"/>
            <p:nvPr/>
          </p:nvSpPr>
          <p:spPr>
            <a:xfrm>
              <a:off x="9201791" y="9917698"/>
              <a:ext cx="1141171" cy="825353"/>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Energizar sistema de batería</a:t>
              </a:r>
            </a:p>
          </p:txBody>
        </p:sp>
        <p:sp>
          <p:nvSpPr>
            <p:cNvPr id="112" name="AutoShape 112"/>
            <p:cNvSpPr/>
            <p:nvPr/>
          </p:nvSpPr>
          <p:spPr>
            <a:xfrm>
              <a:off x="6897787" y="10163269"/>
              <a:ext cx="2304004" cy="0"/>
            </a:xfrm>
            <a:prstGeom prst="line">
              <a:avLst/>
            </a:prstGeom>
            <a:ln w="32026" cap="flat">
              <a:solidFill>
                <a:srgbClr val="5E17EB"/>
              </a:solidFill>
              <a:prstDash val="solid"/>
              <a:headEnd type="none" w="sm" len="sm"/>
              <a:tailEnd type="arrow" w="med" len="sm"/>
            </a:ln>
          </p:spPr>
        </p:sp>
        <p:grpSp>
          <p:nvGrpSpPr>
            <p:cNvPr id="113" name="Group 113"/>
            <p:cNvGrpSpPr/>
            <p:nvPr/>
          </p:nvGrpSpPr>
          <p:grpSpPr>
            <a:xfrm>
              <a:off x="15298183" y="2981174"/>
              <a:ext cx="1141171" cy="1054816"/>
              <a:chOff x="0" y="0"/>
              <a:chExt cx="951985" cy="879973"/>
            </a:xfrm>
          </p:grpSpPr>
          <p:sp>
            <p:nvSpPr>
              <p:cNvPr id="114" name="Freeform 114"/>
              <p:cNvSpPr/>
              <p:nvPr/>
            </p:nvSpPr>
            <p:spPr>
              <a:xfrm>
                <a:off x="0" y="0"/>
                <a:ext cx="951985" cy="879973"/>
              </a:xfrm>
              <a:custGeom>
                <a:avLst/>
                <a:gdLst/>
                <a:ahLst/>
                <a:cxnLst/>
                <a:rect l="l" t="t" r="r" b="b"/>
                <a:pathLst>
                  <a:path w="951985" h="879973">
                    <a:moveTo>
                      <a:pt x="951985" y="0"/>
                    </a:moveTo>
                    <a:lnTo>
                      <a:pt x="951985" y="879973"/>
                    </a:lnTo>
                    <a:lnTo>
                      <a:pt x="0" y="879973"/>
                    </a:lnTo>
                    <a:lnTo>
                      <a:pt x="0" y="0"/>
                    </a:lnTo>
                    <a:close/>
                  </a:path>
                </a:pathLst>
              </a:custGeom>
              <a:solidFill>
                <a:srgbClr val="FFFFFF"/>
              </a:solidFill>
              <a:ln w="47625" cap="sq">
                <a:solidFill>
                  <a:srgbClr val="0097B2"/>
                </a:solidFill>
                <a:prstDash val="solid"/>
                <a:miter/>
              </a:ln>
            </p:spPr>
          </p:sp>
          <p:sp>
            <p:nvSpPr>
              <p:cNvPr id="115" name="TextBox 115"/>
              <p:cNvSpPr txBox="1"/>
              <p:nvPr/>
            </p:nvSpPr>
            <p:spPr>
              <a:xfrm>
                <a:off x="0" y="0"/>
                <a:ext cx="951985" cy="879973"/>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116" name="TextBox 116"/>
            <p:cNvSpPr txBox="1"/>
            <p:nvPr/>
          </p:nvSpPr>
          <p:spPr>
            <a:xfrm>
              <a:off x="15307768" y="3120930"/>
              <a:ext cx="1141171" cy="825353"/>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Calcular estado de batería</a:t>
              </a:r>
            </a:p>
          </p:txBody>
        </p:sp>
        <p:sp>
          <p:nvSpPr>
            <p:cNvPr id="117" name="Freeform 117"/>
            <p:cNvSpPr/>
            <p:nvPr/>
          </p:nvSpPr>
          <p:spPr>
            <a:xfrm>
              <a:off x="10333376" y="4035989"/>
              <a:ext cx="5535393" cy="6262707"/>
            </a:xfrm>
            <a:custGeom>
              <a:avLst/>
              <a:gdLst/>
              <a:ahLst/>
              <a:cxnLst/>
              <a:rect l="l" t="t" r="r" b="b"/>
              <a:pathLst>
                <a:path w="5535393" h="6262707">
                  <a:moveTo>
                    <a:pt x="0" y="6262707"/>
                  </a:moveTo>
                  <a:lnTo>
                    <a:pt x="4827026" y="6262707"/>
                  </a:lnTo>
                  <a:cubicBezTo>
                    <a:pt x="4856146" y="6262707"/>
                    <a:pt x="4884077" y="6251139"/>
                    <a:pt x="4904668" y="6230546"/>
                  </a:cubicBezTo>
                  <a:cubicBezTo>
                    <a:pt x="4925260" y="6209955"/>
                    <a:pt x="4936828" y="6182026"/>
                    <a:pt x="4936828" y="6152904"/>
                  </a:cubicBezTo>
                  <a:lnTo>
                    <a:pt x="4936828" y="1111003"/>
                  </a:lnTo>
                  <a:cubicBezTo>
                    <a:pt x="4936828" y="1081882"/>
                    <a:pt x="4948397" y="1053953"/>
                    <a:pt x="4968989" y="1033360"/>
                  </a:cubicBezTo>
                  <a:cubicBezTo>
                    <a:pt x="4989582" y="1012769"/>
                    <a:pt x="5017510" y="1001200"/>
                    <a:pt x="5046631" y="1001200"/>
                  </a:cubicBezTo>
                  <a:lnTo>
                    <a:pt x="5425591" y="1001200"/>
                  </a:lnTo>
                  <a:cubicBezTo>
                    <a:pt x="5454711" y="1001200"/>
                    <a:pt x="5482640" y="989631"/>
                    <a:pt x="5503233" y="969040"/>
                  </a:cubicBezTo>
                  <a:cubicBezTo>
                    <a:pt x="5523825" y="948447"/>
                    <a:pt x="5535393" y="920519"/>
                    <a:pt x="5535393" y="891397"/>
                  </a:cubicBezTo>
                  <a:lnTo>
                    <a:pt x="5535393" y="0"/>
                  </a:lnTo>
                </a:path>
              </a:pathLst>
            </a:custGeom>
            <a:ln w="32026" cap="flat">
              <a:solidFill>
                <a:srgbClr val="5E17EB"/>
              </a:solidFill>
              <a:prstDash val="lgDash"/>
              <a:headEnd type="none" w="sm" len="sm"/>
              <a:tailEnd type="arrow" w="med" len="sm"/>
            </a:ln>
          </p:spPr>
        </p:sp>
        <p:grpSp>
          <p:nvGrpSpPr>
            <p:cNvPr id="118" name="Group 118"/>
            <p:cNvGrpSpPr/>
            <p:nvPr/>
          </p:nvGrpSpPr>
          <p:grpSpPr>
            <a:xfrm>
              <a:off x="5568852" y="12112135"/>
              <a:ext cx="2142345" cy="642056"/>
              <a:chOff x="0" y="0"/>
              <a:chExt cx="1787182" cy="535631"/>
            </a:xfrm>
          </p:grpSpPr>
          <p:sp>
            <p:nvSpPr>
              <p:cNvPr id="119" name="Freeform 119"/>
              <p:cNvSpPr/>
              <p:nvPr/>
            </p:nvSpPr>
            <p:spPr>
              <a:xfrm>
                <a:off x="0" y="0"/>
                <a:ext cx="1787182" cy="535631"/>
              </a:xfrm>
              <a:custGeom>
                <a:avLst/>
                <a:gdLst/>
                <a:ahLst/>
                <a:cxnLst/>
                <a:rect l="l" t="t" r="r" b="b"/>
                <a:pathLst>
                  <a:path w="1787182" h="535631">
                    <a:moveTo>
                      <a:pt x="1787182" y="0"/>
                    </a:moveTo>
                    <a:lnTo>
                      <a:pt x="1787182" y="535631"/>
                    </a:lnTo>
                    <a:lnTo>
                      <a:pt x="0" y="535631"/>
                    </a:lnTo>
                    <a:lnTo>
                      <a:pt x="0" y="0"/>
                    </a:lnTo>
                    <a:close/>
                  </a:path>
                </a:pathLst>
              </a:custGeom>
              <a:solidFill>
                <a:srgbClr val="FFFFFF"/>
              </a:solidFill>
              <a:ln w="47625" cap="sq">
                <a:solidFill>
                  <a:srgbClr val="FF2768"/>
                </a:solidFill>
                <a:prstDash val="solid"/>
                <a:miter/>
              </a:ln>
            </p:spPr>
          </p:sp>
          <p:sp>
            <p:nvSpPr>
              <p:cNvPr id="120" name="TextBox 120"/>
              <p:cNvSpPr txBox="1"/>
              <p:nvPr/>
            </p:nvSpPr>
            <p:spPr>
              <a:xfrm>
                <a:off x="0" y="0"/>
                <a:ext cx="1787182" cy="535631"/>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121" name="TextBox 121"/>
            <p:cNvSpPr txBox="1"/>
            <p:nvPr/>
          </p:nvSpPr>
          <p:spPr>
            <a:xfrm>
              <a:off x="5638892" y="12132802"/>
              <a:ext cx="2002263"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Ajustar wearable</a:t>
              </a:r>
            </a:p>
            <a:p>
              <a:pPr marL="0" lvl="0" indent="0" algn="ctr">
                <a:lnSpc>
                  <a:spcPts val="1613"/>
                </a:lnSpc>
                <a:spcBef>
                  <a:spcPct val="0"/>
                </a:spcBef>
              </a:pPr>
              <a:r>
                <a:rPr lang="en-US" sz="1152" u="none" strike="noStrike">
                  <a:solidFill>
                    <a:srgbClr val="000000"/>
                  </a:solidFill>
                  <a:latin typeface="Times New Roman MT"/>
                  <a:ea typeface="Times New Roman MT"/>
                  <a:cs typeface="Times New Roman MT"/>
                  <a:sym typeface="Times New Roman MT"/>
                </a:rPr>
                <a:t>al contorno corporal</a:t>
              </a:r>
            </a:p>
          </p:txBody>
        </p:sp>
        <p:sp>
          <p:nvSpPr>
            <p:cNvPr id="122" name="Freeform 122"/>
            <p:cNvSpPr/>
            <p:nvPr/>
          </p:nvSpPr>
          <p:spPr>
            <a:xfrm>
              <a:off x="6014087" y="6548648"/>
              <a:ext cx="3377650" cy="1352808"/>
            </a:xfrm>
            <a:custGeom>
              <a:avLst/>
              <a:gdLst/>
              <a:ahLst/>
              <a:cxnLst/>
              <a:rect l="l" t="t" r="r" b="b"/>
              <a:pathLst>
                <a:path w="3377650" h="1352808">
                  <a:moveTo>
                    <a:pt x="3377651" y="1352808"/>
                  </a:moveTo>
                  <a:lnTo>
                    <a:pt x="3377651" y="714358"/>
                  </a:lnTo>
                  <a:cubicBezTo>
                    <a:pt x="3377651" y="685235"/>
                    <a:pt x="3366082" y="657307"/>
                    <a:pt x="3345490" y="636715"/>
                  </a:cubicBezTo>
                  <a:cubicBezTo>
                    <a:pt x="3324898" y="616122"/>
                    <a:pt x="3296969" y="604554"/>
                    <a:pt x="3267847" y="604554"/>
                  </a:cubicBezTo>
                  <a:lnTo>
                    <a:pt x="109803" y="604554"/>
                  </a:lnTo>
                  <a:cubicBezTo>
                    <a:pt x="80682" y="604554"/>
                    <a:pt x="52753" y="592986"/>
                    <a:pt x="32161" y="572393"/>
                  </a:cubicBezTo>
                  <a:cubicBezTo>
                    <a:pt x="11569" y="551802"/>
                    <a:pt x="0" y="523873"/>
                    <a:pt x="0" y="494751"/>
                  </a:cubicBezTo>
                  <a:lnTo>
                    <a:pt x="0" y="0"/>
                  </a:lnTo>
                </a:path>
              </a:pathLst>
            </a:custGeom>
            <a:ln w="32026" cap="flat">
              <a:solidFill>
                <a:srgbClr val="5E17EB"/>
              </a:solidFill>
              <a:prstDash val="solid"/>
              <a:headEnd type="none" w="sm" len="sm"/>
              <a:tailEnd type="arrow" w="med" len="sm"/>
            </a:ln>
          </p:spPr>
        </p:sp>
        <p:sp>
          <p:nvSpPr>
            <p:cNvPr id="123" name="Freeform 123"/>
            <p:cNvSpPr/>
            <p:nvPr/>
          </p:nvSpPr>
          <p:spPr>
            <a:xfrm>
              <a:off x="8659300" y="6520600"/>
              <a:ext cx="1174515" cy="1380856"/>
            </a:xfrm>
            <a:custGeom>
              <a:avLst/>
              <a:gdLst/>
              <a:ahLst/>
              <a:cxnLst/>
              <a:rect l="l" t="t" r="r" b="b"/>
              <a:pathLst>
                <a:path w="1174515" h="1380856">
                  <a:moveTo>
                    <a:pt x="1174515" y="1380856"/>
                  </a:moveTo>
                  <a:lnTo>
                    <a:pt x="1174515" y="439709"/>
                  </a:lnTo>
                  <a:cubicBezTo>
                    <a:pt x="1174515" y="410587"/>
                    <a:pt x="1162947" y="382658"/>
                    <a:pt x="1142354" y="362067"/>
                  </a:cubicBezTo>
                  <a:cubicBezTo>
                    <a:pt x="1121763" y="341474"/>
                    <a:pt x="1093834" y="329906"/>
                    <a:pt x="1064712" y="329906"/>
                  </a:cubicBezTo>
                  <a:lnTo>
                    <a:pt x="109804" y="329906"/>
                  </a:lnTo>
                  <a:cubicBezTo>
                    <a:pt x="80681" y="329906"/>
                    <a:pt x="52753" y="318338"/>
                    <a:pt x="32161" y="297745"/>
                  </a:cubicBezTo>
                  <a:cubicBezTo>
                    <a:pt x="11568" y="277153"/>
                    <a:pt x="0" y="249225"/>
                    <a:pt x="0" y="220103"/>
                  </a:cubicBezTo>
                  <a:lnTo>
                    <a:pt x="0" y="0"/>
                  </a:lnTo>
                </a:path>
              </a:pathLst>
            </a:custGeom>
            <a:ln w="32026" cap="flat">
              <a:solidFill>
                <a:srgbClr val="5E17EB"/>
              </a:solidFill>
              <a:prstDash val="solid"/>
              <a:headEnd type="none" w="sm" len="sm"/>
              <a:tailEnd type="arrow" w="med" len="sm"/>
            </a:ln>
          </p:spPr>
        </p:sp>
        <p:sp>
          <p:nvSpPr>
            <p:cNvPr id="124" name="Freeform 124"/>
            <p:cNvSpPr/>
            <p:nvPr/>
          </p:nvSpPr>
          <p:spPr>
            <a:xfrm>
              <a:off x="10207259" y="6548648"/>
              <a:ext cx="0" cy="676404"/>
            </a:xfrm>
            <a:custGeom>
              <a:avLst/>
              <a:gdLst/>
              <a:ahLst/>
              <a:cxnLst/>
              <a:rect l="l" t="t" r="r" b="b"/>
              <a:pathLst>
                <a:path h="676404">
                  <a:moveTo>
                    <a:pt x="0" y="676404"/>
                  </a:moveTo>
                  <a:lnTo>
                    <a:pt x="0" y="0"/>
                  </a:lnTo>
                </a:path>
              </a:pathLst>
            </a:custGeom>
            <a:ln w="32026" cap="flat">
              <a:solidFill>
                <a:srgbClr val="5E17EB"/>
              </a:solidFill>
              <a:prstDash val="solid"/>
              <a:headEnd type="none" w="sm" len="sm"/>
              <a:tailEnd type="arrow" w="med" len="sm"/>
            </a:ln>
          </p:spPr>
        </p:sp>
        <p:sp>
          <p:nvSpPr>
            <p:cNvPr id="125" name="TextBox 125"/>
            <p:cNvSpPr txBox="1"/>
            <p:nvPr/>
          </p:nvSpPr>
          <p:spPr>
            <a:xfrm>
              <a:off x="1159181" y="12277346"/>
              <a:ext cx="2630729"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Cuerpo del paciente (colocación)</a:t>
              </a:r>
            </a:p>
          </p:txBody>
        </p:sp>
        <p:sp>
          <p:nvSpPr>
            <p:cNvPr id="126" name="TextBox 126"/>
            <p:cNvSpPr txBox="1"/>
            <p:nvPr/>
          </p:nvSpPr>
          <p:spPr>
            <a:xfrm>
              <a:off x="1429853" y="13077152"/>
              <a:ext cx="2339517"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Cuerpo del paciente (retiro)</a:t>
              </a:r>
            </a:p>
          </p:txBody>
        </p:sp>
        <p:sp>
          <p:nvSpPr>
            <p:cNvPr id="127" name="Freeform 127"/>
            <p:cNvSpPr/>
            <p:nvPr/>
          </p:nvSpPr>
          <p:spPr>
            <a:xfrm>
              <a:off x="3058903" y="2370087"/>
              <a:ext cx="3619955" cy="6709227"/>
            </a:xfrm>
            <a:custGeom>
              <a:avLst/>
              <a:gdLst/>
              <a:ahLst/>
              <a:cxnLst/>
              <a:rect l="l" t="t" r="r" b="b"/>
              <a:pathLst>
                <a:path w="3619955" h="6709227">
                  <a:moveTo>
                    <a:pt x="3619954" y="6709227"/>
                  </a:moveTo>
                  <a:lnTo>
                    <a:pt x="109803" y="6709227"/>
                  </a:lnTo>
                  <a:cubicBezTo>
                    <a:pt x="80681" y="6709227"/>
                    <a:pt x="52752" y="6697659"/>
                    <a:pt x="32160" y="6677066"/>
                  </a:cubicBezTo>
                  <a:cubicBezTo>
                    <a:pt x="11568" y="6656474"/>
                    <a:pt x="0" y="6628546"/>
                    <a:pt x="0" y="6599424"/>
                  </a:cubicBezTo>
                  <a:lnTo>
                    <a:pt x="0" y="109803"/>
                  </a:lnTo>
                  <a:cubicBezTo>
                    <a:pt x="0" y="80682"/>
                    <a:pt x="11568" y="52753"/>
                    <a:pt x="32160" y="32161"/>
                  </a:cubicBezTo>
                  <a:cubicBezTo>
                    <a:pt x="52752" y="11569"/>
                    <a:pt x="80681" y="0"/>
                    <a:pt x="109803" y="0"/>
                  </a:cubicBezTo>
                  <a:lnTo>
                    <a:pt x="1756553" y="0"/>
                  </a:lnTo>
                </a:path>
              </a:pathLst>
            </a:custGeom>
            <a:ln w="32026" cap="flat">
              <a:solidFill>
                <a:srgbClr val="5E17EB"/>
              </a:solidFill>
              <a:prstDash val="lgDash"/>
              <a:headEnd type="none" w="sm" len="sm"/>
              <a:tailEnd type="arrow" w="med" len="sm"/>
            </a:ln>
          </p:spPr>
        </p:sp>
        <p:sp>
          <p:nvSpPr>
            <p:cNvPr id="128" name="TextBox 128"/>
            <p:cNvSpPr txBox="1"/>
            <p:nvPr/>
          </p:nvSpPr>
          <p:spPr>
            <a:xfrm>
              <a:off x="11104289" y="8667912"/>
              <a:ext cx="1141171"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Energizar actuadores</a:t>
              </a:r>
            </a:p>
          </p:txBody>
        </p:sp>
        <p:grpSp>
          <p:nvGrpSpPr>
            <p:cNvPr id="129" name="Group 129"/>
            <p:cNvGrpSpPr/>
            <p:nvPr/>
          </p:nvGrpSpPr>
          <p:grpSpPr>
            <a:xfrm>
              <a:off x="12140381" y="1842681"/>
              <a:ext cx="1209410" cy="853922"/>
              <a:chOff x="0" y="0"/>
              <a:chExt cx="1008912" cy="712379"/>
            </a:xfrm>
          </p:grpSpPr>
          <p:sp>
            <p:nvSpPr>
              <p:cNvPr id="130" name="Freeform 130"/>
              <p:cNvSpPr/>
              <p:nvPr/>
            </p:nvSpPr>
            <p:spPr>
              <a:xfrm>
                <a:off x="0" y="0"/>
                <a:ext cx="1008912" cy="712379"/>
              </a:xfrm>
              <a:custGeom>
                <a:avLst/>
                <a:gdLst/>
                <a:ahLst/>
                <a:cxnLst/>
                <a:rect l="l" t="t" r="r" b="b"/>
                <a:pathLst>
                  <a:path w="1008912" h="712379">
                    <a:moveTo>
                      <a:pt x="1008912" y="0"/>
                    </a:moveTo>
                    <a:lnTo>
                      <a:pt x="1008912" y="712379"/>
                    </a:lnTo>
                    <a:lnTo>
                      <a:pt x="0" y="712379"/>
                    </a:lnTo>
                    <a:lnTo>
                      <a:pt x="0" y="0"/>
                    </a:lnTo>
                    <a:close/>
                  </a:path>
                </a:pathLst>
              </a:custGeom>
              <a:solidFill>
                <a:srgbClr val="FFFFFF"/>
              </a:solidFill>
              <a:ln w="47625" cap="sq">
                <a:solidFill>
                  <a:srgbClr val="0097B2"/>
                </a:solidFill>
                <a:prstDash val="solid"/>
                <a:miter/>
              </a:ln>
            </p:spPr>
          </p:sp>
          <p:sp>
            <p:nvSpPr>
              <p:cNvPr id="131" name="TextBox 131"/>
              <p:cNvSpPr txBox="1"/>
              <p:nvPr/>
            </p:nvSpPr>
            <p:spPr>
              <a:xfrm>
                <a:off x="0" y="0"/>
                <a:ext cx="1008912" cy="712379"/>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132" name="TextBox 132"/>
            <p:cNvSpPr txBox="1"/>
            <p:nvPr/>
          </p:nvSpPr>
          <p:spPr>
            <a:xfrm>
              <a:off x="12140381" y="1989116"/>
              <a:ext cx="1141171"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Determinar batería baja</a:t>
              </a:r>
            </a:p>
          </p:txBody>
        </p:sp>
        <p:grpSp>
          <p:nvGrpSpPr>
            <p:cNvPr id="133" name="Group 133"/>
            <p:cNvGrpSpPr/>
            <p:nvPr/>
          </p:nvGrpSpPr>
          <p:grpSpPr>
            <a:xfrm>
              <a:off x="13996327" y="1873076"/>
              <a:ext cx="1141171" cy="853922"/>
              <a:chOff x="0" y="0"/>
              <a:chExt cx="951985" cy="712379"/>
            </a:xfrm>
          </p:grpSpPr>
          <p:sp>
            <p:nvSpPr>
              <p:cNvPr id="134" name="Freeform 134"/>
              <p:cNvSpPr/>
              <p:nvPr/>
            </p:nvSpPr>
            <p:spPr>
              <a:xfrm>
                <a:off x="0" y="0"/>
                <a:ext cx="951985" cy="712379"/>
              </a:xfrm>
              <a:custGeom>
                <a:avLst/>
                <a:gdLst/>
                <a:ahLst/>
                <a:cxnLst/>
                <a:rect l="l" t="t" r="r" b="b"/>
                <a:pathLst>
                  <a:path w="951985" h="712379">
                    <a:moveTo>
                      <a:pt x="951985" y="0"/>
                    </a:moveTo>
                    <a:lnTo>
                      <a:pt x="951985" y="712379"/>
                    </a:lnTo>
                    <a:lnTo>
                      <a:pt x="0" y="712379"/>
                    </a:lnTo>
                    <a:lnTo>
                      <a:pt x="0" y="0"/>
                    </a:lnTo>
                    <a:close/>
                  </a:path>
                </a:pathLst>
              </a:custGeom>
              <a:solidFill>
                <a:srgbClr val="FFFFFF"/>
              </a:solidFill>
              <a:ln w="47625" cap="sq">
                <a:solidFill>
                  <a:srgbClr val="0097B2"/>
                </a:solidFill>
                <a:prstDash val="solid"/>
                <a:miter/>
              </a:ln>
            </p:spPr>
          </p:sp>
          <p:sp>
            <p:nvSpPr>
              <p:cNvPr id="135" name="TextBox 135"/>
              <p:cNvSpPr txBox="1"/>
              <p:nvPr/>
            </p:nvSpPr>
            <p:spPr>
              <a:xfrm>
                <a:off x="0" y="0"/>
                <a:ext cx="951985" cy="712379"/>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136" name="TextBox 136"/>
            <p:cNvSpPr txBox="1"/>
            <p:nvPr/>
          </p:nvSpPr>
          <p:spPr>
            <a:xfrm>
              <a:off x="14005477" y="2008827"/>
              <a:ext cx="1141171"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Determinar sobrecarga</a:t>
              </a:r>
            </a:p>
          </p:txBody>
        </p:sp>
        <p:sp>
          <p:nvSpPr>
            <p:cNvPr id="137" name="Freeform 137"/>
            <p:cNvSpPr/>
            <p:nvPr/>
          </p:nvSpPr>
          <p:spPr>
            <a:xfrm>
              <a:off x="12745086" y="2696604"/>
              <a:ext cx="2553115" cy="979788"/>
            </a:xfrm>
            <a:custGeom>
              <a:avLst/>
              <a:gdLst/>
              <a:ahLst/>
              <a:cxnLst/>
              <a:rect l="l" t="t" r="r" b="b"/>
              <a:pathLst>
                <a:path w="2553115" h="979788">
                  <a:moveTo>
                    <a:pt x="2553115" y="979788"/>
                  </a:moveTo>
                  <a:lnTo>
                    <a:pt x="109803" y="979788"/>
                  </a:lnTo>
                  <a:cubicBezTo>
                    <a:pt x="80682" y="979788"/>
                    <a:pt x="52752" y="968219"/>
                    <a:pt x="32160" y="947627"/>
                  </a:cubicBezTo>
                  <a:cubicBezTo>
                    <a:pt x="11568" y="927035"/>
                    <a:pt x="0" y="899106"/>
                    <a:pt x="0" y="869985"/>
                  </a:cubicBezTo>
                  <a:lnTo>
                    <a:pt x="0" y="0"/>
                  </a:lnTo>
                </a:path>
              </a:pathLst>
            </a:custGeom>
            <a:ln w="32026" cap="flat">
              <a:solidFill>
                <a:srgbClr val="0097B2"/>
              </a:solidFill>
              <a:prstDash val="lgDash"/>
              <a:headEnd type="none" w="sm" len="sm"/>
              <a:tailEnd type="arrow" w="med" len="sm"/>
            </a:ln>
          </p:spPr>
        </p:sp>
        <p:sp>
          <p:nvSpPr>
            <p:cNvPr id="138" name="Freeform 138"/>
            <p:cNvSpPr/>
            <p:nvPr/>
          </p:nvSpPr>
          <p:spPr>
            <a:xfrm>
              <a:off x="12253846" y="6681108"/>
              <a:ext cx="2317641" cy="2252091"/>
            </a:xfrm>
            <a:custGeom>
              <a:avLst/>
              <a:gdLst/>
              <a:ahLst/>
              <a:cxnLst/>
              <a:rect l="l" t="t" r="r" b="b"/>
              <a:pathLst>
                <a:path w="2317641" h="2252091">
                  <a:moveTo>
                    <a:pt x="0" y="2252091"/>
                  </a:moveTo>
                  <a:lnTo>
                    <a:pt x="2207839" y="2252091"/>
                  </a:lnTo>
                  <a:cubicBezTo>
                    <a:pt x="2236959" y="2252091"/>
                    <a:pt x="2264889" y="2240523"/>
                    <a:pt x="2285480" y="2219930"/>
                  </a:cubicBezTo>
                  <a:cubicBezTo>
                    <a:pt x="2306073" y="2199338"/>
                    <a:pt x="2317641" y="2171410"/>
                    <a:pt x="2317641" y="2142288"/>
                  </a:cubicBezTo>
                  <a:lnTo>
                    <a:pt x="2317641" y="0"/>
                  </a:lnTo>
                </a:path>
              </a:pathLst>
            </a:custGeom>
            <a:ln w="32026" cap="flat">
              <a:solidFill>
                <a:srgbClr val="5E17EB"/>
              </a:solidFill>
              <a:prstDash val="solid"/>
              <a:headEnd type="none" w="sm" len="sm"/>
              <a:tailEnd type="arrow" w="med" len="sm"/>
            </a:ln>
          </p:spPr>
        </p:sp>
        <p:sp>
          <p:nvSpPr>
            <p:cNvPr id="139" name="Freeform 139"/>
            <p:cNvSpPr/>
            <p:nvPr/>
          </p:nvSpPr>
          <p:spPr>
            <a:xfrm>
              <a:off x="12253846" y="6566600"/>
              <a:ext cx="3768283" cy="2559218"/>
            </a:xfrm>
            <a:custGeom>
              <a:avLst/>
              <a:gdLst/>
              <a:ahLst/>
              <a:cxnLst/>
              <a:rect l="l" t="t" r="r" b="b"/>
              <a:pathLst>
                <a:path w="3768283" h="2559218">
                  <a:moveTo>
                    <a:pt x="0" y="2559218"/>
                  </a:moveTo>
                  <a:lnTo>
                    <a:pt x="3658480" y="2559218"/>
                  </a:lnTo>
                  <a:cubicBezTo>
                    <a:pt x="3687601" y="2559218"/>
                    <a:pt x="3715530" y="2547650"/>
                    <a:pt x="3736122" y="2527057"/>
                  </a:cubicBezTo>
                  <a:cubicBezTo>
                    <a:pt x="3756715" y="2506466"/>
                    <a:pt x="3768283" y="2478537"/>
                    <a:pt x="3768283" y="2449415"/>
                  </a:cubicBezTo>
                  <a:lnTo>
                    <a:pt x="3768283" y="0"/>
                  </a:lnTo>
                </a:path>
              </a:pathLst>
            </a:custGeom>
            <a:ln w="32026" cap="flat">
              <a:solidFill>
                <a:srgbClr val="5E17EB"/>
              </a:solidFill>
              <a:prstDash val="solid"/>
              <a:headEnd type="none" w="sm" len="sm"/>
              <a:tailEnd type="arrow" w="med" len="sm"/>
            </a:ln>
          </p:spPr>
        </p:sp>
        <p:sp>
          <p:nvSpPr>
            <p:cNvPr id="140" name="Freeform 140"/>
            <p:cNvSpPr/>
            <p:nvPr/>
          </p:nvSpPr>
          <p:spPr>
            <a:xfrm>
              <a:off x="12745086" y="1411104"/>
              <a:ext cx="717586" cy="431577"/>
            </a:xfrm>
            <a:custGeom>
              <a:avLst/>
              <a:gdLst/>
              <a:ahLst/>
              <a:cxnLst/>
              <a:rect l="l" t="t" r="r" b="b"/>
              <a:pathLst>
                <a:path w="717586" h="431577">
                  <a:moveTo>
                    <a:pt x="0" y="431577"/>
                  </a:moveTo>
                  <a:lnTo>
                    <a:pt x="0" y="109803"/>
                  </a:lnTo>
                  <a:cubicBezTo>
                    <a:pt x="0" y="80682"/>
                    <a:pt x="11568" y="52753"/>
                    <a:pt x="32160" y="32161"/>
                  </a:cubicBezTo>
                  <a:cubicBezTo>
                    <a:pt x="52752" y="11569"/>
                    <a:pt x="80682" y="0"/>
                    <a:pt x="109803" y="0"/>
                  </a:cubicBezTo>
                  <a:lnTo>
                    <a:pt x="717585" y="0"/>
                  </a:lnTo>
                </a:path>
              </a:pathLst>
            </a:custGeom>
            <a:ln w="32026" cap="flat">
              <a:solidFill>
                <a:srgbClr val="0097B2"/>
              </a:solidFill>
              <a:prstDash val="lgDash"/>
              <a:headEnd type="none" w="sm" len="sm"/>
              <a:tailEnd type="arrow" w="med" len="sm"/>
            </a:ln>
          </p:spPr>
        </p:sp>
        <p:sp>
          <p:nvSpPr>
            <p:cNvPr id="141" name="Freeform 141"/>
            <p:cNvSpPr/>
            <p:nvPr/>
          </p:nvSpPr>
          <p:spPr>
            <a:xfrm>
              <a:off x="14379508" y="1421208"/>
              <a:ext cx="0" cy="451867"/>
            </a:xfrm>
            <a:custGeom>
              <a:avLst/>
              <a:gdLst/>
              <a:ahLst/>
              <a:cxnLst/>
              <a:rect l="l" t="t" r="r" b="b"/>
              <a:pathLst>
                <a:path h="451867">
                  <a:moveTo>
                    <a:pt x="0" y="451868"/>
                  </a:moveTo>
                  <a:lnTo>
                    <a:pt x="0" y="0"/>
                  </a:lnTo>
                </a:path>
              </a:pathLst>
            </a:custGeom>
            <a:ln w="32026" cap="flat">
              <a:solidFill>
                <a:srgbClr val="0097B2"/>
              </a:solidFill>
              <a:prstDash val="lgDash"/>
              <a:headEnd type="none" w="sm" len="sm"/>
              <a:tailEnd type="arrow" w="med" len="sm"/>
            </a:ln>
          </p:spPr>
        </p:sp>
        <p:sp>
          <p:nvSpPr>
            <p:cNvPr id="142" name="Freeform 142"/>
            <p:cNvSpPr/>
            <p:nvPr/>
          </p:nvSpPr>
          <p:spPr>
            <a:xfrm>
              <a:off x="11110263" y="734049"/>
              <a:ext cx="4197505" cy="3102556"/>
            </a:xfrm>
            <a:custGeom>
              <a:avLst/>
              <a:gdLst/>
              <a:ahLst/>
              <a:cxnLst/>
              <a:rect l="l" t="t" r="r" b="b"/>
              <a:pathLst>
                <a:path w="4197505" h="3102556">
                  <a:moveTo>
                    <a:pt x="4197505" y="3102556"/>
                  </a:moveTo>
                  <a:lnTo>
                    <a:pt x="109803" y="3102556"/>
                  </a:lnTo>
                  <a:cubicBezTo>
                    <a:pt x="80681" y="3102556"/>
                    <a:pt x="52753" y="3090987"/>
                    <a:pt x="32161" y="3070396"/>
                  </a:cubicBezTo>
                  <a:cubicBezTo>
                    <a:pt x="11568" y="3049803"/>
                    <a:pt x="0" y="3021874"/>
                    <a:pt x="0" y="2992753"/>
                  </a:cubicBezTo>
                  <a:lnTo>
                    <a:pt x="0" y="109803"/>
                  </a:lnTo>
                  <a:cubicBezTo>
                    <a:pt x="0" y="80682"/>
                    <a:pt x="11568" y="52753"/>
                    <a:pt x="32161" y="32161"/>
                  </a:cubicBezTo>
                  <a:cubicBezTo>
                    <a:pt x="52753" y="11569"/>
                    <a:pt x="80681" y="0"/>
                    <a:pt x="109803" y="0"/>
                  </a:cubicBezTo>
                  <a:lnTo>
                    <a:pt x="2013058" y="0"/>
                  </a:lnTo>
                </a:path>
              </a:pathLst>
            </a:custGeom>
            <a:ln w="32026" cap="flat">
              <a:solidFill>
                <a:srgbClr val="0097B2"/>
              </a:solidFill>
              <a:prstDash val="lgDash"/>
              <a:headEnd type="none" w="sm" len="sm"/>
              <a:tailEnd type="arrow" w="med" len="sm"/>
            </a:ln>
          </p:spPr>
        </p:sp>
        <p:sp>
          <p:nvSpPr>
            <p:cNvPr id="143" name="Freeform 143"/>
            <p:cNvSpPr/>
            <p:nvPr/>
          </p:nvSpPr>
          <p:spPr>
            <a:xfrm>
              <a:off x="14571487" y="2726998"/>
              <a:ext cx="736281" cy="830421"/>
            </a:xfrm>
            <a:custGeom>
              <a:avLst/>
              <a:gdLst/>
              <a:ahLst/>
              <a:cxnLst/>
              <a:rect l="l" t="t" r="r" b="b"/>
              <a:pathLst>
                <a:path w="736281" h="830421">
                  <a:moveTo>
                    <a:pt x="736281" y="830421"/>
                  </a:moveTo>
                  <a:lnTo>
                    <a:pt x="109803" y="830421"/>
                  </a:lnTo>
                  <a:cubicBezTo>
                    <a:pt x="80682" y="830421"/>
                    <a:pt x="52754" y="818852"/>
                    <a:pt x="32161" y="798260"/>
                  </a:cubicBezTo>
                  <a:cubicBezTo>
                    <a:pt x="11569" y="777668"/>
                    <a:pt x="0" y="749739"/>
                    <a:pt x="0" y="720618"/>
                  </a:cubicBezTo>
                  <a:lnTo>
                    <a:pt x="0" y="0"/>
                  </a:lnTo>
                </a:path>
              </a:pathLst>
            </a:custGeom>
            <a:ln w="32026" cap="flat">
              <a:solidFill>
                <a:srgbClr val="0097B2"/>
              </a:solidFill>
              <a:prstDash val="lgDash"/>
              <a:headEnd type="none" w="sm" len="sm"/>
              <a:tailEnd type="arrow" w="med" len="sm"/>
            </a:ln>
          </p:spPr>
        </p:sp>
        <p:sp>
          <p:nvSpPr>
            <p:cNvPr id="144" name="Freeform 144"/>
            <p:cNvSpPr/>
            <p:nvPr/>
          </p:nvSpPr>
          <p:spPr>
            <a:xfrm>
              <a:off x="14777002" y="871171"/>
              <a:ext cx="2468629" cy="0"/>
            </a:xfrm>
            <a:custGeom>
              <a:avLst/>
              <a:gdLst/>
              <a:ahLst/>
              <a:cxnLst/>
              <a:rect l="l" t="t" r="r" b="b"/>
              <a:pathLst>
                <a:path w="2468629">
                  <a:moveTo>
                    <a:pt x="0" y="0"/>
                  </a:moveTo>
                  <a:lnTo>
                    <a:pt x="2468629" y="0"/>
                  </a:lnTo>
                </a:path>
              </a:pathLst>
            </a:custGeom>
            <a:ln w="32026" cap="flat">
              <a:solidFill>
                <a:srgbClr val="0097B2"/>
              </a:solidFill>
              <a:prstDash val="lgDash"/>
              <a:headEnd type="none" w="sm" len="sm"/>
              <a:tailEnd type="arrow" w="med" len="sm"/>
            </a:ln>
          </p:spPr>
        </p:sp>
        <p:sp>
          <p:nvSpPr>
            <p:cNvPr id="145" name="TextBox 145"/>
            <p:cNvSpPr txBox="1"/>
            <p:nvPr/>
          </p:nvSpPr>
          <p:spPr>
            <a:xfrm>
              <a:off x="4967732" y="117291"/>
              <a:ext cx="3989100" cy="302307"/>
            </a:xfrm>
            <a:prstGeom prst="rect">
              <a:avLst/>
            </a:prstGeom>
          </p:spPr>
          <p:txBody>
            <a:bodyPr lIns="0" tIns="0" rIns="0" bIns="0" rtlCol="0" anchor="t">
              <a:spAutoFit/>
            </a:bodyPr>
            <a:lstStyle/>
            <a:p>
              <a:pPr marL="0" lvl="0" indent="0" algn="l">
                <a:lnSpc>
                  <a:spcPts val="1765"/>
                </a:lnSpc>
                <a:spcBef>
                  <a:spcPct val="0"/>
                </a:spcBef>
              </a:pPr>
              <a:r>
                <a:rPr lang="en-US" sz="1260" b="1" u="none" strike="noStrike">
                  <a:solidFill>
                    <a:srgbClr val="0097B2"/>
                  </a:solidFill>
                  <a:latin typeface="Times New Roman MT Bold"/>
                  <a:ea typeface="Times New Roman MT Bold"/>
                  <a:cs typeface="Times New Roman MT Bold"/>
                  <a:sym typeface="Times New Roman MT Bold"/>
                </a:rPr>
                <a:t>DOMINIO DE CONTROL</a:t>
              </a:r>
            </a:p>
          </p:txBody>
        </p:sp>
        <p:sp>
          <p:nvSpPr>
            <p:cNvPr id="146" name="TextBox 146"/>
            <p:cNvSpPr txBox="1"/>
            <p:nvPr/>
          </p:nvSpPr>
          <p:spPr>
            <a:xfrm>
              <a:off x="1768036" y="6579904"/>
              <a:ext cx="580892"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SpO2</a:t>
              </a:r>
            </a:p>
          </p:txBody>
        </p:sp>
        <p:sp>
          <p:nvSpPr>
            <p:cNvPr id="147" name="TextBox 147"/>
            <p:cNvSpPr txBox="1"/>
            <p:nvPr/>
          </p:nvSpPr>
          <p:spPr>
            <a:xfrm>
              <a:off x="89975" y="5961626"/>
              <a:ext cx="1659842"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Frecuencia cardíaca</a:t>
              </a:r>
            </a:p>
          </p:txBody>
        </p:sp>
        <p:sp>
          <p:nvSpPr>
            <p:cNvPr id="148" name="TextBox 148"/>
            <p:cNvSpPr txBox="1"/>
            <p:nvPr/>
          </p:nvSpPr>
          <p:spPr>
            <a:xfrm>
              <a:off x="19490573" y="5816784"/>
              <a:ext cx="2850598" cy="270602"/>
            </a:xfrm>
            <a:prstGeom prst="rect">
              <a:avLst/>
            </a:prstGeom>
          </p:spPr>
          <p:txBody>
            <a:bodyPr lIns="0" tIns="0" rIns="0" bIns="0" rtlCol="0" anchor="t">
              <a:spAutoFit/>
            </a:bodyPr>
            <a:lstStyle/>
            <a:p>
              <a:pPr marL="0" lvl="0" indent="0" algn="l">
                <a:lnSpc>
                  <a:spcPts val="1562"/>
                </a:lnSpc>
                <a:spcBef>
                  <a:spcPct val="0"/>
                </a:spcBef>
              </a:pPr>
              <a:r>
                <a:rPr lang="en-US" sz="1116" b="1" u="none" strike="noStrike">
                  <a:solidFill>
                    <a:srgbClr val="000000"/>
                  </a:solidFill>
                  <a:latin typeface="Times New Roman MT Bold"/>
                  <a:ea typeface="Times New Roman MT Bold"/>
                  <a:cs typeface="Times New Roman MT Bold"/>
                  <a:sym typeface="Times New Roman MT Bold"/>
                </a:rPr>
                <a:t>Alerta de presunción diagnóstica</a:t>
              </a:r>
            </a:p>
          </p:txBody>
        </p:sp>
        <p:sp>
          <p:nvSpPr>
            <p:cNvPr id="149" name="TextBox 149"/>
            <p:cNvSpPr txBox="1"/>
            <p:nvPr/>
          </p:nvSpPr>
          <p:spPr>
            <a:xfrm>
              <a:off x="19490573" y="5964178"/>
              <a:ext cx="3469311" cy="270602"/>
            </a:xfrm>
            <a:prstGeom prst="rect">
              <a:avLst/>
            </a:prstGeom>
          </p:spPr>
          <p:txBody>
            <a:bodyPr lIns="0" tIns="0" rIns="0" bIns="0" rtlCol="0" anchor="t">
              <a:spAutoFit/>
            </a:bodyPr>
            <a:lstStyle/>
            <a:p>
              <a:pPr marL="0" lvl="0" indent="0" algn="l">
                <a:lnSpc>
                  <a:spcPts val="1562"/>
                </a:lnSpc>
                <a:spcBef>
                  <a:spcPct val="0"/>
                </a:spcBef>
              </a:pPr>
              <a:r>
                <a:rPr lang="en-US" sz="1116" b="1" u="none" strike="noStrike">
                  <a:solidFill>
                    <a:srgbClr val="000000"/>
                  </a:solidFill>
                  <a:latin typeface="Times New Roman MT Bold"/>
                  <a:ea typeface="Times New Roman MT Bold"/>
                  <a:cs typeface="Times New Roman MT Bold"/>
                  <a:sym typeface="Times New Roman MT Bold"/>
                </a:rPr>
                <a:t>Alerta de Stand-by (variables irreales)</a:t>
              </a:r>
            </a:p>
          </p:txBody>
        </p:sp>
        <p:sp>
          <p:nvSpPr>
            <p:cNvPr id="150" name="TextBox 150"/>
            <p:cNvSpPr txBox="1"/>
            <p:nvPr/>
          </p:nvSpPr>
          <p:spPr>
            <a:xfrm>
              <a:off x="19490573" y="6138249"/>
              <a:ext cx="2850598" cy="270602"/>
            </a:xfrm>
            <a:prstGeom prst="rect">
              <a:avLst/>
            </a:prstGeom>
          </p:spPr>
          <p:txBody>
            <a:bodyPr lIns="0" tIns="0" rIns="0" bIns="0" rtlCol="0" anchor="t">
              <a:spAutoFit/>
            </a:bodyPr>
            <a:lstStyle/>
            <a:p>
              <a:pPr marL="0" lvl="0" indent="0" algn="l">
                <a:lnSpc>
                  <a:spcPts val="1562"/>
                </a:lnSpc>
                <a:spcBef>
                  <a:spcPct val="0"/>
                </a:spcBef>
              </a:pPr>
              <a:r>
                <a:rPr lang="en-US" sz="1116" b="1" u="none" strike="noStrike">
                  <a:solidFill>
                    <a:srgbClr val="000000"/>
                  </a:solidFill>
                  <a:latin typeface="Times New Roman MT Bold"/>
                  <a:ea typeface="Times New Roman MT Bold"/>
                  <a:cs typeface="Times New Roman MT Bold"/>
                  <a:sym typeface="Times New Roman MT Bold"/>
                </a:rPr>
                <a:t>Alerta de batería baja</a:t>
              </a:r>
            </a:p>
          </p:txBody>
        </p:sp>
        <p:sp>
          <p:nvSpPr>
            <p:cNvPr id="151" name="TextBox 151"/>
            <p:cNvSpPr txBox="1"/>
            <p:nvPr/>
          </p:nvSpPr>
          <p:spPr>
            <a:xfrm>
              <a:off x="19490573" y="6310384"/>
              <a:ext cx="2850598" cy="270602"/>
            </a:xfrm>
            <a:prstGeom prst="rect">
              <a:avLst/>
            </a:prstGeom>
          </p:spPr>
          <p:txBody>
            <a:bodyPr lIns="0" tIns="0" rIns="0" bIns="0" rtlCol="0" anchor="t">
              <a:spAutoFit/>
            </a:bodyPr>
            <a:lstStyle/>
            <a:p>
              <a:pPr marL="0" lvl="0" indent="0" algn="l">
                <a:lnSpc>
                  <a:spcPts val="1562"/>
                </a:lnSpc>
                <a:spcBef>
                  <a:spcPct val="0"/>
                </a:spcBef>
              </a:pPr>
              <a:r>
                <a:rPr lang="en-US" sz="1116" b="1" u="none" strike="noStrike">
                  <a:solidFill>
                    <a:srgbClr val="000000"/>
                  </a:solidFill>
                  <a:latin typeface="Times New Roman MT Bold"/>
                  <a:ea typeface="Times New Roman MT Bold"/>
                  <a:cs typeface="Times New Roman MT Bold"/>
                  <a:sym typeface="Times New Roman MT Bold"/>
                </a:rPr>
                <a:t>Alerta  de sobrecarga de batería</a:t>
              </a:r>
            </a:p>
          </p:txBody>
        </p:sp>
        <p:sp>
          <p:nvSpPr>
            <p:cNvPr id="152" name="TextBox 152"/>
            <p:cNvSpPr txBox="1"/>
            <p:nvPr/>
          </p:nvSpPr>
          <p:spPr>
            <a:xfrm>
              <a:off x="17318838" y="199249"/>
              <a:ext cx="3165240" cy="269794"/>
            </a:xfrm>
            <a:prstGeom prst="rect">
              <a:avLst/>
            </a:prstGeom>
          </p:spPr>
          <p:txBody>
            <a:bodyPr lIns="0" tIns="0" rIns="0" bIns="0" rtlCol="0" anchor="t">
              <a:spAutoFit/>
            </a:bodyPr>
            <a:lstStyle/>
            <a:p>
              <a:pPr marL="0" lvl="0" indent="0" algn="l">
                <a:lnSpc>
                  <a:spcPts val="1562"/>
                </a:lnSpc>
                <a:spcBef>
                  <a:spcPct val="0"/>
                </a:spcBef>
              </a:pPr>
              <a:r>
                <a:rPr lang="en-US" sz="1116" b="1" u="none" strike="noStrike">
                  <a:solidFill>
                    <a:srgbClr val="000000"/>
                  </a:solidFill>
                  <a:latin typeface="Times New Roman MT Bold"/>
                  <a:ea typeface="Times New Roman MT Bold"/>
                  <a:cs typeface="Times New Roman MT Bold"/>
                  <a:sym typeface="Times New Roman MT Bold"/>
                </a:rPr>
                <a:t>Reporte de variables fisiológicas</a:t>
              </a:r>
            </a:p>
          </p:txBody>
        </p:sp>
        <p:sp>
          <p:nvSpPr>
            <p:cNvPr id="153" name="TextBox 153"/>
            <p:cNvSpPr txBox="1"/>
            <p:nvPr/>
          </p:nvSpPr>
          <p:spPr>
            <a:xfrm>
              <a:off x="17318838" y="418809"/>
              <a:ext cx="6214538" cy="272284"/>
            </a:xfrm>
            <a:prstGeom prst="rect">
              <a:avLst/>
            </a:prstGeom>
          </p:spPr>
          <p:txBody>
            <a:bodyPr lIns="0" tIns="0" rIns="0" bIns="0" rtlCol="0" anchor="t">
              <a:spAutoFit/>
            </a:bodyPr>
            <a:lstStyle/>
            <a:p>
              <a:pPr marL="0" lvl="0" indent="0" algn="l">
                <a:lnSpc>
                  <a:spcPts val="1562"/>
                </a:lnSpc>
                <a:spcBef>
                  <a:spcPct val="0"/>
                </a:spcBef>
              </a:pPr>
              <a:r>
                <a:rPr lang="en-US" sz="1116" b="1" u="none" strike="noStrike">
                  <a:solidFill>
                    <a:srgbClr val="000000"/>
                  </a:solidFill>
                  <a:latin typeface="Times New Roman MT Bold"/>
                  <a:ea typeface="Times New Roman MT Bold"/>
                  <a:cs typeface="Times New Roman MT Bold"/>
                  <a:sym typeface="Times New Roman MT Bold"/>
                </a:rPr>
                <a:t>Índice de riesgo de presunción diagnóstica (2-4h , 6-8, 24 h, Normal)</a:t>
              </a:r>
            </a:p>
          </p:txBody>
        </p:sp>
        <p:sp>
          <p:nvSpPr>
            <p:cNvPr id="154" name="TextBox 154"/>
            <p:cNvSpPr txBox="1"/>
            <p:nvPr/>
          </p:nvSpPr>
          <p:spPr>
            <a:xfrm>
              <a:off x="17318838" y="601378"/>
              <a:ext cx="3165240" cy="269794"/>
            </a:xfrm>
            <a:prstGeom prst="rect">
              <a:avLst/>
            </a:prstGeom>
          </p:spPr>
          <p:txBody>
            <a:bodyPr lIns="0" tIns="0" rIns="0" bIns="0" rtlCol="0" anchor="t">
              <a:spAutoFit/>
            </a:bodyPr>
            <a:lstStyle/>
            <a:p>
              <a:pPr marL="0" lvl="0" indent="0" algn="l">
                <a:lnSpc>
                  <a:spcPts val="1562"/>
                </a:lnSpc>
                <a:spcBef>
                  <a:spcPct val="0"/>
                </a:spcBef>
              </a:pPr>
              <a:r>
                <a:rPr lang="en-US" sz="1116" b="1">
                  <a:solidFill>
                    <a:srgbClr val="000000"/>
                  </a:solidFill>
                  <a:latin typeface="Times New Roman MT Bold"/>
                  <a:ea typeface="Times New Roman MT Bold"/>
                  <a:cs typeface="Times New Roman MT Bold"/>
                  <a:sym typeface="Times New Roman MT Bold"/>
                </a:rPr>
                <a:t>Nivel de batería</a:t>
              </a:r>
            </a:p>
          </p:txBody>
        </p:sp>
        <p:sp>
          <p:nvSpPr>
            <p:cNvPr id="155" name="TextBox 155"/>
            <p:cNvSpPr txBox="1"/>
            <p:nvPr/>
          </p:nvSpPr>
          <p:spPr>
            <a:xfrm>
              <a:off x="17318838" y="806721"/>
              <a:ext cx="6067842" cy="269794"/>
            </a:xfrm>
            <a:prstGeom prst="rect">
              <a:avLst/>
            </a:prstGeom>
          </p:spPr>
          <p:txBody>
            <a:bodyPr lIns="0" tIns="0" rIns="0" bIns="0" rtlCol="0" anchor="t">
              <a:spAutoFit/>
            </a:bodyPr>
            <a:lstStyle/>
            <a:p>
              <a:pPr marL="0" lvl="0" indent="0" algn="l">
                <a:lnSpc>
                  <a:spcPts val="1562"/>
                </a:lnSpc>
                <a:spcBef>
                  <a:spcPct val="0"/>
                </a:spcBef>
              </a:pPr>
              <a:r>
                <a:rPr lang="en-US" sz="1116" b="1">
                  <a:solidFill>
                    <a:srgbClr val="000000"/>
                  </a:solidFill>
                  <a:latin typeface="Times New Roman MT Bold"/>
                  <a:ea typeface="Times New Roman MT Bold"/>
                  <a:cs typeface="Times New Roman MT Bold"/>
                  <a:sym typeface="Times New Roman MT Bold"/>
                </a:rPr>
                <a:t>Estado de carga de batería batería (cargando/no cargando/cargado)</a:t>
              </a:r>
            </a:p>
          </p:txBody>
        </p:sp>
        <p:sp>
          <p:nvSpPr>
            <p:cNvPr id="156" name="TextBox 156"/>
            <p:cNvSpPr txBox="1"/>
            <p:nvPr/>
          </p:nvSpPr>
          <p:spPr>
            <a:xfrm>
              <a:off x="4967732" y="4866941"/>
              <a:ext cx="1578584" cy="302307"/>
            </a:xfrm>
            <a:prstGeom prst="rect">
              <a:avLst/>
            </a:prstGeom>
          </p:spPr>
          <p:txBody>
            <a:bodyPr lIns="0" tIns="0" rIns="0" bIns="0" rtlCol="0" anchor="t">
              <a:spAutoFit/>
            </a:bodyPr>
            <a:lstStyle/>
            <a:p>
              <a:pPr marL="0" lvl="0" indent="0" algn="l">
                <a:lnSpc>
                  <a:spcPts val="1765"/>
                </a:lnSpc>
                <a:spcBef>
                  <a:spcPct val="0"/>
                </a:spcBef>
              </a:pPr>
              <a:r>
                <a:rPr lang="en-US" sz="1260" b="1">
                  <a:solidFill>
                    <a:srgbClr val="D7A92E"/>
                  </a:solidFill>
                  <a:latin typeface="Times New Roman MT Bold"/>
                  <a:ea typeface="Times New Roman MT Bold"/>
                  <a:cs typeface="Times New Roman MT Bold"/>
                  <a:sym typeface="Times New Roman MT Bold"/>
                </a:rPr>
                <a:t>SENSORES</a:t>
              </a:r>
            </a:p>
          </p:txBody>
        </p:sp>
        <p:sp>
          <p:nvSpPr>
            <p:cNvPr id="157" name="TextBox 157"/>
            <p:cNvSpPr txBox="1"/>
            <p:nvPr/>
          </p:nvSpPr>
          <p:spPr>
            <a:xfrm>
              <a:off x="4926574" y="11631398"/>
              <a:ext cx="3065985" cy="302307"/>
            </a:xfrm>
            <a:prstGeom prst="rect">
              <a:avLst/>
            </a:prstGeom>
          </p:spPr>
          <p:txBody>
            <a:bodyPr lIns="0" tIns="0" rIns="0" bIns="0" rtlCol="0" anchor="t">
              <a:spAutoFit/>
            </a:bodyPr>
            <a:lstStyle/>
            <a:p>
              <a:pPr marL="0" lvl="0" indent="0" algn="l">
                <a:lnSpc>
                  <a:spcPts val="1765"/>
                </a:lnSpc>
                <a:spcBef>
                  <a:spcPct val="0"/>
                </a:spcBef>
              </a:pPr>
              <a:r>
                <a:rPr lang="en-US" sz="1260" b="1">
                  <a:solidFill>
                    <a:srgbClr val="FF2768"/>
                  </a:solidFill>
                  <a:latin typeface="Times New Roman MT Bold"/>
                  <a:ea typeface="Times New Roman MT Bold"/>
                  <a:cs typeface="Times New Roman MT Bold"/>
                  <a:sym typeface="Times New Roman MT Bold"/>
                </a:rPr>
                <a:t>DOMINIO MECÁNICO</a:t>
              </a:r>
            </a:p>
          </p:txBody>
        </p:sp>
        <p:sp>
          <p:nvSpPr>
            <p:cNvPr id="158" name="AutoShape 158"/>
            <p:cNvSpPr/>
            <p:nvPr/>
          </p:nvSpPr>
          <p:spPr>
            <a:xfrm>
              <a:off x="2058245" y="10146134"/>
              <a:ext cx="3020856" cy="7984"/>
            </a:xfrm>
            <a:prstGeom prst="line">
              <a:avLst/>
            </a:prstGeom>
            <a:ln w="32026" cap="flat">
              <a:solidFill>
                <a:srgbClr val="5E17EB"/>
              </a:solidFill>
              <a:prstDash val="solid"/>
              <a:headEnd type="none" w="sm" len="sm"/>
              <a:tailEnd type="arrow" w="med" len="sm"/>
            </a:ln>
          </p:spPr>
        </p:sp>
        <p:grpSp>
          <p:nvGrpSpPr>
            <p:cNvPr id="159" name="Group 159"/>
            <p:cNvGrpSpPr/>
            <p:nvPr/>
          </p:nvGrpSpPr>
          <p:grpSpPr>
            <a:xfrm>
              <a:off x="3848975" y="12320033"/>
              <a:ext cx="1719877" cy="232853"/>
              <a:chOff x="0" y="0"/>
              <a:chExt cx="4648714" cy="629385"/>
            </a:xfrm>
          </p:grpSpPr>
          <p:sp>
            <p:nvSpPr>
              <p:cNvPr id="160" name="Freeform 160"/>
              <p:cNvSpPr/>
              <p:nvPr/>
            </p:nvSpPr>
            <p:spPr>
              <a:xfrm>
                <a:off x="0" y="0"/>
                <a:ext cx="4648714" cy="629385"/>
              </a:xfrm>
              <a:custGeom>
                <a:avLst/>
                <a:gdLst/>
                <a:ahLst/>
                <a:cxnLst/>
                <a:rect l="l" t="t" r="r" b="b"/>
                <a:pathLst>
                  <a:path w="4648714" h="629385">
                    <a:moveTo>
                      <a:pt x="4648714" y="314693"/>
                    </a:moveTo>
                    <a:lnTo>
                      <a:pt x="4242314" y="0"/>
                    </a:lnTo>
                    <a:lnTo>
                      <a:pt x="4242314" y="203200"/>
                    </a:lnTo>
                    <a:lnTo>
                      <a:pt x="0" y="203200"/>
                    </a:lnTo>
                    <a:lnTo>
                      <a:pt x="0" y="426185"/>
                    </a:lnTo>
                    <a:lnTo>
                      <a:pt x="4242314" y="426185"/>
                    </a:lnTo>
                    <a:lnTo>
                      <a:pt x="4242314" y="629385"/>
                    </a:lnTo>
                    <a:lnTo>
                      <a:pt x="4648714" y="314693"/>
                    </a:lnTo>
                    <a:close/>
                  </a:path>
                </a:pathLst>
              </a:custGeom>
              <a:solidFill>
                <a:srgbClr val="FFFFFF"/>
              </a:solidFill>
              <a:ln w="19050" cap="sq">
                <a:solidFill>
                  <a:srgbClr val="000000"/>
                </a:solidFill>
                <a:prstDash val="solid"/>
                <a:miter/>
              </a:ln>
            </p:spPr>
          </p:sp>
          <p:sp>
            <p:nvSpPr>
              <p:cNvPr id="161" name="TextBox 161"/>
              <p:cNvSpPr txBox="1"/>
              <p:nvPr/>
            </p:nvSpPr>
            <p:spPr>
              <a:xfrm>
                <a:off x="0" y="193675"/>
                <a:ext cx="4547114" cy="232510"/>
              </a:xfrm>
              <a:prstGeom prst="rect">
                <a:avLst/>
              </a:prstGeom>
            </p:spPr>
            <p:txBody>
              <a:bodyPr lIns="17413" tIns="17413" rIns="17413" bIns="17413" rtlCol="0" anchor="ctr"/>
              <a:lstStyle/>
              <a:p>
                <a:pPr algn="ctr">
                  <a:lnSpc>
                    <a:spcPts val="207"/>
                  </a:lnSpc>
                </a:pPr>
                <a:endParaRPr/>
              </a:p>
            </p:txBody>
          </p:sp>
        </p:grpSp>
        <p:grpSp>
          <p:nvGrpSpPr>
            <p:cNvPr id="162" name="Group 162"/>
            <p:cNvGrpSpPr/>
            <p:nvPr/>
          </p:nvGrpSpPr>
          <p:grpSpPr>
            <a:xfrm>
              <a:off x="3848975" y="13124777"/>
              <a:ext cx="1719877" cy="232853"/>
              <a:chOff x="0" y="0"/>
              <a:chExt cx="4648714" cy="629385"/>
            </a:xfrm>
          </p:grpSpPr>
          <p:sp>
            <p:nvSpPr>
              <p:cNvPr id="163" name="Freeform 163"/>
              <p:cNvSpPr/>
              <p:nvPr/>
            </p:nvSpPr>
            <p:spPr>
              <a:xfrm>
                <a:off x="0" y="0"/>
                <a:ext cx="4648714" cy="629385"/>
              </a:xfrm>
              <a:custGeom>
                <a:avLst/>
                <a:gdLst/>
                <a:ahLst/>
                <a:cxnLst/>
                <a:rect l="l" t="t" r="r" b="b"/>
                <a:pathLst>
                  <a:path w="4648714" h="629385">
                    <a:moveTo>
                      <a:pt x="4648714" y="314693"/>
                    </a:moveTo>
                    <a:lnTo>
                      <a:pt x="4242314" y="0"/>
                    </a:lnTo>
                    <a:lnTo>
                      <a:pt x="4242314" y="203200"/>
                    </a:lnTo>
                    <a:lnTo>
                      <a:pt x="0" y="203200"/>
                    </a:lnTo>
                    <a:lnTo>
                      <a:pt x="0" y="426185"/>
                    </a:lnTo>
                    <a:lnTo>
                      <a:pt x="4242314" y="426185"/>
                    </a:lnTo>
                    <a:lnTo>
                      <a:pt x="4242314" y="629385"/>
                    </a:lnTo>
                    <a:lnTo>
                      <a:pt x="4648714" y="314693"/>
                    </a:lnTo>
                    <a:close/>
                  </a:path>
                </a:pathLst>
              </a:custGeom>
              <a:solidFill>
                <a:srgbClr val="FFFFFF"/>
              </a:solidFill>
              <a:ln w="19050" cap="sq">
                <a:solidFill>
                  <a:srgbClr val="000000"/>
                </a:solidFill>
                <a:prstDash val="solid"/>
                <a:miter/>
              </a:ln>
            </p:spPr>
          </p:sp>
          <p:sp>
            <p:nvSpPr>
              <p:cNvPr id="164" name="TextBox 164"/>
              <p:cNvSpPr txBox="1"/>
              <p:nvPr/>
            </p:nvSpPr>
            <p:spPr>
              <a:xfrm>
                <a:off x="0" y="193675"/>
                <a:ext cx="4547114" cy="232510"/>
              </a:xfrm>
              <a:prstGeom prst="rect">
                <a:avLst/>
              </a:prstGeom>
            </p:spPr>
            <p:txBody>
              <a:bodyPr lIns="17413" tIns="17413" rIns="17413" bIns="17413" rtlCol="0" anchor="ctr"/>
              <a:lstStyle/>
              <a:p>
                <a:pPr algn="ctr">
                  <a:lnSpc>
                    <a:spcPts val="207"/>
                  </a:lnSpc>
                </a:pPr>
                <a:endParaRPr/>
              </a:p>
            </p:txBody>
          </p:sp>
        </p:grpSp>
        <p:sp>
          <p:nvSpPr>
            <p:cNvPr id="165" name="Freeform 165"/>
            <p:cNvSpPr/>
            <p:nvPr/>
          </p:nvSpPr>
          <p:spPr>
            <a:xfrm>
              <a:off x="10333794" y="9360160"/>
              <a:ext cx="1349484" cy="536749"/>
            </a:xfrm>
            <a:custGeom>
              <a:avLst/>
              <a:gdLst/>
              <a:ahLst/>
              <a:cxnLst/>
              <a:rect l="l" t="t" r="r" b="b"/>
              <a:pathLst>
                <a:path w="1349484" h="536749">
                  <a:moveTo>
                    <a:pt x="0" y="536749"/>
                  </a:moveTo>
                  <a:lnTo>
                    <a:pt x="1239681" y="536749"/>
                  </a:lnTo>
                  <a:cubicBezTo>
                    <a:pt x="1268803" y="536749"/>
                    <a:pt x="1296732" y="525181"/>
                    <a:pt x="1317324" y="504588"/>
                  </a:cubicBezTo>
                  <a:cubicBezTo>
                    <a:pt x="1337916" y="483996"/>
                    <a:pt x="1349484" y="456068"/>
                    <a:pt x="1349484" y="426946"/>
                  </a:cubicBezTo>
                  <a:lnTo>
                    <a:pt x="1349484" y="0"/>
                  </a:lnTo>
                </a:path>
              </a:pathLst>
            </a:custGeom>
            <a:ln w="32026" cap="flat">
              <a:solidFill>
                <a:srgbClr val="5E17EB"/>
              </a:solidFill>
              <a:prstDash val="solid"/>
              <a:headEnd type="none" w="sm" len="sm"/>
              <a:tailEnd type="arrow" w="med" len="sm"/>
            </a:ln>
          </p:spPr>
        </p:sp>
        <p:sp>
          <p:nvSpPr>
            <p:cNvPr id="166" name="Freeform 166"/>
            <p:cNvSpPr/>
            <p:nvPr/>
          </p:nvSpPr>
          <p:spPr>
            <a:xfrm>
              <a:off x="9833815" y="8983669"/>
              <a:ext cx="0" cy="399139"/>
            </a:xfrm>
            <a:custGeom>
              <a:avLst/>
              <a:gdLst/>
              <a:ahLst/>
              <a:cxnLst/>
              <a:rect l="l" t="t" r="r" b="b"/>
              <a:pathLst>
                <a:path h="399139">
                  <a:moveTo>
                    <a:pt x="0" y="399139"/>
                  </a:moveTo>
                  <a:lnTo>
                    <a:pt x="0" y="0"/>
                  </a:lnTo>
                </a:path>
              </a:pathLst>
            </a:custGeom>
            <a:ln w="32026" cap="flat">
              <a:solidFill>
                <a:srgbClr val="5E17EB"/>
              </a:solidFill>
              <a:prstDash val="solid"/>
              <a:headEnd type="none" w="sm" len="sm"/>
              <a:tailEnd type="arrow" w="med" len="sm"/>
            </a:ln>
          </p:spPr>
        </p:sp>
        <p:sp>
          <p:nvSpPr>
            <p:cNvPr id="167" name="TextBox 167"/>
            <p:cNvSpPr txBox="1"/>
            <p:nvPr/>
          </p:nvSpPr>
          <p:spPr>
            <a:xfrm>
              <a:off x="1717524" y="1591047"/>
              <a:ext cx="1393803"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Señal de parada</a:t>
              </a:r>
            </a:p>
          </p:txBody>
        </p:sp>
        <p:sp>
          <p:nvSpPr>
            <p:cNvPr id="168" name="TextBox 168"/>
            <p:cNvSpPr txBox="1"/>
            <p:nvPr/>
          </p:nvSpPr>
          <p:spPr>
            <a:xfrm>
              <a:off x="1778275" y="828928"/>
              <a:ext cx="1384329"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Señal de inicio</a:t>
              </a:r>
            </a:p>
          </p:txBody>
        </p:sp>
        <p:sp>
          <p:nvSpPr>
            <p:cNvPr id="169" name="AutoShape 169"/>
            <p:cNvSpPr/>
            <p:nvPr/>
          </p:nvSpPr>
          <p:spPr>
            <a:xfrm flipV="1">
              <a:off x="3162605" y="974883"/>
              <a:ext cx="2705485" cy="13158"/>
            </a:xfrm>
            <a:prstGeom prst="line">
              <a:avLst/>
            </a:prstGeom>
            <a:ln w="32026" cap="flat">
              <a:solidFill>
                <a:srgbClr val="0097B2"/>
              </a:solidFill>
              <a:prstDash val="lgDash"/>
              <a:headEnd type="none" w="sm" len="sm"/>
              <a:tailEnd type="arrow" w="med" len="sm"/>
            </a:ln>
          </p:spPr>
        </p:sp>
        <p:sp>
          <p:nvSpPr>
            <p:cNvPr id="170" name="AutoShape 170"/>
            <p:cNvSpPr/>
            <p:nvPr/>
          </p:nvSpPr>
          <p:spPr>
            <a:xfrm>
              <a:off x="3111327" y="1750160"/>
              <a:ext cx="2757350" cy="8594"/>
            </a:xfrm>
            <a:prstGeom prst="line">
              <a:avLst/>
            </a:prstGeom>
            <a:ln w="32026" cap="flat">
              <a:solidFill>
                <a:srgbClr val="0097B2"/>
              </a:solidFill>
              <a:prstDash val="lgDash"/>
              <a:headEnd type="none" w="sm" len="sm"/>
              <a:tailEnd type="arrow" w="med" len="sm"/>
            </a:ln>
          </p:spPr>
        </p:sp>
        <p:sp>
          <p:nvSpPr>
            <p:cNvPr id="171" name="TextBox 171"/>
            <p:cNvSpPr txBox="1"/>
            <p:nvPr/>
          </p:nvSpPr>
          <p:spPr>
            <a:xfrm>
              <a:off x="4301001" y="10880241"/>
              <a:ext cx="1378381" cy="270602"/>
            </a:xfrm>
            <a:prstGeom prst="rect">
              <a:avLst/>
            </a:prstGeom>
          </p:spPr>
          <p:txBody>
            <a:bodyPr lIns="0" tIns="0" rIns="0" bIns="0" rtlCol="0" anchor="t">
              <a:spAutoFit/>
            </a:bodyPr>
            <a:lstStyle/>
            <a:p>
              <a:pPr algn="ctr">
                <a:lnSpc>
                  <a:spcPts val="1562"/>
                </a:lnSpc>
              </a:pPr>
              <a:endParaRPr/>
            </a:p>
          </p:txBody>
        </p:sp>
        <p:sp>
          <p:nvSpPr>
            <p:cNvPr id="172" name="TextBox 172"/>
            <p:cNvSpPr txBox="1"/>
            <p:nvPr/>
          </p:nvSpPr>
          <p:spPr>
            <a:xfrm>
              <a:off x="2846949" y="10991729"/>
              <a:ext cx="1393803"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Señal de apagado</a:t>
              </a:r>
            </a:p>
          </p:txBody>
        </p:sp>
        <p:sp>
          <p:nvSpPr>
            <p:cNvPr id="173" name="TextBox 173"/>
            <p:cNvSpPr txBox="1"/>
            <p:nvPr/>
          </p:nvSpPr>
          <p:spPr>
            <a:xfrm>
              <a:off x="2668449" y="10771318"/>
              <a:ext cx="1750802" cy="270602"/>
            </a:xfrm>
            <a:prstGeom prst="rect">
              <a:avLst/>
            </a:prstGeom>
          </p:spPr>
          <p:txBody>
            <a:bodyPr lIns="0" tIns="0" rIns="0" bIns="0" rtlCol="0" anchor="t">
              <a:spAutoFit/>
            </a:bodyPr>
            <a:lstStyle/>
            <a:p>
              <a:pPr algn="ctr">
                <a:lnSpc>
                  <a:spcPts val="1562"/>
                </a:lnSpc>
              </a:pPr>
              <a:r>
                <a:rPr lang="en-US" sz="1116" b="1">
                  <a:solidFill>
                    <a:srgbClr val="000000"/>
                  </a:solidFill>
                  <a:latin typeface="Times New Roman MT Bold"/>
                  <a:ea typeface="Times New Roman MT Bold"/>
                  <a:cs typeface="Times New Roman MT Bold"/>
                  <a:sym typeface="Times New Roman MT Bold"/>
                </a:rPr>
                <a:t>Señal de encendido</a:t>
              </a:r>
            </a:p>
          </p:txBody>
        </p:sp>
        <p:grpSp>
          <p:nvGrpSpPr>
            <p:cNvPr id="174" name="Group 174"/>
            <p:cNvGrpSpPr/>
            <p:nvPr/>
          </p:nvGrpSpPr>
          <p:grpSpPr>
            <a:xfrm>
              <a:off x="14020343" y="5554929"/>
              <a:ext cx="1102290" cy="1126179"/>
              <a:chOff x="0" y="0"/>
              <a:chExt cx="919550" cy="939507"/>
            </a:xfrm>
          </p:grpSpPr>
          <p:sp>
            <p:nvSpPr>
              <p:cNvPr id="175" name="Freeform 175"/>
              <p:cNvSpPr/>
              <p:nvPr/>
            </p:nvSpPr>
            <p:spPr>
              <a:xfrm>
                <a:off x="0" y="0"/>
                <a:ext cx="919550" cy="939507"/>
              </a:xfrm>
              <a:custGeom>
                <a:avLst/>
                <a:gdLst/>
                <a:ahLst/>
                <a:cxnLst/>
                <a:rect l="l" t="t" r="r" b="b"/>
                <a:pathLst>
                  <a:path w="919550" h="939507">
                    <a:moveTo>
                      <a:pt x="919550" y="0"/>
                    </a:moveTo>
                    <a:lnTo>
                      <a:pt x="919550" y="939507"/>
                    </a:lnTo>
                    <a:lnTo>
                      <a:pt x="0" y="939507"/>
                    </a:lnTo>
                    <a:lnTo>
                      <a:pt x="0" y="0"/>
                    </a:lnTo>
                    <a:close/>
                  </a:path>
                </a:pathLst>
              </a:custGeom>
              <a:solidFill>
                <a:srgbClr val="FFFFFF"/>
              </a:solidFill>
              <a:ln w="47625" cap="sq">
                <a:solidFill>
                  <a:srgbClr val="008801"/>
                </a:solidFill>
                <a:prstDash val="solid"/>
                <a:miter/>
              </a:ln>
            </p:spPr>
          </p:sp>
          <p:sp>
            <p:nvSpPr>
              <p:cNvPr id="176" name="TextBox 176"/>
              <p:cNvSpPr txBox="1"/>
              <p:nvPr/>
            </p:nvSpPr>
            <p:spPr>
              <a:xfrm>
                <a:off x="0" y="-19050"/>
                <a:ext cx="919550" cy="958557"/>
              </a:xfrm>
              <a:prstGeom prst="rect">
                <a:avLst/>
              </a:prstGeom>
            </p:spPr>
            <p:txBody>
              <a:bodyPr lIns="48758" tIns="48758" rIns="48758" bIns="48758" rtlCol="0" anchor="ctr"/>
              <a:lstStyle/>
              <a:p>
                <a:pPr marL="0" lvl="0" indent="0" algn="ctr">
                  <a:lnSpc>
                    <a:spcPts val="1549"/>
                  </a:lnSpc>
                  <a:spcBef>
                    <a:spcPct val="0"/>
                  </a:spcBef>
                </a:pPr>
                <a:endParaRPr/>
              </a:p>
            </p:txBody>
          </p:sp>
        </p:grpSp>
        <p:sp>
          <p:nvSpPr>
            <p:cNvPr id="177" name="TextBox 177"/>
            <p:cNvSpPr txBox="1"/>
            <p:nvPr/>
          </p:nvSpPr>
          <p:spPr>
            <a:xfrm>
              <a:off x="14020343" y="5681529"/>
              <a:ext cx="1041269" cy="825353"/>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Empezar o Terminar Ensayo</a:t>
              </a:r>
            </a:p>
          </p:txBody>
        </p:sp>
        <p:sp>
          <p:nvSpPr>
            <p:cNvPr id="178" name="Freeform 178"/>
            <p:cNvSpPr/>
            <p:nvPr/>
          </p:nvSpPr>
          <p:spPr>
            <a:xfrm>
              <a:off x="4419252" y="10836763"/>
              <a:ext cx="5105583" cy="93669"/>
            </a:xfrm>
            <a:custGeom>
              <a:avLst/>
              <a:gdLst/>
              <a:ahLst/>
              <a:cxnLst/>
              <a:rect l="l" t="t" r="r" b="b"/>
              <a:pathLst>
                <a:path w="5105583" h="93669">
                  <a:moveTo>
                    <a:pt x="0" y="93668"/>
                  </a:moveTo>
                  <a:lnTo>
                    <a:pt x="5058749" y="93668"/>
                  </a:lnTo>
                  <a:cubicBezTo>
                    <a:pt x="5071169" y="93668"/>
                    <a:pt x="5083082" y="88734"/>
                    <a:pt x="5091865" y="79951"/>
                  </a:cubicBezTo>
                  <a:cubicBezTo>
                    <a:pt x="5100648" y="71167"/>
                    <a:pt x="5105583" y="59255"/>
                    <a:pt x="5105583" y="46834"/>
                  </a:cubicBezTo>
                  <a:lnTo>
                    <a:pt x="5105583" y="0"/>
                  </a:lnTo>
                </a:path>
              </a:pathLst>
            </a:custGeom>
            <a:ln w="32026" cap="flat">
              <a:solidFill>
                <a:srgbClr val="5E17EB"/>
              </a:solidFill>
              <a:prstDash val="lgDash"/>
              <a:headEnd type="none" w="sm" len="sm"/>
              <a:tailEnd type="arrow" w="med" len="sm"/>
            </a:ln>
          </p:spPr>
        </p:sp>
        <p:sp>
          <p:nvSpPr>
            <p:cNvPr id="179" name="Freeform 179"/>
            <p:cNvSpPr/>
            <p:nvPr/>
          </p:nvSpPr>
          <p:spPr>
            <a:xfrm>
              <a:off x="4240752" y="10836763"/>
              <a:ext cx="5724637" cy="314080"/>
            </a:xfrm>
            <a:custGeom>
              <a:avLst/>
              <a:gdLst/>
              <a:ahLst/>
              <a:cxnLst/>
              <a:rect l="l" t="t" r="r" b="b"/>
              <a:pathLst>
                <a:path w="5724637" h="314080">
                  <a:moveTo>
                    <a:pt x="0" y="314080"/>
                  </a:moveTo>
                  <a:lnTo>
                    <a:pt x="5614833" y="314080"/>
                  </a:lnTo>
                  <a:cubicBezTo>
                    <a:pt x="5643956" y="314080"/>
                    <a:pt x="5671884" y="302511"/>
                    <a:pt x="5692476" y="281919"/>
                  </a:cubicBezTo>
                  <a:cubicBezTo>
                    <a:pt x="5713068" y="261327"/>
                    <a:pt x="5724637" y="233398"/>
                    <a:pt x="5724637" y="204276"/>
                  </a:cubicBezTo>
                  <a:lnTo>
                    <a:pt x="5724637" y="0"/>
                  </a:lnTo>
                </a:path>
              </a:pathLst>
            </a:custGeom>
            <a:ln w="32026" cap="flat">
              <a:solidFill>
                <a:srgbClr val="5E17EB"/>
              </a:solidFill>
              <a:prstDash val="lgDash"/>
              <a:headEnd type="none" w="sm" len="sm"/>
              <a:tailEnd type="arrow" w="med" len="sm"/>
            </a:ln>
          </p:spPr>
        </p:sp>
        <p:sp>
          <p:nvSpPr>
            <p:cNvPr id="180" name="Freeform 180"/>
            <p:cNvSpPr/>
            <p:nvPr/>
          </p:nvSpPr>
          <p:spPr>
            <a:xfrm>
              <a:off x="7239788" y="9462912"/>
              <a:ext cx="1952871" cy="382771"/>
            </a:xfrm>
            <a:custGeom>
              <a:avLst/>
              <a:gdLst/>
              <a:ahLst/>
              <a:cxnLst/>
              <a:rect l="l" t="t" r="r" b="b"/>
              <a:pathLst>
                <a:path w="1952871" h="382771">
                  <a:moveTo>
                    <a:pt x="1952870" y="382771"/>
                  </a:moveTo>
                  <a:lnTo>
                    <a:pt x="109803" y="382771"/>
                  </a:lnTo>
                  <a:cubicBezTo>
                    <a:pt x="80681" y="382771"/>
                    <a:pt x="52752" y="371202"/>
                    <a:pt x="32160" y="350610"/>
                  </a:cubicBezTo>
                  <a:cubicBezTo>
                    <a:pt x="11568" y="330018"/>
                    <a:pt x="0" y="302090"/>
                    <a:pt x="0" y="272967"/>
                  </a:cubicBezTo>
                  <a:lnTo>
                    <a:pt x="0" y="0"/>
                  </a:lnTo>
                </a:path>
              </a:pathLst>
            </a:custGeom>
            <a:ln w="32026" cap="flat">
              <a:solidFill>
                <a:srgbClr val="5E17EB"/>
              </a:solidFill>
              <a:prstDash val="solid"/>
              <a:headEnd type="none" w="sm" len="sm"/>
              <a:tailEnd type="arrow" w="med" len="sm"/>
            </a:ln>
          </p:spPr>
        </p:sp>
        <p:grpSp>
          <p:nvGrpSpPr>
            <p:cNvPr id="181" name="Group 181"/>
            <p:cNvGrpSpPr/>
            <p:nvPr/>
          </p:nvGrpSpPr>
          <p:grpSpPr>
            <a:xfrm>
              <a:off x="12488409" y="5568312"/>
              <a:ext cx="1102290" cy="1398435"/>
              <a:chOff x="0" y="0"/>
              <a:chExt cx="919550" cy="1166635"/>
            </a:xfrm>
          </p:grpSpPr>
          <p:sp>
            <p:nvSpPr>
              <p:cNvPr id="182" name="Freeform 182"/>
              <p:cNvSpPr/>
              <p:nvPr/>
            </p:nvSpPr>
            <p:spPr>
              <a:xfrm>
                <a:off x="0" y="0"/>
                <a:ext cx="919550" cy="1166635"/>
              </a:xfrm>
              <a:custGeom>
                <a:avLst/>
                <a:gdLst/>
                <a:ahLst/>
                <a:cxnLst/>
                <a:rect l="l" t="t" r="r" b="b"/>
                <a:pathLst>
                  <a:path w="919550" h="1166635">
                    <a:moveTo>
                      <a:pt x="919550" y="0"/>
                    </a:moveTo>
                    <a:lnTo>
                      <a:pt x="919550" y="1166635"/>
                    </a:lnTo>
                    <a:lnTo>
                      <a:pt x="0" y="1166635"/>
                    </a:lnTo>
                    <a:lnTo>
                      <a:pt x="0" y="0"/>
                    </a:lnTo>
                    <a:close/>
                  </a:path>
                </a:pathLst>
              </a:custGeom>
              <a:solidFill>
                <a:srgbClr val="FFFFFF"/>
              </a:solidFill>
              <a:ln w="47625" cap="sq">
                <a:solidFill>
                  <a:srgbClr val="008801"/>
                </a:solidFill>
                <a:prstDash val="solid"/>
                <a:miter/>
              </a:ln>
            </p:spPr>
          </p:sp>
          <p:sp>
            <p:nvSpPr>
              <p:cNvPr id="183" name="TextBox 183"/>
              <p:cNvSpPr txBox="1"/>
              <p:nvPr/>
            </p:nvSpPr>
            <p:spPr>
              <a:xfrm>
                <a:off x="0" y="-19050"/>
                <a:ext cx="919550" cy="1185685"/>
              </a:xfrm>
              <a:prstGeom prst="rect">
                <a:avLst/>
              </a:prstGeom>
            </p:spPr>
            <p:txBody>
              <a:bodyPr lIns="48758" tIns="48758" rIns="48758" bIns="48758" rtlCol="0" anchor="ctr"/>
              <a:lstStyle/>
              <a:p>
                <a:pPr marL="0" lvl="0" indent="0" algn="ctr">
                  <a:lnSpc>
                    <a:spcPts val="1549"/>
                  </a:lnSpc>
                  <a:spcBef>
                    <a:spcPct val="0"/>
                  </a:spcBef>
                </a:pPr>
                <a:endParaRPr/>
              </a:p>
            </p:txBody>
          </p:sp>
        </p:grpSp>
        <p:sp>
          <p:nvSpPr>
            <p:cNvPr id="184" name="TextBox 184"/>
            <p:cNvSpPr txBox="1"/>
            <p:nvPr/>
          </p:nvSpPr>
          <p:spPr>
            <a:xfrm>
              <a:off x="12488409" y="5694912"/>
              <a:ext cx="1041269" cy="1097609"/>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Activar o desactivar actuadores de sensores</a:t>
              </a:r>
            </a:p>
          </p:txBody>
        </p:sp>
        <p:sp>
          <p:nvSpPr>
            <p:cNvPr id="185" name="Freeform 185"/>
            <p:cNvSpPr/>
            <p:nvPr/>
          </p:nvSpPr>
          <p:spPr>
            <a:xfrm>
              <a:off x="11104289" y="6267529"/>
              <a:ext cx="1384120" cy="13365"/>
            </a:xfrm>
            <a:custGeom>
              <a:avLst/>
              <a:gdLst/>
              <a:ahLst/>
              <a:cxnLst/>
              <a:rect l="l" t="t" r="r" b="b"/>
              <a:pathLst>
                <a:path w="1384120" h="13365">
                  <a:moveTo>
                    <a:pt x="1384120" y="0"/>
                  </a:moveTo>
                  <a:lnTo>
                    <a:pt x="1384120" y="6683"/>
                  </a:lnTo>
                  <a:cubicBezTo>
                    <a:pt x="1384120" y="8455"/>
                    <a:pt x="1383416" y="10155"/>
                    <a:pt x="1382163" y="11408"/>
                  </a:cubicBezTo>
                  <a:cubicBezTo>
                    <a:pt x="1380909" y="12661"/>
                    <a:pt x="1379210" y="13365"/>
                    <a:pt x="1377438" y="13365"/>
                  </a:cubicBezTo>
                  <a:lnTo>
                    <a:pt x="0" y="13365"/>
                  </a:lnTo>
                </a:path>
              </a:pathLst>
            </a:custGeom>
            <a:ln w="32026" cap="flat">
              <a:solidFill>
                <a:srgbClr val="008801"/>
              </a:solidFill>
              <a:prstDash val="lgDash"/>
              <a:headEnd type="none" w="sm" len="sm"/>
              <a:tailEnd type="arrow" w="med" len="sm"/>
            </a:ln>
          </p:spPr>
        </p:sp>
        <p:sp>
          <p:nvSpPr>
            <p:cNvPr id="186" name="Freeform 186"/>
            <p:cNvSpPr/>
            <p:nvPr/>
          </p:nvSpPr>
          <p:spPr>
            <a:xfrm>
              <a:off x="3845995" y="1792583"/>
              <a:ext cx="5735046" cy="7989364"/>
            </a:xfrm>
            <a:custGeom>
              <a:avLst/>
              <a:gdLst/>
              <a:ahLst/>
              <a:cxnLst/>
              <a:rect l="l" t="t" r="r" b="b"/>
              <a:pathLst>
                <a:path w="5735046" h="7989364">
                  <a:moveTo>
                    <a:pt x="3628598" y="0"/>
                  </a:moveTo>
                  <a:lnTo>
                    <a:pt x="3817294" y="0"/>
                  </a:lnTo>
                  <a:cubicBezTo>
                    <a:pt x="3846416" y="0"/>
                    <a:pt x="3874345" y="11569"/>
                    <a:pt x="3894936" y="32161"/>
                  </a:cubicBezTo>
                  <a:cubicBezTo>
                    <a:pt x="3915529" y="52753"/>
                    <a:pt x="3927097" y="80682"/>
                    <a:pt x="3927097" y="109803"/>
                  </a:cubicBezTo>
                  <a:lnTo>
                    <a:pt x="3927097" y="794218"/>
                  </a:lnTo>
                  <a:cubicBezTo>
                    <a:pt x="3927097" y="823339"/>
                    <a:pt x="3915529" y="851268"/>
                    <a:pt x="3894936" y="871860"/>
                  </a:cubicBezTo>
                  <a:cubicBezTo>
                    <a:pt x="3874345" y="892452"/>
                    <a:pt x="3846416" y="904021"/>
                    <a:pt x="3817294" y="904021"/>
                  </a:cubicBezTo>
                  <a:lnTo>
                    <a:pt x="109803" y="904021"/>
                  </a:lnTo>
                  <a:cubicBezTo>
                    <a:pt x="80681" y="904021"/>
                    <a:pt x="52752" y="915589"/>
                    <a:pt x="32160" y="936181"/>
                  </a:cubicBezTo>
                  <a:cubicBezTo>
                    <a:pt x="11568" y="956773"/>
                    <a:pt x="0" y="984702"/>
                    <a:pt x="0" y="1013824"/>
                  </a:cubicBezTo>
                  <a:lnTo>
                    <a:pt x="0" y="6187920"/>
                  </a:lnTo>
                  <a:cubicBezTo>
                    <a:pt x="0" y="6217042"/>
                    <a:pt x="11568" y="6244971"/>
                    <a:pt x="32160" y="6265562"/>
                  </a:cubicBezTo>
                  <a:cubicBezTo>
                    <a:pt x="52752" y="6286155"/>
                    <a:pt x="80681" y="6297723"/>
                    <a:pt x="109803" y="6297723"/>
                  </a:cubicBezTo>
                  <a:lnTo>
                    <a:pt x="4845543" y="6297723"/>
                  </a:lnTo>
                  <a:cubicBezTo>
                    <a:pt x="4874666" y="6297723"/>
                    <a:pt x="4902594" y="6309291"/>
                    <a:pt x="4923186" y="6329884"/>
                  </a:cubicBezTo>
                  <a:cubicBezTo>
                    <a:pt x="4943779" y="6350476"/>
                    <a:pt x="4955347" y="6378404"/>
                    <a:pt x="4955347" y="6407527"/>
                  </a:cubicBezTo>
                  <a:lnTo>
                    <a:pt x="4955347" y="7223432"/>
                  </a:lnTo>
                  <a:cubicBezTo>
                    <a:pt x="4955347" y="7252554"/>
                    <a:pt x="4966915" y="7280483"/>
                    <a:pt x="4987508" y="7301074"/>
                  </a:cubicBezTo>
                  <a:cubicBezTo>
                    <a:pt x="5008099" y="7321667"/>
                    <a:pt x="5036028" y="7333235"/>
                    <a:pt x="5065150" y="7333235"/>
                  </a:cubicBezTo>
                  <a:lnTo>
                    <a:pt x="5625242" y="7333235"/>
                  </a:lnTo>
                  <a:cubicBezTo>
                    <a:pt x="5654365" y="7333235"/>
                    <a:pt x="5682293" y="7344803"/>
                    <a:pt x="5702885" y="7365396"/>
                  </a:cubicBezTo>
                  <a:cubicBezTo>
                    <a:pt x="5723477" y="7385988"/>
                    <a:pt x="5735046" y="7413916"/>
                    <a:pt x="5735046" y="7443039"/>
                  </a:cubicBezTo>
                  <a:lnTo>
                    <a:pt x="5735046" y="7989364"/>
                  </a:lnTo>
                </a:path>
              </a:pathLst>
            </a:custGeom>
            <a:ln w="32026" cap="flat">
              <a:solidFill>
                <a:srgbClr val="0097B2"/>
              </a:solidFill>
              <a:prstDash val="lgDash"/>
              <a:headEnd type="none" w="sm" len="sm"/>
              <a:tailEnd type="arrow" w="med" len="sm"/>
            </a:ln>
          </p:spPr>
        </p:sp>
        <p:sp>
          <p:nvSpPr>
            <p:cNvPr id="187" name="Freeform 187"/>
            <p:cNvSpPr/>
            <p:nvPr/>
          </p:nvSpPr>
          <p:spPr>
            <a:xfrm>
              <a:off x="12253846" y="6966747"/>
              <a:ext cx="785709" cy="1614345"/>
            </a:xfrm>
            <a:custGeom>
              <a:avLst/>
              <a:gdLst/>
              <a:ahLst/>
              <a:cxnLst/>
              <a:rect l="l" t="t" r="r" b="b"/>
              <a:pathLst>
                <a:path w="785709" h="1614345">
                  <a:moveTo>
                    <a:pt x="0" y="1614345"/>
                  </a:moveTo>
                  <a:lnTo>
                    <a:pt x="675906" y="1614345"/>
                  </a:lnTo>
                  <a:cubicBezTo>
                    <a:pt x="705027" y="1614345"/>
                    <a:pt x="732956" y="1602776"/>
                    <a:pt x="753548" y="1582184"/>
                  </a:cubicBezTo>
                  <a:cubicBezTo>
                    <a:pt x="774140" y="1561592"/>
                    <a:pt x="785708" y="1533664"/>
                    <a:pt x="785708" y="1504541"/>
                  </a:cubicBezTo>
                  <a:lnTo>
                    <a:pt x="785708" y="0"/>
                  </a:lnTo>
                </a:path>
              </a:pathLst>
            </a:custGeom>
            <a:ln w="32026" cap="flat">
              <a:solidFill>
                <a:srgbClr val="5E17EB"/>
              </a:solidFill>
              <a:prstDash val="solid"/>
              <a:headEnd type="none" w="sm" len="sm"/>
              <a:tailEnd type="arrow" w="med" len="sm"/>
            </a:ln>
          </p:spPr>
        </p:sp>
        <p:sp>
          <p:nvSpPr>
            <p:cNvPr id="188" name="Freeform 188"/>
            <p:cNvSpPr/>
            <p:nvPr/>
          </p:nvSpPr>
          <p:spPr>
            <a:xfrm>
              <a:off x="3520574" y="953950"/>
              <a:ext cx="5871163" cy="8827997"/>
            </a:xfrm>
            <a:custGeom>
              <a:avLst/>
              <a:gdLst/>
              <a:ahLst/>
              <a:cxnLst/>
              <a:rect l="l" t="t" r="r" b="b"/>
              <a:pathLst>
                <a:path w="5871163" h="8827997">
                  <a:moveTo>
                    <a:pt x="3953713" y="0"/>
                  </a:moveTo>
                  <a:lnTo>
                    <a:pt x="4679556" y="0"/>
                  </a:lnTo>
                  <a:cubicBezTo>
                    <a:pt x="4708678" y="0"/>
                    <a:pt x="4736606" y="11568"/>
                    <a:pt x="4757198" y="32161"/>
                  </a:cubicBezTo>
                  <a:cubicBezTo>
                    <a:pt x="4777791" y="52753"/>
                    <a:pt x="4789359" y="80682"/>
                    <a:pt x="4789359" y="109803"/>
                  </a:cubicBezTo>
                  <a:lnTo>
                    <a:pt x="4789359" y="1061143"/>
                  </a:lnTo>
                  <a:cubicBezTo>
                    <a:pt x="4789359" y="1090265"/>
                    <a:pt x="4777791" y="1118194"/>
                    <a:pt x="4757198" y="1138786"/>
                  </a:cubicBezTo>
                  <a:cubicBezTo>
                    <a:pt x="4736606" y="1159378"/>
                    <a:pt x="4708678" y="1170946"/>
                    <a:pt x="4679556" y="1170946"/>
                  </a:cubicBezTo>
                  <a:lnTo>
                    <a:pt x="109803" y="1170946"/>
                  </a:lnTo>
                  <a:cubicBezTo>
                    <a:pt x="80682" y="1170946"/>
                    <a:pt x="52753" y="1182515"/>
                    <a:pt x="32161" y="1203107"/>
                  </a:cubicBezTo>
                  <a:cubicBezTo>
                    <a:pt x="11569" y="1223699"/>
                    <a:pt x="0" y="1251628"/>
                    <a:pt x="0" y="1280749"/>
                  </a:cubicBezTo>
                  <a:lnTo>
                    <a:pt x="0" y="7246159"/>
                  </a:lnTo>
                  <a:cubicBezTo>
                    <a:pt x="0" y="7275281"/>
                    <a:pt x="11569" y="7303210"/>
                    <a:pt x="32161" y="7323801"/>
                  </a:cubicBezTo>
                  <a:cubicBezTo>
                    <a:pt x="52753" y="7344394"/>
                    <a:pt x="80682" y="7355962"/>
                    <a:pt x="109803" y="7355962"/>
                  </a:cubicBezTo>
                  <a:lnTo>
                    <a:pt x="4679556" y="7355962"/>
                  </a:lnTo>
                  <a:cubicBezTo>
                    <a:pt x="4708678" y="7355962"/>
                    <a:pt x="4736606" y="7367530"/>
                    <a:pt x="4757198" y="7388123"/>
                  </a:cubicBezTo>
                  <a:cubicBezTo>
                    <a:pt x="4777791" y="7408715"/>
                    <a:pt x="4789359" y="7436643"/>
                    <a:pt x="4789359" y="7465766"/>
                  </a:cubicBezTo>
                  <a:lnTo>
                    <a:pt x="4789359" y="8296407"/>
                  </a:lnTo>
                  <a:cubicBezTo>
                    <a:pt x="4789359" y="8325529"/>
                    <a:pt x="4800927" y="8353458"/>
                    <a:pt x="4821520" y="8374050"/>
                  </a:cubicBezTo>
                  <a:cubicBezTo>
                    <a:pt x="4842112" y="8394642"/>
                    <a:pt x="4870040" y="8406210"/>
                    <a:pt x="4899162" y="8406210"/>
                  </a:cubicBezTo>
                  <a:lnTo>
                    <a:pt x="5761360" y="8406210"/>
                  </a:lnTo>
                  <a:cubicBezTo>
                    <a:pt x="5790482" y="8406210"/>
                    <a:pt x="5818411" y="8417779"/>
                    <a:pt x="5839003" y="8438371"/>
                  </a:cubicBezTo>
                  <a:cubicBezTo>
                    <a:pt x="5859595" y="8458963"/>
                    <a:pt x="5871164" y="8486892"/>
                    <a:pt x="5871164" y="8516014"/>
                  </a:cubicBezTo>
                  <a:lnTo>
                    <a:pt x="5871164" y="8708938"/>
                  </a:lnTo>
                  <a:cubicBezTo>
                    <a:pt x="5871164" y="8711393"/>
                    <a:pt x="5870188" y="8713747"/>
                    <a:pt x="5868452" y="8715482"/>
                  </a:cubicBezTo>
                  <a:cubicBezTo>
                    <a:pt x="5866717" y="8717219"/>
                    <a:pt x="5864362" y="8718194"/>
                    <a:pt x="5861908" y="8718194"/>
                  </a:cubicBezTo>
                  <a:lnTo>
                    <a:pt x="5861908" y="8718194"/>
                  </a:lnTo>
                  <a:cubicBezTo>
                    <a:pt x="5856795" y="8718194"/>
                    <a:pt x="5852651" y="8722338"/>
                    <a:pt x="5852651" y="8727451"/>
                  </a:cubicBezTo>
                  <a:lnTo>
                    <a:pt x="5852651" y="8827997"/>
                  </a:lnTo>
                </a:path>
              </a:pathLst>
            </a:custGeom>
            <a:ln w="32026" cap="flat">
              <a:solidFill>
                <a:srgbClr val="0097B2"/>
              </a:solidFill>
              <a:prstDash val="lgDash"/>
              <a:headEnd type="none" w="sm" len="sm"/>
              <a:tailEnd type="arrow" w="med" len="sm"/>
            </a:ln>
          </p:spPr>
        </p:sp>
        <p:sp>
          <p:nvSpPr>
            <p:cNvPr id="189" name="Freeform 189"/>
            <p:cNvSpPr/>
            <p:nvPr/>
          </p:nvSpPr>
          <p:spPr>
            <a:xfrm>
              <a:off x="9324180" y="5516188"/>
              <a:ext cx="3149292" cy="604551"/>
            </a:xfrm>
            <a:custGeom>
              <a:avLst/>
              <a:gdLst/>
              <a:ahLst/>
              <a:cxnLst/>
              <a:rect l="l" t="t" r="r" b="b"/>
              <a:pathLst>
                <a:path w="3149292" h="604551">
                  <a:moveTo>
                    <a:pt x="3149293" y="550406"/>
                  </a:moveTo>
                  <a:lnTo>
                    <a:pt x="2445022" y="550406"/>
                  </a:lnTo>
                  <a:cubicBezTo>
                    <a:pt x="2415900" y="550406"/>
                    <a:pt x="2387971" y="538837"/>
                    <a:pt x="2367379" y="518246"/>
                  </a:cubicBezTo>
                  <a:cubicBezTo>
                    <a:pt x="2346787" y="497653"/>
                    <a:pt x="2335218" y="469725"/>
                    <a:pt x="2335218" y="440603"/>
                  </a:cubicBezTo>
                  <a:lnTo>
                    <a:pt x="2335218" y="109803"/>
                  </a:lnTo>
                  <a:cubicBezTo>
                    <a:pt x="2335218" y="80682"/>
                    <a:pt x="2323650" y="52753"/>
                    <a:pt x="2303058" y="32161"/>
                  </a:cubicBezTo>
                  <a:cubicBezTo>
                    <a:pt x="2282466" y="11569"/>
                    <a:pt x="2254537" y="0"/>
                    <a:pt x="2225415" y="0"/>
                  </a:cubicBezTo>
                  <a:lnTo>
                    <a:pt x="450296" y="0"/>
                  </a:lnTo>
                  <a:cubicBezTo>
                    <a:pt x="421174" y="0"/>
                    <a:pt x="393245" y="11569"/>
                    <a:pt x="372654" y="32161"/>
                  </a:cubicBezTo>
                  <a:cubicBezTo>
                    <a:pt x="352061" y="52753"/>
                    <a:pt x="340493" y="80682"/>
                    <a:pt x="340493" y="109803"/>
                  </a:cubicBezTo>
                  <a:lnTo>
                    <a:pt x="340493" y="494749"/>
                  </a:lnTo>
                  <a:cubicBezTo>
                    <a:pt x="340493" y="523870"/>
                    <a:pt x="328925" y="551799"/>
                    <a:pt x="308332" y="572391"/>
                  </a:cubicBezTo>
                  <a:cubicBezTo>
                    <a:pt x="287740" y="592983"/>
                    <a:pt x="259812" y="604552"/>
                    <a:pt x="230689" y="604552"/>
                  </a:cubicBezTo>
                  <a:lnTo>
                    <a:pt x="0" y="604552"/>
                  </a:lnTo>
                </a:path>
              </a:pathLst>
            </a:custGeom>
            <a:ln w="32026" cap="flat">
              <a:solidFill>
                <a:srgbClr val="008801"/>
              </a:solidFill>
              <a:prstDash val="lgDash"/>
              <a:headEnd type="none" w="sm" len="sm"/>
              <a:tailEnd type="arrow" w="med" len="sm"/>
            </a:ln>
          </p:spPr>
        </p:sp>
        <p:sp>
          <p:nvSpPr>
            <p:cNvPr id="190" name="Freeform 190"/>
            <p:cNvSpPr/>
            <p:nvPr/>
          </p:nvSpPr>
          <p:spPr>
            <a:xfrm>
              <a:off x="7204469" y="5318299"/>
              <a:ext cx="5283940" cy="815777"/>
            </a:xfrm>
            <a:custGeom>
              <a:avLst/>
              <a:gdLst/>
              <a:ahLst/>
              <a:cxnLst/>
              <a:rect l="l" t="t" r="r" b="b"/>
              <a:pathLst>
                <a:path w="5283940" h="815777">
                  <a:moveTo>
                    <a:pt x="5283940" y="568604"/>
                  </a:moveTo>
                  <a:lnTo>
                    <a:pt x="5159180" y="568604"/>
                  </a:lnTo>
                  <a:cubicBezTo>
                    <a:pt x="5130058" y="568604"/>
                    <a:pt x="5102129" y="557035"/>
                    <a:pt x="5081538" y="536443"/>
                  </a:cubicBezTo>
                  <a:cubicBezTo>
                    <a:pt x="5060945" y="515851"/>
                    <a:pt x="5049377" y="487922"/>
                    <a:pt x="5049377" y="458801"/>
                  </a:cubicBezTo>
                  <a:lnTo>
                    <a:pt x="5049377" y="109803"/>
                  </a:lnTo>
                  <a:cubicBezTo>
                    <a:pt x="5049377" y="80682"/>
                    <a:pt x="5037809" y="52753"/>
                    <a:pt x="5017216" y="32161"/>
                  </a:cubicBezTo>
                  <a:cubicBezTo>
                    <a:pt x="4996624" y="11569"/>
                    <a:pt x="4968696" y="0"/>
                    <a:pt x="4939573" y="0"/>
                  </a:cubicBezTo>
                  <a:lnTo>
                    <a:pt x="512745" y="0"/>
                  </a:lnTo>
                  <a:cubicBezTo>
                    <a:pt x="483623" y="0"/>
                    <a:pt x="455694" y="11569"/>
                    <a:pt x="435103" y="32161"/>
                  </a:cubicBezTo>
                  <a:cubicBezTo>
                    <a:pt x="414510" y="52753"/>
                    <a:pt x="402942" y="80682"/>
                    <a:pt x="402942" y="109803"/>
                  </a:cubicBezTo>
                  <a:lnTo>
                    <a:pt x="402942" y="705974"/>
                  </a:lnTo>
                  <a:cubicBezTo>
                    <a:pt x="402942" y="735096"/>
                    <a:pt x="391374" y="763025"/>
                    <a:pt x="370781" y="783617"/>
                  </a:cubicBezTo>
                  <a:cubicBezTo>
                    <a:pt x="350189" y="804209"/>
                    <a:pt x="322261" y="815777"/>
                    <a:pt x="293138" y="815777"/>
                  </a:cubicBezTo>
                  <a:lnTo>
                    <a:pt x="0" y="815777"/>
                  </a:lnTo>
                </a:path>
              </a:pathLst>
            </a:custGeom>
            <a:ln w="32026" cap="flat">
              <a:solidFill>
                <a:srgbClr val="008801"/>
              </a:solidFill>
              <a:prstDash val="lgDash"/>
              <a:headEnd type="none" w="sm" len="sm"/>
              <a:tailEnd type="arrow" w="med" len="sm"/>
            </a:ln>
          </p:spPr>
        </p:sp>
        <p:sp>
          <p:nvSpPr>
            <p:cNvPr id="191" name="Freeform 191"/>
            <p:cNvSpPr/>
            <p:nvPr/>
          </p:nvSpPr>
          <p:spPr>
            <a:xfrm>
              <a:off x="7689727" y="6548648"/>
              <a:ext cx="3229383" cy="6069908"/>
            </a:xfrm>
            <a:custGeom>
              <a:avLst/>
              <a:gdLst/>
              <a:ahLst/>
              <a:cxnLst/>
              <a:rect l="l" t="t" r="r" b="b"/>
              <a:pathLst>
                <a:path w="3229383" h="6069908">
                  <a:moveTo>
                    <a:pt x="0" y="6069908"/>
                  </a:moveTo>
                  <a:lnTo>
                    <a:pt x="3119579" y="6069908"/>
                  </a:lnTo>
                  <a:cubicBezTo>
                    <a:pt x="3148701" y="6069908"/>
                    <a:pt x="3176630" y="6058340"/>
                    <a:pt x="3197222" y="6037747"/>
                  </a:cubicBezTo>
                  <a:cubicBezTo>
                    <a:pt x="3217814" y="6017156"/>
                    <a:pt x="3229382" y="5989227"/>
                    <a:pt x="3229382" y="5960105"/>
                  </a:cubicBezTo>
                  <a:lnTo>
                    <a:pt x="3229382" y="0"/>
                  </a:lnTo>
                </a:path>
              </a:pathLst>
            </a:custGeom>
            <a:ln w="32026" cap="flat">
              <a:solidFill>
                <a:srgbClr val="FF2768"/>
              </a:solidFill>
              <a:prstDash val="solid"/>
              <a:headEnd type="none" w="sm" len="sm"/>
              <a:tailEnd type="arrow" w="med" len="sm"/>
            </a:ln>
          </p:spPr>
        </p:sp>
        <p:sp>
          <p:nvSpPr>
            <p:cNvPr id="192" name="Freeform 192"/>
            <p:cNvSpPr/>
            <p:nvPr/>
          </p:nvSpPr>
          <p:spPr>
            <a:xfrm>
              <a:off x="6678857" y="6548648"/>
              <a:ext cx="1321715" cy="5730104"/>
            </a:xfrm>
            <a:custGeom>
              <a:avLst/>
              <a:gdLst/>
              <a:ahLst/>
              <a:cxnLst/>
              <a:rect l="l" t="t" r="r" b="b"/>
              <a:pathLst>
                <a:path w="1321715" h="5730104">
                  <a:moveTo>
                    <a:pt x="1010174" y="5730104"/>
                  </a:moveTo>
                  <a:lnTo>
                    <a:pt x="1211912" y="5730104"/>
                  </a:lnTo>
                  <a:cubicBezTo>
                    <a:pt x="1241034" y="5730104"/>
                    <a:pt x="1268963" y="5718536"/>
                    <a:pt x="1289554" y="5697943"/>
                  </a:cubicBezTo>
                  <a:cubicBezTo>
                    <a:pt x="1310147" y="5677351"/>
                    <a:pt x="1321715" y="5649423"/>
                    <a:pt x="1321715" y="5620301"/>
                  </a:cubicBezTo>
                  <a:lnTo>
                    <a:pt x="1321715" y="411661"/>
                  </a:lnTo>
                  <a:cubicBezTo>
                    <a:pt x="1321715" y="382539"/>
                    <a:pt x="1310147" y="354610"/>
                    <a:pt x="1289554" y="334019"/>
                  </a:cubicBezTo>
                  <a:cubicBezTo>
                    <a:pt x="1268963" y="313426"/>
                    <a:pt x="1241034" y="301858"/>
                    <a:pt x="1211912" y="301858"/>
                  </a:cubicBezTo>
                  <a:lnTo>
                    <a:pt x="109804" y="301858"/>
                  </a:lnTo>
                  <a:cubicBezTo>
                    <a:pt x="80682" y="301858"/>
                    <a:pt x="52753" y="290290"/>
                    <a:pt x="32161" y="269697"/>
                  </a:cubicBezTo>
                  <a:cubicBezTo>
                    <a:pt x="11569" y="249105"/>
                    <a:pt x="0" y="221177"/>
                    <a:pt x="0" y="192055"/>
                  </a:cubicBezTo>
                  <a:lnTo>
                    <a:pt x="0" y="0"/>
                  </a:lnTo>
                </a:path>
              </a:pathLst>
            </a:custGeom>
            <a:ln w="32026" cap="flat">
              <a:solidFill>
                <a:srgbClr val="FF2768"/>
              </a:solidFill>
              <a:prstDash val="solid"/>
              <a:headEnd type="none" w="sm" len="sm"/>
              <a:tailEnd type="arrow" w="med" len="sm"/>
            </a:ln>
          </p:spPr>
        </p:sp>
        <p:sp>
          <p:nvSpPr>
            <p:cNvPr id="193" name="Freeform 193"/>
            <p:cNvSpPr/>
            <p:nvPr/>
          </p:nvSpPr>
          <p:spPr>
            <a:xfrm>
              <a:off x="7689727" y="6535312"/>
              <a:ext cx="1267105" cy="5910059"/>
            </a:xfrm>
            <a:custGeom>
              <a:avLst/>
              <a:gdLst/>
              <a:ahLst/>
              <a:cxnLst/>
              <a:rect l="l" t="t" r="r" b="b"/>
              <a:pathLst>
                <a:path w="1267105" h="5910059">
                  <a:moveTo>
                    <a:pt x="0" y="5910059"/>
                  </a:moveTo>
                  <a:lnTo>
                    <a:pt x="1150278" y="5910059"/>
                  </a:lnTo>
                  <a:cubicBezTo>
                    <a:pt x="1179401" y="5910059"/>
                    <a:pt x="1207329" y="5898490"/>
                    <a:pt x="1227921" y="5877898"/>
                  </a:cubicBezTo>
                  <a:cubicBezTo>
                    <a:pt x="1248513" y="5857306"/>
                    <a:pt x="1260082" y="5829377"/>
                    <a:pt x="1260082" y="5800255"/>
                  </a:cubicBezTo>
                  <a:lnTo>
                    <a:pt x="1260082" y="223117"/>
                  </a:lnTo>
                  <a:cubicBezTo>
                    <a:pt x="1260082" y="221178"/>
                    <a:pt x="1261654" y="219606"/>
                    <a:pt x="1263593" y="219606"/>
                  </a:cubicBezTo>
                  <a:lnTo>
                    <a:pt x="1263593" y="219606"/>
                  </a:lnTo>
                  <a:cubicBezTo>
                    <a:pt x="1265533" y="219606"/>
                    <a:pt x="1267105" y="218034"/>
                    <a:pt x="1267105" y="216095"/>
                  </a:cubicBezTo>
                  <a:lnTo>
                    <a:pt x="1267105" y="0"/>
                  </a:lnTo>
                </a:path>
              </a:pathLst>
            </a:custGeom>
            <a:ln w="32026" cap="flat">
              <a:solidFill>
                <a:srgbClr val="FF2768"/>
              </a:solidFill>
              <a:prstDash val="solid"/>
              <a:headEnd type="none" w="sm" len="sm"/>
              <a:tailEnd type="arrow" w="med" len="sm"/>
            </a:ln>
          </p:spPr>
        </p:sp>
        <p:grpSp>
          <p:nvGrpSpPr>
            <p:cNvPr id="194" name="Group 194"/>
            <p:cNvGrpSpPr/>
            <p:nvPr/>
          </p:nvGrpSpPr>
          <p:grpSpPr>
            <a:xfrm>
              <a:off x="5581129" y="12915237"/>
              <a:ext cx="2142345" cy="642056"/>
              <a:chOff x="0" y="0"/>
              <a:chExt cx="1787182" cy="535631"/>
            </a:xfrm>
          </p:grpSpPr>
          <p:sp>
            <p:nvSpPr>
              <p:cNvPr id="195" name="Freeform 195"/>
              <p:cNvSpPr/>
              <p:nvPr/>
            </p:nvSpPr>
            <p:spPr>
              <a:xfrm>
                <a:off x="0" y="0"/>
                <a:ext cx="1787182" cy="535631"/>
              </a:xfrm>
              <a:custGeom>
                <a:avLst/>
                <a:gdLst/>
                <a:ahLst/>
                <a:cxnLst/>
                <a:rect l="l" t="t" r="r" b="b"/>
                <a:pathLst>
                  <a:path w="1787182" h="535631">
                    <a:moveTo>
                      <a:pt x="1787182" y="0"/>
                    </a:moveTo>
                    <a:lnTo>
                      <a:pt x="1787182" y="535631"/>
                    </a:lnTo>
                    <a:lnTo>
                      <a:pt x="0" y="535631"/>
                    </a:lnTo>
                    <a:lnTo>
                      <a:pt x="0" y="0"/>
                    </a:lnTo>
                    <a:close/>
                  </a:path>
                </a:pathLst>
              </a:custGeom>
              <a:solidFill>
                <a:srgbClr val="FFFFFF"/>
              </a:solidFill>
              <a:ln w="47625" cap="sq">
                <a:solidFill>
                  <a:srgbClr val="FF2768"/>
                </a:solidFill>
                <a:prstDash val="solid"/>
                <a:miter/>
              </a:ln>
            </p:spPr>
          </p:sp>
          <p:sp>
            <p:nvSpPr>
              <p:cNvPr id="196" name="TextBox 196"/>
              <p:cNvSpPr txBox="1"/>
              <p:nvPr/>
            </p:nvSpPr>
            <p:spPr>
              <a:xfrm>
                <a:off x="0" y="0"/>
                <a:ext cx="1787182" cy="535631"/>
              </a:xfrm>
              <a:prstGeom prst="rect">
                <a:avLst/>
              </a:prstGeom>
            </p:spPr>
            <p:txBody>
              <a:bodyPr lIns="48758" tIns="48758" rIns="48758" bIns="48758" rtlCol="0" anchor="ctr"/>
              <a:lstStyle/>
              <a:p>
                <a:pPr marL="0" lvl="0" indent="0" algn="ctr">
                  <a:lnSpc>
                    <a:spcPts val="580"/>
                  </a:lnSpc>
                  <a:spcBef>
                    <a:spcPct val="0"/>
                  </a:spcBef>
                </a:pPr>
                <a:endParaRPr/>
              </a:p>
            </p:txBody>
          </p:sp>
        </p:grpSp>
        <p:sp>
          <p:nvSpPr>
            <p:cNvPr id="197" name="TextBox 197"/>
            <p:cNvSpPr txBox="1"/>
            <p:nvPr/>
          </p:nvSpPr>
          <p:spPr>
            <a:xfrm>
              <a:off x="5651170" y="12949630"/>
              <a:ext cx="2002263" cy="553097"/>
            </a:xfrm>
            <a:prstGeom prst="rect">
              <a:avLst/>
            </a:prstGeom>
          </p:spPr>
          <p:txBody>
            <a:bodyPr lIns="0" tIns="0" rIns="0" bIns="0" rtlCol="0" anchor="t">
              <a:spAutoFit/>
            </a:bodyPr>
            <a:lstStyle/>
            <a:p>
              <a:pPr marL="0" lvl="0" indent="0" algn="ctr">
                <a:lnSpc>
                  <a:spcPts val="1613"/>
                </a:lnSpc>
                <a:spcBef>
                  <a:spcPct val="0"/>
                </a:spcBef>
              </a:pPr>
              <a:r>
                <a:rPr lang="en-US" sz="1152">
                  <a:solidFill>
                    <a:srgbClr val="000000"/>
                  </a:solidFill>
                  <a:latin typeface="Times New Roman MT"/>
                  <a:ea typeface="Times New Roman MT"/>
                  <a:cs typeface="Times New Roman MT"/>
                  <a:sym typeface="Times New Roman MT"/>
                </a:rPr>
                <a:t>Liberar wearable</a:t>
              </a:r>
            </a:p>
            <a:p>
              <a:pPr marL="0" lvl="0" indent="0" algn="ctr">
                <a:lnSpc>
                  <a:spcPts val="1613"/>
                </a:lnSpc>
                <a:spcBef>
                  <a:spcPct val="0"/>
                </a:spcBef>
              </a:pPr>
              <a:r>
                <a:rPr lang="en-US" sz="1152" u="none" strike="noStrike">
                  <a:solidFill>
                    <a:srgbClr val="000000"/>
                  </a:solidFill>
                  <a:latin typeface="Times New Roman MT"/>
                  <a:ea typeface="Times New Roman MT"/>
                  <a:cs typeface="Times New Roman MT"/>
                  <a:sym typeface="Times New Roman MT"/>
                </a:rPr>
                <a:t>del cuerpo</a:t>
              </a:r>
            </a:p>
          </p:txBody>
        </p:sp>
        <p:grpSp>
          <p:nvGrpSpPr>
            <p:cNvPr id="198" name="Group 198"/>
            <p:cNvGrpSpPr/>
            <p:nvPr/>
          </p:nvGrpSpPr>
          <p:grpSpPr>
            <a:xfrm>
              <a:off x="7737200" y="13114901"/>
              <a:ext cx="9412522" cy="232853"/>
              <a:chOff x="0" y="0"/>
              <a:chExt cx="25441427" cy="629385"/>
            </a:xfrm>
          </p:grpSpPr>
          <p:sp>
            <p:nvSpPr>
              <p:cNvPr id="199" name="Freeform 199"/>
              <p:cNvSpPr/>
              <p:nvPr/>
            </p:nvSpPr>
            <p:spPr>
              <a:xfrm>
                <a:off x="0" y="0"/>
                <a:ext cx="25441427" cy="629385"/>
              </a:xfrm>
              <a:custGeom>
                <a:avLst/>
                <a:gdLst/>
                <a:ahLst/>
                <a:cxnLst/>
                <a:rect l="l" t="t" r="r" b="b"/>
                <a:pathLst>
                  <a:path w="25441427" h="629385">
                    <a:moveTo>
                      <a:pt x="25441427" y="314693"/>
                    </a:moveTo>
                    <a:lnTo>
                      <a:pt x="25035027" y="0"/>
                    </a:lnTo>
                    <a:lnTo>
                      <a:pt x="25035027" y="203200"/>
                    </a:lnTo>
                    <a:lnTo>
                      <a:pt x="0" y="203200"/>
                    </a:lnTo>
                    <a:lnTo>
                      <a:pt x="0" y="426185"/>
                    </a:lnTo>
                    <a:lnTo>
                      <a:pt x="25035027" y="426185"/>
                    </a:lnTo>
                    <a:lnTo>
                      <a:pt x="25035027" y="629385"/>
                    </a:lnTo>
                    <a:lnTo>
                      <a:pt x="25441427" y="314693"/>
                    </a:lnTo>
                    <a:close/>
                  </a:path>
                </a:pathLst>
              </a:custGeom>
              <a:solidFill>
                <a:srgbClr val="FFFFFF"/>
              </a:solidFill>
              <a:ln w="19050" cap="sq">
                <a:solidFill>
                  <a:srgbClr val="000000"/>
                </a:solidFill>
                <a:prstDash val="solid"/>
                <a:miter/>
              </a:ln>
            </p:spPr>
          </p:sp>
          <p:sp>
            <p:nvSpPr>
              <p:cNvPr id="200" name="TextBox 200"/>
              <p:cNvSpPr txBox="1"/>
              <p:nvPr/>
            </p:nvSpPr>
            <p:spPr>
              <a:xfrm>
                <a:off x="0" y="193675"/>
                <a:ext cx="25339827" cy="232510"/>
              </a:xfrm>
              <a:prstGeom prst="rect">
                <a:avLst/>
              </a:prstGeom>
            </p:spPr>
            <p:txBody>
              <a:bodyPr lIns="17413" tIns="17413" rIns="17413" bIns="17413" rtlCol="0" anchor="ctr"/>
              <a:lstStyle/>
              <a:p>
                <a:pPr algn="ctr">
                  <a:lnSpc>
                    <a:spcPts val="207"/>
                  </a:lnSpc>
                </a:pPr>
                <a:endParaRPr/>
              </a:p>
            </p:txBody>
          </p:sp>
        </p:grpSp>
        <p:sp>
          <p:nvSpPr>
            <p:cNvPr id="201" name="TextBox 201"/>
            <p:cNvSpPr txBox="1"/>
            <p:nvPr/>
          </p:nvSpPr>
          <p:spPr>
            <a:xfrm>
              <a:off x="17163447" y="13067276"/>
              <a:ext cx="2850598" cy="270602"/>
            </a:xfrm>
            <a:prstGeom prst="rect">
              <a:avLst/>
            </a:prstGeom>
          </p:spPr>
          <p:txBody>
            <a:bodyPr lIns="0" tIns="0" rIns="0" bIns="0" rtlCol="0" anchor="t">
              <a:spAutoFit/>
            </a:bodyPr>
            <a:lstStyle/>
            <a:p>
              <a:pPr marL="0" lvl="0" indent="0" algn="l">
                <a:lnSpc>
                  <a:spcPts val="1562"/>
                </a:lnSpc>
                <a:spcBef>
                  <a:spcPct val="0"/>
                </a:spcBef>
              </a:pPr>
              <a:r>
                <a:rPr lang="en-US" sz="1116" b="1">
                  <a:solidFill>
                    <a:srgbClr val="000000"/>
                  </a:solidFill>
                  <a:latin typeface="Times New Roman MT Bold"/>
                  <a:ea typeface="Times New Roman MT Bold"/>
                  <a:cs typeface="Times New Roman MT Bold"/>
                  <a:sym typeface="Times New Roman MT Bold"/>
                </a:rPr>
                <a:t>Cuerpo de paciente liberado</a:t>
              </a:r>
            </a:p>
          </p:txBody>
        </p:sp>
        <p:sp>
          <p:nvSpPr>
            <p:cNvPr id="202" name="Freeform 202"/>
            <p:cNvSpPr/>
            <p:nvPr/>
          </p:nvSpPr>
          <p:spPr>
            <a:xfrm>
              <a:off x="11653033" y="4755210"/>
              <a:ext cx="6760090" cy="0"/>
            </a:xfrm>
            <a:custGeom>
              <a:avLst/>
              <a:gdLst/>
              <a:ahLst/>
              <a:cxnLst/>
              <a:rect l="l" t="t" r="r" b="b"/>
              <a:pathLst>
                <a:path w="6760090">
                  <a:moveTo>
                    <a:pt x="0" y="0"/>
                  </a:moveTo>
                  <a:lnTo>
                    <a:pt x="6760090" y="0"/>
                  </a:lnTo>
                </a:path>
              </a:pathLst>
            </a:custGeom>
            <a:ln w="32026" cap="flat">
              <a:solidFill>
                <a:srgbClr val="000000"/>
              </a:solidFill>
              <a:prstDash val="solid"/>
              <a:headEnd type="none" w="sm" len="sm"/>
              <a:tailEnd type="triangle" w="lg" len="med"/>
            </a:ln>
          </p:spPr>
        </p:sp>
        <p:sp>
          <p:nvSpPr>
            <p:cNvPr id="203" name="Freeform 203"/>
            <p:cNvSpPr/>
            <p:nvPr/>
          </p:nvSpPr>
          <p:spPr>
            <a:xfrm>
              <a:off x="16642390" y="4982282"/>
              <a:ext cx="1770732" cy="0"/>
            </a:xfrm>
            <a:custGeom>
              <a:avLst/>
              <a:gdLst/>
              <a:ahLst/>
              <a:cxnLst/>
              <a:rect l="l" t="t" r="r" b="b"/>
              <a:pathLst>
                <a:path w="1770732">
                  <a:moveTo>
                    <a:pt x="0" y="0"/>
                  </a:moveTo>
                  <a:lnTo>
                    <a:pt x="1770733" y="0"/>
                  </a:lnTo>
                </a:path>
              </a:pathLst>
            </a:custGeom>
            <a:ln w="32026" cap="flat">
              <a:solidFill>
                <a:srgbClr val="000000"/>
              </a:solidFill>
              <a:prstDash val="solid"/>
              <a:headEnd type="none" w="sm" len="sm"/>
              <a:tailEnd type="triangle" w="lg" len="med"/>
            </a:ln>
          </p:spPr>
        </p:sp>
        <p:sp>
          <p:nvSpPr>
            <p:cNvPr id="204" name="Freeform 204"/>
            <p:cNvSpPr/>
            <p:nvPr/>
          </p:nvSpPr>
          <p:spPr>
            <a:xfrm>
              <a:off x="16642390" y="5189386"/>
              <a:ext cx="1770732" cy="0"/>
            </a:xfrm>
            <a:custGeom>
              <a:avLst/>
              <a:gdLst/>
              <a:ahLst/>
              <a:cxnLst/>
              <a:rect l="l" t="t" r="r" b="b"/>
              <a:pathLst>
                <a:path w="1770732">
                  <a:moveTo>
                    <a:pt x="0" y="0"/>
                  </a:moveTo>
                  <a:lnTo>
                    <a:pt x="1770733" y="0"/>
                  </a:lnTo>
                </a:path>
              </a:pathLst>
            </a:custGeom>
            <a:ln w="32026" cap="flat">
              <a:solidFill>
                <a:srgbClr val="000000"/>
              </a:solidFill>
              <a:prstDash val="solid"/>
              <a:headEnd type="none" w="sm" len="sm"/>
              <a:tailEnd type="triangle" w="lg" len="med"/>
            </a:ln>
          </p:spPr>
        </p:sp>
        <p:sp>
          <p:nvSpPr>
            <p:cNvPr id="205" name="TextBox 205"/>
            <p:cNvSpPr txBox="1"/>
            <p:nvPr/>
          </p:nvSpPr>
          <p:spPr>
            <a:xfrm>
              <a:off x="18413122" y="4597674"/>
              <a:ext cx="2850598" cy="270602"/>
            </a:xfrm>
            <a:prstGeom prst="rect">
              <a:avLst/>
            </a:prstGeom>
          </p:spPr>
          <p:txBody>
            <a:bodyPr lIns="0" tIns="0" rIns="0" bIns="0" rtlCol="0" anchor="t">
              <a:spAutoFit/>
            </a:bodyPr>
            <a:lstStyle/>
            <a:p>
              <a:pPr marL="0" lvl="0" indent="0" algn="l">
                <a:lnSpc>
                  <a:spcPts val="1562"/>
                </a:lnSpc>
                <a:spcBef>
                  <a:spcPct val="0"/>
                </a:spcBef>
              </a:pPr>
              <a:r>
                <a:rPr lang="en-US" sz="1116" b="1">
                  <a:solidFill>
                    <a:srgbClr val="000000"/>
                  </a:solidFill>
                  <a:latin typeface="Times New Roman MT Bold"/>
                  <a:ea typeface="Times New Roman MT Bold"/>
                  <a:cs typeface="Times New Roman MT Bold"/>
                  <a:sym typeface="Times New Roman MT Bold"/>
                </a:rPr>
                <a:t>Calor</a:t>
              </a:r>
            </a:p>
          </p:txBody>
        </p:sp>
        <p:sp>
          <p:nvSpPr>
            <p:cNvPr id="206" name="TextBox 206"/>
            <p:cNvSpPr txBox="1"/>
            <p:nvPr/>
          </p:nvSpPr>
          <p:spPr>
            <a:xfrm>
              <a:off x="18413122" y="4823168"/>
              <a:ext cx="2850598" cy="270602"/>
            </a:xfrm>
            <a:prstGeom prst="rect">
              <a:avLst/>
            </a:prstGeom>
          </p:spPr>
          <p:txBody>
            <a:bodyPr lIns="0" tIns="0" rIns="0" bIns="0" rtlCol="0" anchor="t">
              <a:spAutoFit/>
            </a:bodyPr>
            <a:lstStyle/>
            <a:p>
              <a:pPr marL="0" lvl="0" indent="0" algn="l">
                <a:lnSpc>
                  <a:spcPts val="1562"/>
                </a:lnSpc>
                <a:spcBef>
                  <a:spcPct val="0"/>
                </a:spcBef>
              </a:pPr>
              <a:r>
                <a:rPr lang="en-US" sz="1116" b="1">
                  <a:solidFill>
                    <a:srgbClr val="000000"/>
                  </a:solidFill>
                  <a:latin typeface="Times New Roman MT Bold"/>
                  <a:ea typeface="Times New Roman MT Bold"/>
                  <a:cs typeface="Times New Roman MT Bold"/>
                  <a:sym typeface="Times New Roman MT Bold"/>
                </a:rPr>
                <a:t>Vibración</a:t>
              </a:r>
            </a:p>
          </p:txBody>
        </p:sp>
        <p:sp>
          <p:nvSpPr>
            <p:cNvPr id="207" name="TextBox 207"/>
            <p:cNvSpPr txBox="1"/>
            <p:nvPr/>
          </p:nvSpPr>
          <p:spPr>
            <a:xfrm>
              <a:off x="18413122" y="5032339"/>
              <a:ext cx="2850598" cy="270602"/>
            </a:xfrm>
            <a:prstGeom prst="rect">
              <a:avLst/>
            </a:prstGeom>
          </p:spPr>
          <p:txBody>
            <a:bodyPr lIns="0" tIns="0" rIns="0" bIns="0" rtlCol="0" anchor="t">
              <a:spAutoFit/>
            </a:bodyPr>
            <a:lstStyle/>
            <a:p>
              <a:pPr marL="0" lvl="0" indent="0" algn="l">
                <a:lnSpc>
                  <a:spcPts val="1562"/>
                </a:lnSpc>
                <a:spcBef>
                  <a:spcPct val="0"/>
                </a:spcBef>
              </a:pPr>
              <a:r>
                <a:rPr lang="en-US" sz="1116" b="1">
                  <a:solidFill>
                    <a:srgbClr val="000000"/>
                  </a:solidFill>
                  <a:latin typeface="Times New Roman MT Bold"/>
                  <a:ea typeface="Times New Roman MT Bold"/>
                  <a:cs typeface="Times New Roman MT Bold"/>
                  <a:sym typeface="Times New Roman MT Bold"/>
                </a:rPr>
                <a:t>Ruido</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8518" b="-68518"/>
            </a:stretch>
          </a:blipFill>
        </p:spPr>
      </p:sp>
      <p:grpSp>
        <p:nvGrpSpPr>
          <p:cNvPr id="3" name="Group 3"/>
          <p:cNvGrpSpPr/>
          <p:nvPr/>
        </p:nvGrpSpPr>
        <p:grpSpPr>
          <a:xfrm>
            <a:off x="14049576" y="9627061"/>
            <a:ext cx="4238424" cy="2698967"/>
            <a:chOff x="0" y="0"/>
            <a:chExt cx="5651233" cy="3598622"/>
          </a:xfrm>
        </p:grpSpPr>
        <p:grpSp>
          <p:nvGrpSpPr>
            <p:cNvPr id="4" name="Group 4"/>
            <p:cNvGrpSpPr/>
            <p:nvPr/>
          </p:nvGrpSpPr>
          <p:grpSpPr>
            <a:xfrm>
              <a:off x="0" y="0"/>
              <a:ext cx="3666521" cy="3598622"/>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ln w="9525" cap="sq">
                <a:solidFill>
                  <a:srgbClr val="000000"/>
                </a:solidFill>
                <a:prstDash val="solid"/>
                <a:miter/>
              </a:ln>
            </p:spPr>
          </p:sp>
          <p:sp>
            <p:nvSpPr>
              <p:cNvPr id="6" name="TextBox 6"/>
              <p:cNvSpPr txBox="1"/>
              <p:nvPr/>
            </p:nvSpPr>
            <p:spPr>
              <a:xfrm>
                <a:off x="203200" y="155575"/>
                <a:ext cx="279400" cy="327025"/>
              </a:xfrm>
              <a:prstGeom prst="rect">
                <a:avLst/>
              </a:prstGeom>
            </p:spPr>
            <p:txBody>
              <a:bodyPr lIns="50577" tIns="50577" rIns="50577" bIns="50577" rtlCol="0" anchor="ctr"/>
              <a:lstStyle/>
              <a:p>
                <a:pPr algn="ctr">
                  <a:lnSpc>
                    <a:spcPts val="2090"/>
                  </a:lnSpc>
                </a:pPr>
                <a:endParaRPr/>
              </a:p>
            </p:txBody>
          </p:sp>
        </p:grpSp>
        <p:grpSp>
          <p:nvGrpSpPr>
            <p:cNvPr id="7" name="Group 7"/>
            <p:cNvGrpSpPr/>
            <p:nvPr/>
          </p:nvGrpSpPr>
          <p:grpSpPr>
            <a:xfrm rot="1693629">
              <a:off x="4331788" y="1046339"/>
              <a:ext cx="1119511" cy="1126926"/>
              <a:chOff x="0" y="0"/>
              <a:chExt cx="685800" cy="690880"/>
            </a:xfrm>
          </p:grpSpPr>
          <p:sp>
            <p:nvSpPr>
              <p:cNvPr id="8" name="Freeform 8"/>
              <p:cNvSpPr/>
              <p:nvPr/>
            </p:nvSpPr>
            <p:spPr>
              <a:xfrm>
                <a:off x="0" y="0"/>
                <a:ext cx="685800" cy="692150"/>
              </a:xfrm>
              <a:custGeom>
                <a:avLst/>
                <a:gdLst/>
                <a:ahLst/>
                <a:cxnLst/>
                <a:rect l="l" t="t" r="r" b="b"/>
                <a:pathLst>
                  <a:path w="685800" h="692150">
                    <a:moveTo>
                      <a:pt x="342900" y="0"/>
                    </a:moveTo>
                    <a:lnTo>
                      <a:pt x="386080" y="239249"/>
                    </a:lnTo>
                    <a:lnTo>
                      <a:pt x="585470" y="101073"/>
                    </a:lnTo>
                    <a:lnTo>
                      <a:pt x="448310" y="301940"/>
                    </a:lnTo>
                    <a:lnTo>
                      <a:pt x="685800" y="345440"/>
                    </a:lnTo>
                    <a:lnTo>
                      <a:pt x="448310" y="390219"/>
                    </a:lnTo>
                    <a:lnTo>
                      <a:pt x="585470" y="589807"/>
                    </a:lnTo>
                    <a:lnTo>
                      <a:pt x="386080" y="451631"/>
                    </a:lnTo>
                    <a:lnTo>
                      <a:pt x="342900" y="692150"/>
                    </a:lnTo>
                    <a:lnTo>
                      <a:pt x="299720" y="451631"/>
                    </a:lnTo>
                    <a:lnTo>
                      <a:pt x="100330" y="589807"/>
                    </a:lnTo>
                    <a:lnTo>
                      <a:pt x="237490" y="390219"/>
                    </a:lnTo>
                    <a:lnTo>
                      <a:pt x="0" y="345440"/>
                    </a:lnTo>
                    <a:lnTo>
                      <a:pt x="237490" y="301940"/>
                    </a:lnTo>
                    <a:lnTo>
                      <a:pt x="100330" y="101073"/>
                    </a:lnTo>
                    <a:lnTo>
                      <a:pt x="299720" y="239249"/>
                    </a:lnTo>
                    <a:close/>
                  </a:path>
                </a:pathLst>
              </a:custGeom>
              <a:ln w="9525" cap="sq">
                <a:solidFill>
                  <a:srgbClr val="000000"/>
                </a:solidFill>
                <a:prstDash val="solid"/>
                <a:miter/>
              </a:ln>
            </p:spPr>
          </p:sp>
          <p:sp>
            <p:nvSpPr>
              <p:cNvPr id="9" name="TextBox 9"/>
              <p:cNvSpPr txBox="1"/>
              <p:nvPr/>
            </p:nvSpPr>
            <p:spPr>
              <a:xfrm>
                <a:off x="237573" y="192081"/>
                <a:ext cx="210654" cy="259839"/>
              </a:xfrm>
              <a:prstGeom prst="rect">
                <a:avLst/>
              </a:prstGeom>
            </p:spPr>
            <p:txBody>
              <a:bodyPr lIns="50577" tIns="50577" rIns="50577" bIns="50577" rtlCol="0" anchor="ctr"/>
              <a:lstStyle/>
              <a:p>
                <a:pPr algn="ctr">
                  <a:lnSpc>
                    <a:spcPts val="2090"/>
                  </a:lnSpc>
                </a:pPr>
                <a:endParaRPr/>
              </a:p>
            </p:txBody>
          </p:sp>
        </p:grpSp>
        <p:grpSp>
          <p:nvGrpSpPr>
            <p:cNvPr id="10" name="Group 10"/>
            <p:cNvGrpSpPr/>
            <p:nvPr/>
          </p:nvGrpSpPr>
          <p:grpSpPr>
            <a:xfrm rot="78808">
              <a:off x="3863834" y="6073"/>
              <a:ext cx="536041" cy="540597"/>
              <a:chOff x="0" y="0"/>
              <a:chExt cx="685800" cy="693420"/>
            </a:xfrm>
          </p:grpSpPr>
          <p:sp>
            <p:nvSpPr>
              <p:cNvPr id="11" name="Freeform 11"/>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2" name="TextBox 12"/>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
        <p:nvSpPr>
          <p:cNvPr id="13" name="TextBox 13"/>
          <p:cNvSpPr txBox="1"/>
          <p:nvPr/>
        </p:nvSpPr>
        <p:spPr>
          <a:xfrm>
            <a:off x="7077102" y="345758"/>
            <a:ext cx="4133795" cy="1127760"/>
          </a:xfrm>
          <a:prstGeom prst="rect">
            <a:avLst/>
          </a:prstGeom>
        </p:spPr>
        <p:txBody>
          <a:bodyPr lIns="0" tIns="0" rIns="0" bIns="0" rtlCol="0" anchor="t">
            <a:spAutoFit/>
          </a:bodyPr>
          <a:lstStyle/>
          <a:p>
            <a:pPr marL="0" lvl="0" indent="0" algn="l">
              <a:lnSpc>
                <a:spcPts val="9240"/>
              </a:lnSpc>
              <a:spcBef>
                <a:spcPct val="0"/>
              </a:spcBef>
            </a:pPr>
            <a:r>
              <a:rPr lang="en-US" sz="6600" spc="224">
                <a:solidFill>
                  <a:srgbClr val="000000"/>
                </a:solidFill>
                <a:latin typeface="Eyesome Script"/>
                <a:ea typeface="Eyesome Script"/>
                <a:cs typeface="Eyesome Script"/>
                <a:sym typeface="Eyesome Script"/>
              </a:rPr>
              <a:t>Referencias</a:t>
            </a:r>
          </a:p>
        </p:txBody>
      </p:sp>
      <p:sp>
        <p:nvSpPr>
          <p:cNvPr id="14" name="TextBox 14"/>
          <p:cNvSpPr txBox="1"/>
          <p:nvPr/>
        </p:nvSpPr>
        <p:spPr>
          <a:xfrm>
            <a:off x="891185" y="1893822"/>
            <a:ext cx="16505631" cy="7431153"/>
          </a:xfrm>
          <a:prstGeom prst="rect">
            <a:avLst/>
          </a:prstGeom>
        </p:spPr>
        <p:txBody>
          <a:bodyPr lIns="0" tIns="0" rIns="0" bIns="0" rtlCol="0" anchor="t">
            <a:spAutoFit/>
          </a:bodyPr>
          <a:lstStyle/>
          <a:p>
            <a:pPr algn="l">
              <a:lnSpc>
                <a:spcPts val="1205"/>
              </a:lnSpc>
            </a:pPr>
            <a:r>
              <a:rPr lang="en-US" sz="860">
                <a:solidFill>
                  <a:srgbClr val="000000"/>
                </a:solidFill>
                <a:latin typeface="Open Sans"/>
                <a:ea typeface="Open Sans"/>
                <a:cs typeface="Open Sans"/>
                <a:sym typeface="Open Sans"/>
              </a:rPr>
              <a:t>[1] M. Singer, C. S. Deutschman, C. W. Seymour, M. Shankar-Hari, D. Annane, M. Bauer, R. Bellomo, G. R. Bernard, J.-D. Chiche, C. M. Coopersmith, R. S. Hotchkiss, M. M. Levy, J. C. Marshall, G. S. Martin, S. M. Opal, G. D. Rubenfeld, T. van der Poll, J.-L. Vincent, and D. C. Angus, "The Third International Consensus Definitions for Sepsis and Septic Shock (Sepsis-3)," JAMA, vol. 315, no. 8, pp. 801–810, Feb. 2016, doi: 10.1001/jama.2016.0287.</a:t>
            </a:r>
          </a:p>
          <a:p>
            <a:pPr algn="l">
              <a:lnSpc>
                <a:spcPts val="1205"/>
              </a:lnSpc>
            </a:pPr>
            <a:r>
              <a:rPr lang="en-US" sz="860">
                <a:solidFill>
                  <a:srgbClr val="000000"/>
                </a:solidFill>
                <a:latin typeface="Open Sans"/>
                <a:ea typeface="Open Sans"/>
                <a:cs typeface="Open Sans"/>
                <a:sym typeface="Open Sans"/>
              </a:rPr>
              <a:t>[2] M. Shankar-Hari, G. S. Phillips, M. L. Levy, C. W. Seymour, V. X. Liu, C. S. Deutschman, D. C. Angus, G. D. Rubenfeld, and M. Singer, "Developing a New Definition and Assessing New Clinical Criteria for Septic Shock," JAMA, vol. 315, no. 8, pp. 775–787, Feb. 2016, doi: 10.1001/jama.2016.0289.</a:t>
            </a:r>
          </a:p>
          <a:p>
            <a:pPr algn="l">
              <a:lnSpc>
                <a:spcPts val="1205"/>
              </a:lnSpc>
            </a:pPr>
            <a:r>
              <a:rPr lang="en-US" sz="860">
                <a:solidFill>
                  <a:srgbClr val="000000"/>
                </a:solidFill>
                <a:latin typeface="Open Sans"/>
                <a:ea typeface="Open Sans"/>
                <a:cs typeface="Open Sans"/>
                <a:sym typeface="Open Sans"/>
              </a:rPr>
              <a:t>[3] GBD 2021 Global Sepsis Collaborators, "Global, regional, and national sepsis incidence and mortality, 1990–2021: a systematic analysis for the Global Burden of Disease Study 2021," The Lancet Global Health, vol. 13, no. 12, pp. e2013–e2026, Dec. 2025, doi: 10.1016/S2214-109X(25)00356-0.</a:t>
            </a:r>
          </a:p>
          <a:p>
            <a:pPr algn="l">
              <a:lnSpc>
                <a:spcPts val="1205"/>
              </a:lnSpc>
            </a:pPr>
            <a:r>
              <a:rPr lang="en-US" sz="860">
                <a:solidFill>
                  <a:srgbClr val="000000"/>
                </a:solidFill>
                <a:latin typeface="Open Sans"/>
                <a:ea typeface="Open Sans"/>
                <a:cs typeface="Open Sans"/>
                <a:sym typeface="Open Sans"/>
              </a:rPr>
              <a:t>[4] K. Reinhart, R. Daniels, N. Kissoon, F. R. Machado, R. D. Schachter, and S. Finfer, "Recognizing Sepsis as a Global Health Priority — A WHO Resolution," New England Journal of Medicine, vol. 377, no. 5, pp. 414–417, Aug. 2017, doi: 10.1056/NEJMp1707170.</a:t>
            </a:r>
          </a:p>
          <a:p>
            <a:pPr algn="l">
              <a:lnSpc>
                <a:spcPts val="1205"/>
              </a:lnSpc>
            </a:pPr>
            <a:r>
              <a:rPr lang="en-US" sz="860">
                <a:solidFill>
                  <a:srgbClr val="000000"/>
                </a:solidFill>
                <a:latin typeface="Open Sans"/>
                <a:ea typeface="Open Sans"/>
                <a:cs typeface="Open Sans"/>
                <a:sym typeface="Open Sans"/>
              </a:rPr>
              <a:t>[5] C. Paoli, M. A. Reynolds, M. Sinha, M. Gitlin, and E. Crouser, "Epidemiology and Costs of Sepsis in the United States—An Analysis Based on Timing of Diagnosis and Severity Level," Critical Care Medicine, vol. 46, no. 12, pp. 1889–1897, Dec. 2018, doi: 10.1097/CCM.0000000000003342.</a:t>
            </a:r>
          </a:p>
          <a:p>
            <a:pPr algn="l">
              <a:lnSpc>
                <a:spcPts val="1205"/>
              </a:lnSpc>
            </a:pPr>
            <a:r>
              <a:rPr lang="en-US" sz="860">
                <a:solidFill>
                  <a:srgbClr val="000000"/>
                </a:solidFill>
                <a:latin typeface="Open Sans"/>
                <a:ea typeface="Open Sans"/>
                <a:cs typeface="Open Sans"/>
                <a:sym typeface="Open Sans"/>
              </a:rPr>
              <a:t>[6] R. Capp, C. L. Horton, S. S. Takhar, et al., "Predictors of Patients Who Present to the Emergency Department With Sepsis and Progress to Septic Shock Between 4 and 48 Hours of Emergency Department Arrival," Critical Care Medicine, vol. 43, no. 5, pp. 983–988, May 2015, doi: 10.1097/CCM.0000000000000861.</a:t>
            </a:r>
          </a:p>
          <a:p>
            <a:pPr algn="l">
              <a:lnSpc>
                <a:spcPts val="1205"/>
              </a:lnSpc>
            </a:pPr>
            <a:r>
              <a:rPr lang="en-US" sz="860">
                <a:solidFill>
                  <a:srgbClr val="000000"/>
                </a:solidFill>
                <a:latin typeface="Open Sans"/>
                <a:ea typeface="Open Sans"/>
                <a:cs typeface="Open Sans"/>
                <a:sym typeface="Open Sans"/>
              </a:rPr>
              <a:t>[7] A. Kumar, D. Roberts, K. E. Wood, et al., "Duration of hypotension before initiation of effective antimicrobial therapy is the critical determinant of survival in human septic shock," Critical Care Medicine, vol. 34, no. 6, pp. 1589–1596, Jun. 2006, doi: 10.1097/01.CCM.0000217961.75225.E9.</a:t>
            </a:r>
          </a:p>
          <a:p>
            <a:pPr algn="l">
              <a:lnSpc>
                <a:spcPts val="1205"/>
              </a:lnSpc>
            </a:pPr>
            <a:r>
              <a:rPr lang="en-US" sz="860">
                <a:solidFill>
                  <a:srgbClr val="000000"/>
                </a:solidFill>
                <a:latin typeface="Open Sans"/>
                <a:ea typeface="Open Sans"/>
                <a:cs typeface="Open Sans"/>
                <a:sym typeface="Open Sans"/>
              </a:rPr>
              <a:t>[8] R. Bisarya, X. Song, J. Salle, et al., "Antibiotic Timing and Progression to Septic Shock Among Patients in the ED With Suspected Infection," CHEST, vol. 161, no. 1, pp. 112–120, 2022, doi: 10.1016/j.chest.2021.06.029.</a:t>
            </a:r>
          </a:p>
          <a:p>
            <a:pPr algn="l">
              <a:lnSpc>
                <a:spcPts val="1205"/>
              </a:lnSpc>
            </a:pPr>
            <a:r>
              <a:rPr lang="en-US" sz="860">
                <a:solidFill>
                  <a:srgbClr val="000000"/>
                </a:solidFill>
                <a:latin typeface="Open Sans"/>
                <a:ea typeface="Open Sans"/>
                <a:cs typeface="Open Sans"/>
                <a:sym typeface="Open Sans"/>
              </a:rPr>
              <a:t>[9] S. B. Asiimwe, S. Okello, and C. C. Moore, "Frequency of Vital Signs Monitoring and its Association with Mortality among Adults with Severe Sepsis Admitted to a General Medical Ward in Uganda," PLoS ONE, vol. 9, no. 2, e89879, 2014, doi: 10.1371/journal.pone.0089879.</a:t>
            </a:r>
          </a:p>
          <a:p>
            <a:pPr algn="l">
              <a:lnSpc>
                <a:spcPts val="1205"/>
              </a:lnSpc>
            </a:pPr>
            <a:r>
              <a:rPr lang="en-US" sz="860">
                <a:solidFill>
                  <a:srgbClr val="000000"/>
                </a:solidFill>
                <a:latin typeface="Open Sans"/>
                <a:ea typeface="Open Sans"/>
                <a:cs typeface="Open Sans"/>
                <a:sym typeface="Open Sans"/>
              </a:rPr>
              <a:t>[10] L. S. van Galen, P. W. Struik, B. E. J. M. Driesen, et al., "Delayed Recognition of Deterioration of Patients in General Wards Is Mostly Caused by Human Related Monitoring Failures: A Root Cause Analysis of Unplanned ICU Admissions," PLOS ONE, vol. 11, no. 8, e0161393, Aug. 2016, doi: 10.1371/journal.pone.0161393.</a:t>
            </a:r>
          </a:p>
          <a:p>
            <a:pPr algn="l">
              <a:lnSpc>
                <a:spcPts val="1205"/>
              </a:lnSpc>
            </a:pPr>
            <a:r>
              <a:rPr lang="en-US" sz="860">
                <a:solidFill>
                  <a:srgbClr val="000000"/>
                </a:solidFill>
                <a:latin typeface="Open Sans"/>
                <a:ea typeface="Open Sans"/>
                <a:cs typeface="Open Sans"/>
                <a:sym typeface="Open Sans"/>
              </a:rPr>
              <a:t>[11] C. Rhee, R. Wang, Z. Zhang, D. Fram, S. S. Kadri, and M. Klompas, "Epidemiology of Hospital-Onset Versus Community-Onset Sepsis in U.S. Hospitals and Association With Mortality: A Retrospective Analysis Using Electronic Clinical Data," Critical Care Medicine, vol. 47, no. 9, pp. 1169–1176, Sep. 2019, doi: 10.1097/CCM.0000000000003817.</a:t>
            </a:r>
          </a:p>
          <a:p>
            <a:pPr algn="l">
              <a:lnSpc>
                <a:spcPts val="1205"/>
              </a:lnSpc>
            </a:pPr>
            <a:r>
              <a:rPr lang="en-US" sz="860">
                <a:solidFill>
                  <a:srgbClr val="000000"/>
                </a:solidFill>
                <a:latin typeface="Open Sans"/>
                <a:ea typeface="Open Sans"/>
                <a:cs typeface="Open Sans"/>
                <a:sym typeface="Open Sans"/>
              </a:rPr>
              <a:t>[12] J. C. Ginestra, A. O. Coz Yataco, S. P. Dugar, and M. R. Dettmer, "Hospital-Onset Sepsis Warrants Expanded Investigation and Consideration as a Unique Clinical Entity," CHEST, vol. 165, no. 6, pp. 1421–1430, 2024, doi: 10.1016/j.chest.2024.01.028.</a:t>
            </a:r>
          </a:p>
          <a:p>
            <a:pPr algn="l">
              <a:lnSpc>
                <a:spcPts val="1205"/>
              </a:lnSpc>
            </a:pPr>
            <a:r>
              <a:rPr lang="en-US" sz="860">
                <a:solidFill>
                  <a:srgbClr val="000000"/>
                </a:solidFill>
                <a:latin typeface="Open Sans"/>
                <a:ea typeface="Open Sans"/>
                <a:cs typeface="Open Sans"/>
                <a:sym typeface="Open Sans"/>
              </a:rPr>
              <a:t>[13] G. Monti, E. Rezoagli, A. Calini, et al., "Effect of a quality improvement program on compliance to the sepsis bundle in non-ICU patients: a multicenter prospective before and after cohort study," Frontiers in Medicine, vol. 10, art. 1215341, 2023, doi: 10.3389/fmed.2023.1215341.</a:t>
            </a:r>
          </a:p>
          <a:p>
            <a:pPr algn="l">
              <a:lnSpc>
                <a:spcPts val="1205"/>
              </a:lnSpc>
            </a:pPr>
            <a:r>
              <a:rPr lang="en-US" sz="860">
                <a:solidFill>
                  <a:srgbClr val="000000"/>
                </a:solidFill>
                <a:latin typeface="Open Sans"/>
                <a:ea typeface="Open Sans"/>
                <a:cs typeface="Open Sans"/>
                <a:sym typeface="Open Sans"/>
              </a:rPr>
              <a:t>[14] R. A. Quintano Neira, S. Hamacher, and A. M. Japiassú, "Epidemiology of sepsis in Brazil: Incidence, lethality, costs, and other indicators for Brazilian Unified Health System hospitalizations from 2006 to 2015," PLOS ONE, vol. 13, no. 4, e0195873, Apr. 2018, doi: 10.1371/journal.pone.0195873.</a:t>
            </a:r>
          </a:p>
          <a:p>
            <a:pPr algn="l">
              <a:lnSpc>
                <a:spcPts val="1205"/>
              </a:lnSpc>
            </a:pPr>
            <a:r>
              <a:rPr lang="en-US" sz="860">
                <a:solidFill>
                  <a:srgbClr val="000000"/>
                </a:solidFill>
                <a:latin typeface="Open Sans"/>
                <a:ea typeface="Open Sans"/>
                <a:cs typeface="Open Sans"/>
                <a:sym typeface="Open Sans"/>
              </a:rPr>
              <a:t>[15] R. Ayala-García and L. Huamaní-Huamán, "Sepsis en Perú," Interciencia Médica, vol. 13, no. 4, pp. 51–52, 2023, doi: 10.56838/icmed.v13i4.182.</a:t>
            </a:r>
          </a:p>
          <a:p>
            <a:pPr algn="l">
              <a:lnSpc>
                <a:spcPts val="1205"/>
              </a:lnSpc>
            </a:pPr>
            <a:r>
              <a:rPr lang="en-US" sz="860">
                <a:solidFill>
                  <a:srgbClr val="000000"/>
                </a:solidFill>
                <a:latin typeface="Open Sans"/>
                <a:ea typeface="Open Sans"/>
                <a:cs typeface="Open Sans"/>
                <a:sym typeface="Open Sans"/>
              </a:rPr>
              <a:t>[16] M. M. Soliman et al., «Parsimonious waveform-derived features consisting of pulse arrival time and heart rate variability predicts the onset of septic shock», Biomed. Signal Process. Control, vol. 92, p. 105974, jun. 2024, doi: 10.1016/j.bspc.2024.105974.</a:t>
            </a:r>
          </a:p>
          <a:p>
            <a:pPr algn="l">
              <a:lnSpc>
                <a:spcPts val="1205"/>
              </a:lnSpc>
            </a:pPr>
            <a:r>
              <a:rPr lang="en-US" sz="860">
                <a:solidFill>
                  <a:srgbClr val="000000"/>
                </a:solidFill>
                <a:latin typeface="Open Sans"/>
                <a:ea typeface="Open Sans"/>
                <a:cs typeface="Open Sans"/>
                <a:sym typeface="Open Sans"/>
              </a:rPr>
              <a:t>[17] A. Choi, K. Chung, S. P. Chung, K. Lee, H. Hyun, and J. H. Kim, "Advantage of Vital Sign Monitoring Using a Wireless Wearable Device for Predicting Septic Shock in Febrile Patients in the Emergency Department: A Machine Learning-Based Analysis," Sensors, vol. 22, no. 18, p. 7054, Sep. 2022, doi: 10.3390/s22187054.</a:t>
            </a:r>
          </a:p>
          <a:p>
            <a:pPr algn="l">
              <a:lnSpc>
                <a:spcPts val="1205"/>
              </a:lnSpc>
            </a:pPr>
            <a:r>
              <a:rPr lang="en-US" sz="860">
                <a:solidFill>
                  <a:srgbClr val="000000"/>
                </a:solidFill>
                <a:latin typeface="Open Sans"/>
                <a:ea typeface="Open Sans"/>
                <a:cs typeface="Open Sans"/>
                <a:sym typeface="Open Sans"/>
              </a:rPr>
              <a:t>[18] «Data-driven discovery of a novel sepsis pre-shock state predicts impending septic shock in the ICU | Scientific Reports». Accedido: 18 de septiembre de 2026. [En línea]. Disponible en: https://www.nature.com/articles/s41598-019-42637-5</a:t>
            </a:r>
          </a:p>
          <a:p>
            <a:pPr algn="l">
              <a:lnSpc>
                <a:spcPts val="1205"/>
              </a:lnSpc>
            </a:pPr>
            <a:r>
              <a:rPr lang="en-US" sz="860">
                <a:solidFill>
                  <a:srgbClr val="000000"/>
                </a:solidFill>
                <a:latin typeface="Open Sans"/>
                <a:ea typeface="Open Sans"/>
                <a:cs typeface="Open Sans"/>
                <a:sym typeface="Open Sans"/>
              </a:rPr>
              <a:t>[19] R. Quinn and W.-J. Tan, "Systems and methods for sepsis detection and monitoring," U.S. Patent Application 2021/0052218 A1, Feb. 25, 2021.</a:t>
            </a:r>
          </a:p>
          <a:p>
            <a:pPr algn="l">
              <a:lnSpc>
                <a:spcPts val="1205"/>
              </a:lnSpc>
            </a:pPr>
            <a:r>
              <a:rPr lang="en-US" sz="860">
                <a:solidFill>
                  <a:srgbClr val="000000"/>
                </a:solidFill>
                <a:latin typeface="Open Sans"/>
                <a:ea typeface="Open Sans"/>
                <a:cs typeface="Open Sans"/>
                <a:sym typeface="Open Sans"/>
              </a:rPr>
              <a:t>[20] S. Prasad, S. Nandakumar, B. Kannan, M. Kumar, and A. Suryavanshi, "Sepsis monitoring device," World Intellectual Property Organization Patent WO 2024/148047 A1, Jul. 11, 2024.</a:t>
            </a:r>
          </a:p>
          <a:p>
            <a:pPr algn="l">
              <a:lnSpc>
                <a:spcPts val="1205"/>
              </a:lnSpc>
            </a:pPr>
            <a:r>
              <a:rPr lang="en-US" sz="860">
                <a:solidFill>
                  <a:srgbClr val="000000"/>
                </a:solidFill>
                <a:latin typeface="Open Sans"/>
                <a:ea typeface="Open Sans"/>
                <a:cs typeface="Open Sans"/>
                <a:sym typeface="Open Sans"/>
              </a:rPr>
              <a:t>[21] N. Liu and M. E. Ong, "Methods and systems for sepsis risk stratification," World Intellectual Property Organization Patent WO 2023/128863 A2, Jul. 6, 2023.</a:t>
            </a:r>
          </a:p>
          <a:p>
            <a:pPr algn="l">
              <a:lnSpc>
                <a:spcPts val="1205"/>
              </a:lnSpc>
            </a:pPr>
            <a:r>
              <a:rPr lang="en-US" sz="860">
                <a:solidFill>
                  <a:srgbClr val="000000"/>
                </a:solidFill>
                <a:latin typeface="Open Sans"/>
                <a:ea typeface="Open Sans"/>
                <a:cs typeface="Open Sans"/>
                <a:sym typeface="Open Sans"/>
              </a:rPr>
              <a:t>[22] J. Carrera Fabra, R. Bru Gibert, and R. M. Ivey, "Sistemas y métodos para la detección de sepsis y tratamiento de los pacientes," Spain Patent Application ES 2 978 358 A1, Sep. 11, 2024.</a:t>
            </a:r>
          </a:p>
          <a:p>
            <a:pPr algn="l">
              <a:lnSpc>
                <a:spcPts val="1205"/>
              </a:lnSpc>
            </a:pPr>
            <a:r>
              <a:rPr lang="en-US" sz="860">
                <a:solidFill>
                  <a:srgbClr val="000000"/>
                </a:solidFill>
                <a:latin typeface="Open Sans"/>
                <a:ea typeface="Open Sans"/>
                <a:cs typeface="Open Sans"/>
                <a:sym typeface="Open Sans"/>
              </a:rPr>
              <a:t>[23] R. L. Winslow, S. V. Sarma, and R. Liu, "Early diagnosis and treatment methods for pending septic shock," U.S. Patent Application 2023/0078248 A1, Mar. 16, 2023.</a:t>
            </a:r>
          </a:p>
          <a:p>
            <a:pPr algn="l">
              <a:lnSpc>
                <a:spcPts val="1205"/>
              </a:lnSpc>
            </a:pPr>
            <a:r>
              <a:rPr lang="en-US" sz="860">
                <a:solidFill>
                  <a:srgbClr val="000000"/>
                </a:solidFill>
                <a:latin typeface="Open Sans"/>
                <a:ea typeface="Open Sans"/>
                <a:cs typeface="Open Sans"/>
                <a:sym typeface="Open Sans"/>
              </a:rPr>
              <a:t>[24] O. Gajic and V. Herasevich, "Sepsis monitoring and control," U.S. Patent 8,527,449 B2, Sep. 3, 2013.</a:t>
            </a:r>
          </a:p>
          <a:p>
            <a:pPr algn="l">
              <a:lnSpc>
                <a:spcPts val="1205"/>
              </a:lnSpc>
            </a:pPr>
            <a:r>
              <a:rPr lang="en-US" sz="860">
                <a:solidFill>
                  <a:srgbClr val="000000"/>
                </a:solidFill>
                <a:latin typeface="Open Sans"/>
                <a:ea typeface="Open Sans"/>
                <a:cs typeface="Open Sans"/>
                <a:sym typeface="Open Sans"/>
              </a:rPr>
              <a:t>[25] Zephyr Technology Corporation, "ZephyrLIFE™," Product Catalog. [Online]. Available: https://pdf.medicalexpo.com/pdf/zephyr/zephyr-life/83995-97425.html.</a:t>
            </a:r>
          </a:p>
          <a:p>
            <a:pPr algn="l">
              <a:lnSpc>
                <a:spcPts val="1205"/>
              </a:lnSpc>
            </a:pPr>
            <a:r>
              <a:rPr lang="en-US" sz="860">
                <a:solidFill>
                  <a:srgbClr val="000000"/>
                </a:solidFill>
                <a:latin typeface="Open Sans"/>
                <a:ea typeface="Open Sans"/>
                <a:cs typeface="Open Sans"/>
                <a:sym typeface="Open Sans"/>
              </a:rPr>
              <a:t>[26] NanoEnTek Inc., "FREND™ System PCT," Product Brochure. [Online]. Available: https://pdf.medicalexpo.com/pdf/nanoentek/pct-brochure/94199-213219.html.</a:t>
            </a:r>
          </a:p>
          <a:p>
            <a:pPr algn="l">
              <a:lnSpc>
                <a:spcPts val="1205"/>
              </a:lnSpc>
            </a:pPr>
            <a:r>
              <a:rPr lang="en-US" sz="860">
                <a:solidFill>
                  <a:srgbClr val="000000"/>
                </a:solidFill>
                <a:latin typeface="Open Sans"/>
                <a:ea typeface="Open Sans"/>
                <a:cs typeface="Open Sans"/>
                <a:sym typeface="Open Sans"/>
              </a:rPr>
              <a:t>[27] Nova Biomedical Corporation, "StatStrip® Lactate Meter," Product Information. [Online]. Available: https://www.novabiomedical.com/point-of-care-meters/statstrip-lactate/ .</a:t>
            </a:r>
          </a:p>
          <a:p>
            <a:pPr algn="l">
              <a:lnSpc>
                <a:spcPts val="1205"/>
              </a:lnSpc>
            </a:pPr>
            <a:r>
              <a:rPr lang="en-US" sz="860">
                <a:solidFill>
                  <a:srgbClr val="000000"/>
                </a:solidFill>
                <a:latin typeface="Open Sans"/>
                <a:ea typeface="Open Sans"/>
                <a:cs typeface="Open Sans"/>
                <a:sym typeface="Open Sans"/>
              </a:rPr>
              <a:t>[28] Sensium Healthcare Ltd., "Sensium® Wireless Vitals Monitoring," Product Brochure, sep. 2021 [Online]. Available: https://sw.dk/wp-content/uploads/2024/08/SensiumBrochure.pdf .</a:t>
            </a:r>
          </a:p>
          <a:p>
            <a:pPr algn="l">
              <a:lnSpc>
                <a:spcPts val="1205"/>
              </a:lnSpc>
            </a:pPr>
            <a:r>
              <a:rPr lang="en-US" sz="860">
                <a:solidFill>
                  <a:srgbClr val="000000"/>
                </a:solidFill>
                <a:latin typeface="Open Sans"/>
                <a:ea typeface="Open Sans"/>
                <a:cs typeface="Open Sans"/>
                <a:sym typeface="Open Sans"/>
              </a:rPr>
              <a:t>[29] Caretaker Medical, LLC., "VitalStream® Parameters," Caretaker Medical, Charlottesville, VA, USA. [Online]. Available: https://caretakermedical.net/wp-content/uploads/2024/04/VitalStream-Parameters-New-GUI-V2-4.8.24.pdf .</a:t>
            </a:r>
          </a:p>
          <a:p>
            <a:pPr algn="l">
              <a:lnSpc>
                <a:spcPts val="1205"/>
              </a:lnSpc>
            </a:pPr>
            <a:r>
              <a:rPr lang="en-US" sz="860">
                <a:solidFill>
                  <a:srgbClr val="000000"/>
                </a:solidFill>
                <a:latin typeface="Open Sans"/>
                <a:ea typeface="Open Sans"/>
                <a:cs typeface="Open Sans"/>
                <a:sym typeface="Open Sans"/>
              </a:rPr>
              <a:t>[30] Masimo Corporation, "Radius VSM™ Patient-Worn, Continuous Vital Signs Monitor," Masimo, Irvine, CA, USA, Brochure PLM-14552A. [Online]. Available: https://www.masimo.com/siteassets/us/documents/pdf/plm-14552a-brochure-radius-vsm-us.pdf .</a:t>
            </a:r>
          </a:p>
          <a:p>
            <a:pPr algn="l">
              <a:lnSpc>
                <a:spcPts val="1205"/>
              </a:lnSpc>
            </a:pPr>
            <a:r>
              <a:rPr lang="en-US" sz="860">
                <a:solidFill>
                  <a:srgbClr val="000000"/>
                </a:solidFill>
                <a:latin typeface="Open Sans"/>
                <a:ea typeface="Open Sans"/>
                <a:cs typeface="Open Sans"/>
                <a:sym typeface="Open Sans"/>
              </a:rPr>
              <a:t>[31] VitalConnect, Inc., "Cardiac Monitoring — VitalPatch® RTM," VitalConnect, San Jose, CA, USA. [Online]. Available: https://vitalconnect.com/cardiac-monitoring/ .</a:t>
            </a:r>
          </a:p>
          <a:p>
            <a:pPr algn="l">
              <a:lnSpc>
                <a:spcPts val="1205"/>
              </a:lnSpc>
            </a:pPr>
            <a:r>
              <a:rPr lang="en-US" sz="860">
                <a:solidFill>
                  <a:srgbClr val="000000"/>
                </a:solidFill>
                <a:latin typeface="Open Sans"/>
                <a:ea typeface="Open Sans"/>
                <a:cs typeface="Open Sans"/>
                <a:sym typeface="Open Sans"/>
              </a:rPr>
              <a:t>[32] ams OSRAM, "OSRAM BIOFY™, SFH 7072," ams OSRAM. [En línea]. Disponible en: https://ams-osram.com/products/multi-chips/optical-modules/osram-biofy-sfh-7072.</a:t>
            </a:r>
          </a:p>
          <a:p>
            <a:pPr algn="l">
              <a:lnSpc>
                <a:spcPts val="1205"/>
              </a:lnSpc>
            </a:pPr>
            <a:r>
              <a:rPr lang="en-US" sz="860">
                <a:solidFill>
                  <a:srgbClr val="000000"/>
                </a:solidFill>
                <a:latin typeface="Open Sans"/>
                <a:ea typeface="Open Sans"/>
                <a:cs typeface="Open Sans"/>
                <a:sym typeface="Open Sans"/>
              </a:rPr>
              <a:t>[33] Analog Devices, "MAX86141: Best-in-Class Optical Pulse Oximeter and Heart-Rate Sensor for Wearable Health," Analog Devices. [En línea]. Disponible en: https://www.analog.com/en/products/MAX86141.html.</a:t>
            </a:r>
          </a:p>
          <a:p>
            <a:pPr algn="l">
              <a:lnSpc>
                <a:spcPts val="1205"/>
              </a:lnSpc>
            </a:pPr>
            <a:r>
              <a:rPr lang="en-US" sz="860">
                <a:solidFill>
                  <a:srgbClr val="000000"/>
                </a:solidFill>
                <a:latin typeface="Open Sans"/>
                <a:ea typeface="Open Sans"/>
                <a:cs typeface="Open Sans"/>
                <a:sym typeface="Open Sans"/>
              </a:rPr>
              <a:t>[34] Analog Devices, "AD8232: Single-Lead, Heart Rate Monitor Front End," Analog Devices. [En línea]. Disponible en: https://www.analog.com/en/products/ad8232.html.</a:t>
            </a:r>
          </a:p>
          <a:p>
            <a:pPr algn="l">
              <a:lnSpc>
                <a:spcPts val="1205"/>
              </a:lnSpc>
            </a:pPr>
            <a:r>
              <a:rPr lang="en-US" sz="860">
                <a:solidFill>
                  <a:srgbClr val="000000"/>
                </a:solidFill>
                <a:latin typeface="Open Sans"/>
                <a:ea typeface="Open Sans"/>
                <a:cs typeface="Open Sans"/>
                <a:sym typeface="Open Sans"/>
              </a:rPr>
              <a:t>[35] Nordic Semiconductor, "nRF5340 SoC," Nordic Semiconductor. [En línea]. Disponible en: https://www.nordicsemi.com/Products/nRF5340.</a:t>
            </a:r>
          </a:p>
          <a:p>
            <a:pPr algn="l">
              <a:lnSpc>
                <a:spcPts val="1205"/>
              </a:lnSpc>
            </a:pPr>
            <a:r>
              <a:rPr lang="en-US" sz="860">
                <a:solidFill>
                  <a:srgbClr val="000000"/>
                </a:solidFill>
                <a:latin typeface="Open Sans"/>
                <a:ea typeface="Open Sans"/>
                <a:cs typeface="Open Sans"/>
                <a:sym typeface="Open Sans"/>
              </a:rPr>
              <a:t>[36] Texas Instruments, "TMP117 High-Accuracy, Low-Power Digital Temperature Sensor," Texas Instruments. [En línea]. Disponible en: https://www.ti.com/product/TMP117.</a:t>
            </a:r>
          </a:p>
          <a:p>
            <a:pPr algn="l">
              <a:lnSpc>
                <a:spcPts val="1205"/>
              </a:lnSpc>
            </a:pPr>
            <a:r>
              <a:rPr lang="en-US" sz="860">
                <a:solidFill>
                  <a:srgbClr val="000000"/>
                </a:solidFill>
                <a:latin typeface="Open Sans"/>
                <a:ea typeface="Open Sans"/>
                <a:cs typeface="Open Sans"/>
                <a:sym typeface="Open Sans"/>
              </a:rPr>
              <a:t>[37] Mao Q, Jay M, Hoffman JL, et al. Multicentre validation of a sepsis prediction algorithm using only vital sign data in the emergency department, general ward and ICU. BMJ Open. 2018;8:e017833. doi:10.1136/bmjopen-2017-017833.</a:t>
            </a:r>
          </a:p>
          <a:p>
            <a:pPr algn="l">
              <a:lnSpc>
                <a:spcPts val="1205"/>
              </a:lnSpc>
            </a:pPr>
            <a:r>
              <a:rPr lang="en-US" sz="860">
                <a:solidFill>
                  <a:srgbClr val="000000"/>
                </a:solidFill>
                <a:latin typeface="Open Sans"/>
                <a:ea typeface="Open Sans"/>
                <a:cs typeface="Open Sans"/>
                <a:sym typeface="Open Sans"/>
              </a:rPr>
              <a:t>[38] International Organization for Standardization, Medical devices — Quality management systems — Requirements for regulatory purposes, ISO 13485:2016, 2016.</a:t>
            </a:r>
          </a:p>
          <a:p>
            <a:pPr algn="l">
              <a:lnSpc>
                <a:spcPts val="1205"/>
              </a:lnSpc>
            </a:pPr>
            <a:r>
              <a:rPr lang="en-US" sz="860">
                <a:solidFill>
                  <a:srgbClr val="000000"/>
                </a:solidFill>
                <a:latin typeface="Open Sans"/>
                <a:ea typeface="Open Sans"/>
                <a:cs typeface="Open Sans"/>
                <a:sym typeface="Open Sans"/>
              </a:rPr>
              <a:t>[39] International Electrotechnical Commission, Medical electrical equipment — Part 1-2: General requirements for basic safety and essential performance — Collateral standard: Electromagnetic disturbances — Requirements and tests, IEC 60601-1-2:2014+AMD1:2020, 2020.</a:t>
            </a:r>
          </a:p>
          <a:p>
            <a:pPr algn="l">
              <a:lnSpc>
                <a:spcPts val="1205"/>
              </a:lnSpc>
            </a:pPr>
            <a:r>
              <a:rPr lang="en-US" sz="860">
                <a:solidFill>
                  <a:srgbClr val="000000"/>
                </a:solidFill>
                <a:latin typeface="Open Sans"/>
                <a:ea typeface="Open Sans"/>
                <a:cs typeface="Open Sans"/>
                <a:sym typeface="Open Sans"/>
              </a:rPr>
              <a:t>[40] International Organization for Standardization, Medical devices — Application of risk management to medical devices, ISO 14971:2019, 2019.</a:t>
            </a:r>
          </a:p>
          <a:p>
            <a:pPr algn="l">
              <a:lnSpc>
                <a:spcPts val="1205"/>
              </a:lnSpc>
            </a:pPr>
            <a:r>
              <a:rPr lang="en-US" sz="860">
                <a:solidFill>
                  <a:srgbClr val="000000"/>
                </a:solidFill>
                <a:latin typeface="Open Sans"/>
                <a:ea typeface="Open Sans"/>
                <a:cs typeface="Open Sans"/>
                <a:sym typeface="Open Sans"/>
              </a:rPr>
              <a:t>[41] International Organization for Standardization, Ergonomics principles in the design of work systems, ISO 6385:2016, 2016.</a:t>
            </a:r>
          </a:p>
          <a:p>
            <a:pPr algn="l">
              <a:lnSpc>
                <a:spcPts val="1205"/>
              </a:lnSpc>
            </a:pPr>
            <a:r>
              <a:rPr lang="en-US" sz="860">
                <a:solidFill>
                  <a:srgbClr val="000000"/>
                </a:solidFill>
                <a:latin typeface="Open Sans"/>
                <a:ea typeface="Open Sans"/>
                <a:cs typeface="Open Sans"/>
                <a:sym typeface="Open Sans"/>
              </a:rPr>
              <a:t>[42] J. Pajuelo Ramírez, L. Torres Aparcana, R. Agüero Zamora, e I. Bernui Leo, "El sobrepeso, la obesidad y la obesidad abdominal en la población adulta del Perú," Anales de la Facultad de Medicina, vol. 80, nº 1, pp. 21-27, 2019, doi: 10.15381/anales.v80i1.15863.</a:t>
            </a:r>
          </a:p>
          <a:p>
            <a:pPr algn="l">
              <a:lnSpc>
                <a:spcPts val="1205"/>
              </a:lnSpc>
            </a:pPr>
            <a:r>
              <a:rPr lang="en-US" sz="860">
                <a:solidFill>
                  <a:srgbClr val="000000"/>
                </a:solidFill>
                <a:latin typeface="Open Sans"/>
                <a:ea typeface="Open Sans"/>
                <a:cs typeface="Open Sans"/>
                <a:sym typeface="Open Sans"/>
              </a:rPr>
              <a:t>[43] International Organization for Standardization, Biological evaluation of medical devices — Part 1: Evaluation and testing within a risk management process, ISO 10993-1:2025, 2025.</a:t>
            </a:r>
          </a:p>
          <a:p>
            <a:pPr algn="l">
              <a:lnSpc>
                <a:spcPts val="1205"/>
              </a:lnSpc>
            </a:pPr>
            <a:r>
              <a:rPr lang="en-US" sz="860">
                <a:solidFill>
                  <a:srgbClr val="000000"/>
                </a:solidFill>
                <a:latin typeface="Open Sans"/>
                <a:ea typeface="Open Sans"/>
                <a:cs typeface="Open Sans"/>
                <a:sym typeface="Open Sans"/>
              </a:rPr>
              <a:t>[44] International Electrotechnical Commission, Medical device software — Software life cycle processes, IEC 62304:2006+AMD1:2015, 2015.</a:t>
            </a:r>
          </a:p>
          <a:p>
            <a:pPr algn="l">
              <a:lnSpc>
                <a:spcPts val="1205"/>
              </a:lnSpc>
            </a:pPr>
            <a:r>
              <a:rPr lang="en-US" sz="860">
                <a:solidFill>
                  <a:srgbClr val="000000"/>
                </a:solidFill>
                <a:latin typeface="Open Sans"/>
                <a:ea typeface="Open Sans"/>
                <a:cs typeface="Open Sans"/>
                <a:sym typeface="Open Sans"/>
              </a:rPr>
              <a:t>[45] International Electrotechnical Commission, Medical electrical equipment — Part 1-8: General requirements for basic safety and essential performance — Collateral standard: General requirements, tests and guidance for alarm systems in medical electrical equipment and medical electrical systems, IEC 60601-1-8:2006+AMD1:2012+AMD2:2020, 2020.</a:t>
            </a:r>
          </a:p>
          <a:p>
            <a:pPr algn="l">
              <a:lnSpc>
                <a:spcPts val="1205"/>
              </a:lnSpc>
            </a:pPr>
            <a:r>
              <a:rPr lang="en-US" sz="860">
                <a:solidFill>
                  <a:srgbClr val="000000"/>
                </a:solidFill>
                <a:latin typeface="Open Sans"/>
                <a:ea typeface="Open Sans"/>
                <a:cs typeface="Open Sans"/>
                <a:sym typeface="Open Sans"/>
              </a:rPr>
              <a:t>[46] International Electrotechnical Commission, Degrees of protection provided by enclosures (IP Code), IEC 60529:1989+AMD1:1999+AMD2:2013, 2013.</a:t>
            </a:r>
          </a:p>
          <a:p>
            <a:pPr algn="l">
              <a:lnSpc>
                <a:spcPts val="1205"/>
              </a:lnSpc>
            </a:pPr>
            <a:r>
              <a:rPr lang="en-US" sz="860">
                <a:solidFill>
                  <a:srgbClr val="000000"/>
                </a:solidFill>
                <a:latin typeface="Open Sans"/>
                <a:ea typeface="Open Sans"/>
                <a:cs typeface="Open Sans"/>
                <a:sym typeface="Open Sans"/>
              </a:rPr>
              <a:t>[47] International Electrotechnical Commission, Medical electrical equipment — Part 1: General requirements for basic safety and essential performance, IEC 60601-1:2005+AMD1:2012+AMD2:2020, 2020.</a:t>
            </a:r>
          </a:p>
          <a:p>
            <a:pPr algn="l">
              <a:lnSpc>
                <a:spcPts val="1205"/>
              </a:lnSpc>
              <a:spcBef>
                <a:spcPct val="0"/>
              </a:spcBef>
            </a:pPr>
            <a:r>
              <a:rPr lang="en-US" sz="860">
                <a:solidFill>
                  <a:srgbClr val="000000"/>
                </a:solidFill>
                <a:latin typeface="Open Sans"/>
                <a:ea typeface="Open Sans"/>
                <a:cs typeface="Open Sans"/>
                <a:sym typeface="Open Sans"/>
              </a:rPr>
              <a:t>[48] International Organization for Standardization, Processing of health care products — Information to be provided by the medical device manufacturer for the processing of medical devices — Part 1: Critical and semi-critical medical devices, ISO 17664-1:2021, 2021.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6" b="-6666"/>
            </a:stretch>
          </a:blipFill>
        </p:spPr>
      </p:sp>
      <p:sp>
        <p:nvSpPr>
          <p:cNvPr id="3" name="TextBox 3"/>
          <p:cNvSpPr txBox="1"/>
          <p:nvPr/>
        </p:nvSpPr>
        <p:spPr>
          <a:xfrm>
            <a:off x="3601393" y="3437574"/>
            <a:ext cx="11085215" cy="2931733"/>
          </a:xfrm>
          <a:prstGeom prst="rect">
            <a:avLst/>
          </a:prstGeom>
        </p:spPr>
        <p:txBody>
          <a:bodyPr lIns="0" tIns="0" rIns="0" bIns="0" rtlCol="0" anchor="t">
            <a:spAutoFit/>
          </a:bodyPr>
          <a:lstStyle/>
          <a:p>
            <a:pPr marL="0" lvl="0" indent="0" algn="ctr">
              <a:lnSpc>
                <a:spcPts val="23615"/>
              </a:lnSpc>
              <a:spcBef>
                <a:spcPct val="0"/>
              </a:spcBef>
            </a:pPr>
            <a:r>
              <a:rPr lang="en-US" sz="16867" u="none" strike="noStrike" spc="1231">
                <a:solidFill>
                  <a:srgbClr val="000000"/>
                </a:solidFill>
                <a:latin typeface="Catchy Mager"/>
                <a:ea typeface="Catchy Mager"/>
                <a:cs typeface="Catchy Mager"/>
                <a:sym typeface="Catchy Mager"/>
              </a:rPr>
              <a:t>GRACIAS</a:t>
            </a:r>
          </a:p>
        </p:txBody>
      </p:sp>
      <p:grpSp>
        <p:nvGrpSpPr>
          <p:cNvPr id="4" name="Group 4"/>
          <p:cNvGrpSpPr/>
          <p:nvPr/>
        </p:nvGrpSpPr>
        <p:grpSpPr>
          <a:xfrm>
            <a:off x="17103393" y="7887985"/>
            <a:ext cx="311815" cy="1370315"/>
            <a:chOff x="0" y="0"/>
            <a:chExt cx="415753" cy="1827086"/>
          </a:xfrm>
        </p:grpSpPr>
        <p:grpSp>
          <p:nvGrpSpPr>
            <p:cNvPr id="5" name="Group 5"/>
            <p:cNvGrpSpPr/>
            <p:nvPr/>
          </p:nvGrpSpPr>
          <p:grpSpPr>
            <a:xfrm>
              <a:off x="0" y="0"/>
              <a:ext cx="415753" cy="419287"/>
              <a:chOff x="0" y="0"/>
              <a:chExt cx="685800" cy="693420"/>
            </a:xfrm>
          </p:grpSpPr>
          <p:sp>
            <p:nvSpPr>
              <p:cNvPr id="6" name="Freeform 6"/>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7" name="TextBox 7"/>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8" name="Group 8"/>
            <p:cNvGrpSpPr/>
            <p:nvPr/>
          </p:nvGrpSpPr>
          <p:grpSpPr>
            <a:xfrm>
              <a:off x="0" y="703900"/>
              <a:ext cx="415753" cy="419287"/>
              <a:chOff x="0" y="0"/>
              <a:chExt cx="685800" cy="693420"/>
            </a:xfrm>
          </p:grpSpPr>
          <p:sp>
            <p:nvSpPr>
              <p:cNvPr id="9" name="Freeform 9"/>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0" name="TextBox 10"/>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11" name="Group 11"/>
            <p:cNvGrpSpPr/>
            <p:nvPr/>
          </p:nvGrpSpPr>
          <p:grpSpPr>
            <a:xfrm>
              <a:off x="0" y="1407799"/>
              <a:ext cx="415753" cy="419287"/>
              <a:chOff x="0" y="0"/>
              <a:chExt cx="685800" cy="693420"/>
            </a:xfrm>
          </p:grpSpPr>
          <p:sp>
            <p:nvSpPr>
              <p:cNvPr id="12" name="Freeform 12"/>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3" name="TextBox 13"/>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grpSp>
        <p:nvGrpSpPr>
          <p:cNvPr id="14" name="Group 14"/>
          <p:cNvGrpSpPr/>
          <p:nvPr/>
        </p:nvGrpSpPr>
        <p:grpSpPr>
          <a:xfrm>
            <a:off x="872793" y="1028700"/>
            <a:ext cx="311815" cy="1370315"/>
            <a:chOff x="0" y="0"/>
            <a:chExt cx="415753" cy="1827086"/>
          </a:xfrm>
        </p:grpSpPr>
        <p:grpSp>
          <p:nvGrpSpPr>
            <p:cNvPr id="15" name="Group 15"/>
            <p:cNvGrpSpPr/>
            <p:nvPr/>
          </p:nvGrpSpPr>
          <p:grpSpPr>
            <a:xfrm>
              <a:off x="0" y="0"/>
              <a:ext cx="415753" cy="419287"/>
              <a:chOff x="0" y="0"/>
              <a:chExt cx="685800" cy="693420"/>
            </a:xfrm>
          </p:grpSpPr>
          <p:sp>
            <p:nvSpPr>
              <p:cNvPr id="16" name="Freeform 16"/>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17" name="TextBox 17"/>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18" name="Group 18"/>
            <p:cNvGrpSpPr/>
            <p:nvPr/>
          </p:nvGrpSpPr>
          <p:grpSpPr>
            <a:xfrm>
              <a:off x="0" y="703900"/>
              <a:ext cx="415753" cy="419287"/>
              <a:chOff x="0" y="0"/>
              <a:chExt cx="685800" cy="693420"/>
            </a:xfrm>
          </p:grpSpPr>
          <p:sp>
            <p:nvSpPr>
              <p:cNvPr id="19" name="Freeform 19"/>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20" name="TextBox 20"/>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nvGrpSpPr>
            <p:cNvPr id="21" name="Group 21"/>
            <p:cNvGrpSpPr/>
            <p:nvPr/>
          </p:nvGrpSpPr>
          <p:grpSpPr>
            <a:xfrm>
              <a:off x="0" y="1407799"/>
              <a:ext cx="415753" cy="419287"/>
              <a:chOff x="0" y="0"/>
              <a:chExt cx="685800" cy="693420"/>
            </a:xfrm>
          </p:grpSpPr>
          <p:sp>
            <p:nvSpPr>
              <p:cNvPr id="22" name="Freeform 22"/>
              <p:cNvSpPr/>
              <p:nvPr/>
            </p:nvSpPr>
            <p:spPr>
              <a:xfrm>
                <a:off x="0" y="0"/>
                <a:ext cx="685800" cy="693420"/>
              </a:xfrm>
              <a:custGeom>
                <a:avLst/>
                <a:gdLst/>
                <a:ahLst/>
                <a:cxnLst/>
                <a:rect l="l" t="t" r="r" b="b"/>
                <a:pathLst>
                  <a:path w="685800" h="693420">
                    <a:moveTo>
                      <a:pt x="342900" y="0"/>
                    </a:moveTo>
                    <a:lnTo>
                      <a:pt x="398780" y="290209"/>
                    </a:lnTo>
                    <a:lnTo>
                      <a:pt x="685800" y="346710"/>
                    </a:lnTo>
                    <a:lnTo>
                      <a:pt x="398780" y="403211"/>
                    </a:lnTo>
                    <a:lnTo>
                      <a:pt x="342900" y="693420"/>
                    </a:lnTo>
                    <a:lnTo>
                      <a:pt x="287020" y="403211"/>
                    </a:lnTo>
                    <a:lnTo>
                      <a:pt x="0" y="346710"/>
                    </a:lnTo>
                    <a:lnTo>
                      <a:pt x="287020" y="290209"/>
                    </a:lnTo>
                    <a:close/>
                  </a:path>
                </a:pathLst>
              </a:custGeom>
              <a:solidFill>
                <a:srgbClr val="000000"/>
              </a:solidFill>
              <a:ln w="9525" cap="sq">
                <a:solidFill>
                  <a:srgbClr val="000000"/>
                </a:solidFill>
                <a:prstDash val="solid"/>
                <a:miter/>
              </a:ln>
            </p:spPr>
          </p:sp>
          <p:sp>
            <p:nvSpPr>
              <p:cNvPr id="23" name="TextBox 23"/>
              <p:cNvSpPr txBox="1"/>
              <p:nvPr/>
            </p:nvSpPr>
            <p:spPr>
              <a:xfrm>
                <a:off x="287455" y="243024"/>
                <a:ext cx="110890" cy="159747"/>
              </a:xfrm>
              <a:prstGeom prst="rect">
                <a:avLst/>
              </a:prstGeom>
            </p:spPr>
            <p:txBody>
              <a:bodyPr lIns="50577" tIns="50577" rIns="50577" bIns="50577" rtlCol="0" anchor="ctr"/>
              <a:lstStyle/>
              <a:p>
                <a:pPr algn="ctr">
                  <a:lnSpc>
                    <a:spcPts val="2090"/>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3355</Words>
  <Application>Microsoft Office PowerPoint</Application>
  <PresentationFormat>Personalizado</PresentationFormat>
  <Paragraphs>212</Paragraphs>
  <Slides>25</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25</vt:i4>
      </vt:variant>
    </vt:vector>
  </HeadingPairs>
  <TitlesOfParts>
    <vt:vector size="34" baseType="lpstr">
      <vt:lpstr>Catchy Mager</vt:lpstr>
      <vt:lpstr>Calibri</vt:lpstr>
      <vt:lpstr>Open Sans Bold</vt:lpstr>
      <vt:lpstr>Times New Roman MT Bold</vt:lpstr>
      <vt:lpstr>Open Sans</vt:lpstr>
      <vt:lpstr>Eyesome Script</vt:lpstr>
      <vt:lpstr>Arial</vt:lpstr>
      <vt:lpstr>Times New Roman MT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Proyecto de Belleza Aesthetic Crema</dc:title>
  <cp:lastModifiedBy>Sebastián Reymundo Capcha</cp:lastModifiedBy>
  <cp:revision>2</cp:revision>
  <dcterms:created xsi:type="dcterms:W3CDTF">2006-08-16T00:00:00Z</dcterms:created>
  <dcterms:modified xsi:type="dcterms:W3CDTF">2026-09-19T18:46:14Z</dcterms:modified>
  <dc:identifier>DAHViQPUdKg</dc:identifier>
</cp:coreProperties>
</file>